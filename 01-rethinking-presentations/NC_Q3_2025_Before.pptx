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10"/>
  </p:normalViewPr>
  <p:slideViewPr>
    <p:cSldViewPr snapToGrid="0" snapToObjects="1">
      <p:cViewPr varScale="1">
        <p:scale>
          <a:sx n="138" d="100"/>
          <a:sy n="138" d="100"/>
        </p:scale>
        <p:origin x="83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1E3A5F"/>
              </a:solidFill>
              <a:effectLst/>
            </c:spPr>
            <c:extLst>
              <c:ext xmlns:c16="http://schemas.microsoft.com/office/drawing/2014/chart" uri="{C3380CC4-5D6E-409C-BE32-E72D297353CC}">
                <c16:uniqueId val="{00000001-2E49-4589-B07A-445931C8DC6E}"/>
              </c:ext>
            </c:extLst>
          </c:dPt>
          <c:dPt>
            <c:idx val="1"/>
            <c:bubble3D val="0"/>
            <c:spPr>
              <a:solidFill>
                <a:srgbClr val="028090"/>
              </a:solidFill>
              <a:effectLst/>
            </c:spPr>
            <c:extLst>
              <c:ext xmlns:c16="http://schemas.microsoft.com/office/drawing/2014/chart" uri="{C3380CC4-5D6E-409C-BE32-E72D297353CC}">
                <c16:uniqueId val="{00000003-2E49-4589-B07A-445931C8DC6E}"/>
              </c:ext>
            </c:extLst>
          </c:dPt>
          <c:dPt>
            <c:idx val="2"/>
            <c:bubble3D val="0"/>
            <c:spPr>
              <a:solidFill>
                <a:srgbClr val="E07B30"/>
              </a:solidFill>
              <a:effectLst/>
            </c:spPr>
            <c:extLst>
              <c:ext xmlns:c16="http://schemas.microsoft.com/office/drawing/2014/chart" uri="{C3380CC4-5D6E-409C-BE32-E72D297353CC}">
                <c16:uniqueId val="{00000005-2E49-4589-B07A-445931C8DC6E}"/>
              </c:ext>
            </c:extLst>
          </c:dPt>
          <c:dPt>
            <c:idx val="3"/>
            <c:bubble3D val="0"/>
            <c:spPr>
              <a:solidFill>
                <a:srgbClr val="C0392B"/>
              </a:solidFill>
              <a:effectLst/>
            </c:spPr>
            <c:extLst>
              <c:ext xmlns:c16="http://schemas.microsoft.com/office/drawing/2014/chart" uri="{C3380CC4-5D6E-409C-BE32-E72D297353CC}">
                <c16:uniqueId val="{00000007-2E49-4589-B07A-445931C8DC6E}"/>
              </c:ext>
            </c:extLst>
          </c:dPt>
          <c:dPt>
            <c:idx val="4"/>
            <c:bubble3D val="0"/>
            <c:spPr>
              <a:solidFill>
                <a:srgbClr val="27AE60"/>
              </a:solidFill>
              <a:effectLst/>
            </c:spPr>
            <c:extLst>
              <c:ext xmlns:c16="http://schemas.microsoft.com/office/drawing/2014/chart" uri="{C3380CC4-5D6E-409C-BE32-E72D297353CC}">
                <c16:uniqueId val="{00000009-2E49-4589-B07A-445931C8DC6E}"/>
              </c:ext>
            </c:extLst>
          </c:dPt>
          <c:dPt>
            <c:idx val="5"/>
            <c:bubble3D val="0"/>
            <c:spPr>
              <a:solidFill>
                <a:srgbClr val="8E44AD"/>
              </a:solidFill>
              <a:effectLst/>
            </c:spPr>
            <c:extLst>
              <c:ext xmlns:c16="http://schemas.microsoft.com/office/drawing/2014/chart" uri="{C3380CC4-5D6E-409C-BE32-E72D297353CC}">
                <c16:uniqueId val="{0000000B-2E49-4589-B07A-445931C8DC6E}"/>
              </c:ext>
            </c:extLst>
          </c:dPt>
          <c:dPt>
            <c:idx val="6"/>
            <c:bubble3D val="0"/>
            <c:spPr>
              <a:solidFill>
                <a:srgbClr val="F39C12"/>
              </a:solidFill>
              <a:effectLst/>
            </c:spPr>
            <c:extLst>
              <c:ext xmlns:c16="http://schemas.microsoft.com/office/drawing/2014/chart" uri="{C3380CC4-5D6E-409C-BE32-E72D297353CC}">
                <c16:uniqueId val="{0000000D-2E49-4589-B07A-445931C8DC6E}"/>
              </c:ext>
            </c:extLst>
          </c:dPt>
          <c:dLbls>
            <c:dLbl>
              <c:idx val="0"/>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E49-4589-B07A-445931C8DC6E}"/>
                </c:ext>
              </c:extLst>
            </c:dLbl>
            <c:dLbl>
              <c:idx val="1"/>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E49-4589-B07A-445931C8DC6E}"/>
                </c:ext>
              </c:extLst>
            </c:dLbl>
            <c:dLbl>
              <c:idx val="2"/>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E49-4589-B07A-445931C8DC6E}"/>
                </c:ext>
              </c:extLst>
            </c:dLbl>
            <c:dLbl>
              <c:idx val="3"/>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E49-4589-B07A-445931C8DC6E}"/>
                </c:ext>
              </c:extLst>
            </c:dLbl>
            <c:dLbl>
              <c:idx val="4"/>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2E49-4589-B07A-445931C8DC6E}"/>
                </c:ext>
              </c:extLst>
            </c:dLbl>
            <c:dLbl>
              <c:idx val="5"/>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2E49-4589-B07A-445931C8DC6E}"/>
                </c:ext>
              </c:extLst>
            </c:dLbl>
            <c:dLbl>
              <c:idx val="6"/>
              <c:numFmt formatCode="0%" sourceLinked="0"/>
              <c:spPr/>
              <c:txPr>
                <a:bodyPr/>
                <a:lstStyle/>
                <a:p>
                  <a:pPr>
                    <a:defRPr sz="9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2E49-4589-B07A-445931C8DC6E}"/>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Sheet1!$A$2:$A$8</c:f>
              <c:strCache>
                <c:ptCount val="7"/>
                <c:pt idx="0">
                  <c:v>Asset Mgmt</c:v>
                </c:pt>
                <c:pt idx="1">
                  <c:v>Investment Banking</c:v>
                </c:pt>
                <c:pt idx="2">
                  <c:v>Treasury</c:v>
                </c:pt>
                <c:pt idx="3">
                  <c:v>Retail</c:v>
                </c:pt>
                <c:pt idx="4">
                  <c:v>Advisory</c:v>
                </c:pt>
                <c:pt idx="5">
                  <c:v>Insurance</c:v>
                </c:pt>
                <c:pt idx="6">
                  <c:v>Others</c:v>
                </c:pt>
              </c:strCache>
            </c:strRef>
          </c:cat>
          <c:val>
            <c:numRef>
              <c:f>Sheet1!$B$2:$B$8</c:f>
              <c:numCache>
                <c:formatCode>General</c:formatCode>
                <c:ptCount val="7"/>
                <c:pt idx="0">
                  <c:v>22</c:v>
                </c:pt>
                <c:pt idx="1">
                  <c:v>18</c:v>
                </c:pt>
                <c:pt idx="2">
                  <c:v>15</c:v>
                </c:pt>
                <c:pt idx="3">
                  <c:v>14</c:v>
                </c:pt>
                <c:pt idx="4">
                  <c:v>13</c:v>
                </c:pt>
                <c:pt idx="5">
                  <c:v>11</c:v>
                </c:pt>
                <c:pt idx="6">
                  <c:v>7</c:v>
                </c:pt>
              </c:numCache>
            </c:numRef>
          </c:val>
          <c:extLst>
            <c:ext xmlns:c16="http://schemas.microsoft.com/office/drawing/2014/chart" uri="{C3380CC4-5D6E-409C-BE32-E72D297353CC}">
              <c16:uniqueId val="{0000000E-2E49-4589-B07A-445931C8DC6E}"/>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10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Budget</c:v>
                </c:pt>
              </c:strCache>
            </c:strRef>
          </c:tx>
          <c:spPr>
            <a:solidFill>
              <a:srgbClr val="1E3A5F"/>
            </a:solidFill>
            <a:effectLst/>
          </c:spPr>
          <c:invertIfNegative val="0"/>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Salaries</c:v>
                </c:pt>
                <c:pt idx="1">
                  <c:v>Consultancy</c:v>
                </c:pt>
                <c:pt idx="2">
                  <c:v>Travel</c:v>
                </c:pt>
                <c:pt idx="3">
                  <c:v>Technology</c:v>
                </c:pt>
                <c:pt idx="4">
                  <c:v>Training</c:v>
                </c:pt>
                <c:pt idx="5">
                  <c:v>Office</c:v>
                </c:pt>
                <c:pt idx="6">
                  <c:v>Marketing</c:v>
                </c:pt>
                <c:pt idx="7">
                  <c:v>Misc</c:v>
                </c:pt>
              </c:strCache>
            </c:strRef>
          </c:cat>
          <c:val>
            <c:numRef>
              <c:f>Sheet1!$B$2:$B$9</c:f>
              <c:numCache>
                <c:formatCode>General</c:formatCode>
                <c:ptCount val="8"/>
                <c:pt idx="0">
                  <c:v>420</c:v>
                </c:pt>
                <c:pt idx="1">
                  <c:v>145</c:v>
                </c:pt>
                <c:pt idx="2">
                  <c:v>68</c:v>
                </c:pt>
                <c:pt idx="3">
                  <c:v>55</c:v>
                </c:pt>
                <c:pt idx="4">
                  <c:v>38</c:v>
                </c:pt>
                <c:pt idx="5">
                  <c:v>24</c:v>
                </c:pt>
                <c:pt idx="6">
                  <c:v>18</c:v>
                </c:pt>
                <c:pt idx="7">
                  <c:v>12</c:v>
                </c:pt>
              </c:numCache>
            </c:numRef>
          </c:val>
          <c:extLst>
            <c:ext xmlns:c16="http://schemas.microsoft.com/office/drawing/2014/chart" uri="{C3380CC4-5D6E-409C-BE32-E72D297353CC}">
              <c16:uniqueId val="{00000000-2164-4B31-BDFB-B5562A06AFBB}"/>
            </c:ext>
          </c:extLst>
        </c:ser>
        <c:ser>
          <c:idx val="1"/>
          <c:order val="1"/>
          <c:tx>
            <c:strRef>
              <c:f>Sheet1!$C$1</c:f>
              <c:strCache>
                <c:ptCount val="1"/>
                <c:pt idx="0">
                  <c:v>Target</c:v>
                </c:pt>
              </c:strCache>
            </c:strRef>
          </c:tx>
          <c:spPr>
            <a:solidFill>
              <a:srgbClr val="A0BFD8"/>
            </a:solidFill>
            <a:effectLst/>
          </c:spPr>
          <c:invertIfNegative val="0"/>
          <c:dLbls>
            <c:numFmt formatCode="#,##0" sourceLinked="0"/>
            <c:spPr>
              <a:noFill/>
              <a:ln>
                <a:noFill/>
              </a:ln>
              <a:effectLst/>
            </c:spPr>
            <c:txPr>
              <a:bodyPr/>
              <a:lstStyle/>
              <a:p>
                <a:pPr>
                  <a:defRPr sz="7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Salaries</c:v>
                </c:pt>
                <c:pt idx="1">
                  <c:v>Consultancy</c:v>
                </c:pt>
                <c:pt idx="2">
                  <c:v>Travel</c:v>
                </c:pt>
                <c:pt idx="3">
                  <c:v>Technology</c:v>
                </c:pt>
                <c:pt idx="4">
                  <c:v>Training</c:v>
                </c:pt>
                <c:pt idx="5">
                  <c:v>Office</c:v>
                </c:pt>
                <c:pt idx="6">
                  <c:v>Marketing</c:v>
                </c:pt>
                <c:pt idx="7">
                  <c:v>Misc</c:v>
                </c:pt>
              </c:strCache>
            </c:strRef>
          </c:cat>
          <c:val>
            <c:numRef>
              <c:f>Sheet1!$C$2:$C$9</c:f>
              <c:numCache>
                <c:formatCode>General</c:formatCode>
                <c:ptCount val="8"/>
                <c:pt idx="0">
                  <c:v>400</c:v>
                </c:pt>
                <c:pt idx="1">
                  <c:v>160</c:v>
                </c:pt>
                <c:pt idx="2">
                  <c:v>80</c:v>
                </c:pt>
                <c:pt idx="3">
                  <c:v>60</c:v>
                </c:pt>
                <c:pt idx="4">
                  <c:v>40</c:v>
                </c:pt>
                <c:pt idx="5">
                  <c:v>30</c:v>
                </c:pt>
                <c:pt idx="6">
                  <c:v>20</c:v>
                </c:pt>
                <c:pt idx="7">
                  <c:v>10</c:v>
                </c:pt>
              </c:numCache>
            </c:numRef>
          </c:val>
          <c:extLst>
            <c:ext xmlns:c16="http://schemas.microsoft.com/office/drawing/2014/chart" uri="{C3380CC4-5D6E-409C-BE32-E72D297353CC}">
              <c16:uniqueId val="{00000001-2164-4B31-BDFB-B5562A06AFB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majorGridlines>
          <c:spPr>
            <a:ln w="6350" cap="flat">
              <a:solidFill>
                <a:srgbClr val="CCCCCC"/>
              </a:solidFill>
              <a:prstDash val="solid"/>
              <a:round/>
            </a:ln>
          </c:spPr>
        </c:majorGridlines>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CCCC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F2F2F2"/>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2377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Inconsistent fonts, too much text in subtitle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Unnecessary agenda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Wall of text, 8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Pie chart with 7 segments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Raw Excel table, 10 rows 6 columns, no highlight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Vague title, data without context ("increased by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Two messages on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3D bar chart, every bar labelled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Good structure but passive titles, no so-what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Bullet list that should be a visual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Buried ask, decision buried in bullet 4 of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Ends on a dead slide with no call to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548640" y="457200"/>
            <a:ext cx="8046720" cy="457200"/>
          </a:xfrm>
          <a:prstGeom prst="rect">
            <a:avLst/>
          </a:prstGeom>
          <a:noFill/>
          <a:ln/>
        </p:spPr>
        <p:txBody>
          <a:bodyPr wrap="square" rtlCol="0" anchor="ctr"/>
          <a:lstStyle/>
          <a:p>
            <a:pPr marL="0" indent="0">
              <a:buNone/>
            </a:pPr>
            <a:r>
              <a:rPr lang="en-US" sz="1300" kern="0" spc="400" dirty="0">
                <a:solidFill>
                  <a:srgbClr val="A0BFD8"/>
                </a:solidFill>
                <a:latin typeface="Arial" pitchFamily="34" charset="0"/>
                <a:ea typeface="Arial" pitchFamily="34" charset="-122"/>
                <a:cs typeface="Arial" pitchFamily="34" charset="-120"/>
              </a:rPr>
              <a:t>NUSANTARA CAPITAL</a:t>
            </a:r>
            <a:endParaRPr lang="en-US" sz="1300" dirty="0"/>
          </a:p>
        </p:txBody>
      </p:sp>
      <p:sp>
        <p:nvSpPr>
          <p:cNvPr id="3" name="Text 1"/>
          <p:cNvSpPr/>
          <p:nvPr/>
        </p:nvSpPr>
        <p:spPr>
          <a:xfrm>
            <a:off x="548640" y="1005840"/>
            <a:ext cx="8046720" cy="1005840"/>
          </a:xfrm>
          <a:prstGeom prst="rect">
            <a:avLst/>
          </a:prstGeom>
          <a:noFill/>
          <a:ln/>
        </p:spPr>
        <p:txBody>
          <a:bodyPr wrap="square" rtlCol="0" anchor="ctr"/>
          <a:lstStyle/>
          <a:p>
            <a:pPr marL="0" indent="0">
              <a:buNone/>
            </a:pPr>
            <a:r>
              <a:rPr lang="en-US" sz="3800" b="1" dirty="0">
                <a:solidFill>
                  <a:srgbClr val="FFFFFF"/>
                </a:solidFill>
                <a:latin typeface="Georgia" pitchFamily="34" charset="0"/>
                <a:ea typeface="Georgia" pitchFamily="34" charset="-122"/>
                <a:cs typeface="Georgia" pitchFamily="34" charset="-120"/>
              </a:rPr>
              <a:t>Q3 2025 Departmental Review</a:t>
            </a:r>
            <a:endParaRPr lang="en-US" sz="3800" dirty="0"/>
          </a:p>
        </p:txBody>
      </p:sp>
      <p:sp>
        <p:nvSpPr>
          <p:cNvPr id="4" name="Text 2"/>
          <p:cNvSpPr/>
          <p:nvPr/>
        </p:nvSpPr>
        <p:spPr>
          <a:xfrm>
            <a:off x="548640" y="2103120"/>
            <a:ext cx="6858000" cy="1280160"/>
          </a:xfrm>
          <a:prstGeom prst="rect">
            <a:avLst/>
          </a:prstGeom>
          <a:noFill/>
          <a:ln/>
        </p:spPr>
        <p:txBody>
          <a:bodyPr wrap="square" rtlCol="0" anchor="ctr"/>
          <a:lstStyle/>
          <a:p>
            <a:pPr marL="0" indent="0" algn="l">
              <a:buNone/>
            </a:pPr>
            <a:r>
              <a:rPr lang="en-US" sz="1200" dirty="0">
                <a:solidFill>
                  <a:srgbClr val="C8D8E8"/>
                </a:solidFill>
                <a:latin typeface="Calibri" pitchFamily="34" charset="0"/>
                <a:ea typeface="Calibri" pitchFamily="34" charset="-122"/>
                <a:cs typeface="Calibri" pitchFamily="34" charset="-120"/>
              </a:rPr>
              <a:t>This presentation provides a comprehensive summary of the department's performance for the third quarter of financial year 2025, covering revenue, project delivery status, staffing, budget utilisation, key risks, and proposed priorities for Q4. Prepared by the Strategy and Planning Unit for presentation to senior leadership.</a:t>
            </a:r>
            <a:endParaRPr lang="en-US" sz="1200" dirty="0"/>
          </a:p>
        </p:txBody>
      </p:sp>
      <p:sp>
        <p:nvSpPr>
          <p:cNvPr id="5" name="Text 3"/>
          <p:cNvSpPr/>
          <p:nvPr/>
        </p:nvSpPr>
        <p:spPr>
          <a:xfrm>
            <a:off x="548640" y="4389120"/>
            <a:ext cx="2743200" cy="365760"/>
          </a:xfrm>
          <a:prstGeom prst="rect">
            <a:avLst/>
          </a:prstGeom>
          <a:noFill/>
          <a:ln/>
        </p:spPr>
        <p:txBody>
          <a:bodyPr wrap="square" rtlCol="0" anchor="ctr"/>
          <a:lstStyle/>
          <a:p>
            <a:pPr marL="0" indent="0">
              <a:buNone/>
            </a:pPr>
            <a:r>
              <a:rPr lang="en-US" sz="1100" i="1" dirty="0">
                <a:solidFill>
                  <a:srgbClr val="8AABCA"/>
                </a:solidFill>
                <a:latin typeface="Times New Roman" pitchFamily="34" charset="0"/>
                <a:ea typeface="Times New Roman" pitchFamily="34" charset="-122"/>
                <a:cs typeface="Times New Roman" pitchFamily="34" charset="-120"/>
              </a:rPr>
              <a:t>October 2025</a:t>
            </a:r>
            <a:endParaRPr lang="en-US" sz="1100" dirty="0"/>
          </a:p>
        </p:txBody>
      </p:sp>
      <p:sp>
        <p:nvSpPr>
          <p:cNvPr id="6" name="Shape 4"/>
          <p:cNvSpPr/>
          <p:nvPr/>
        </p:nvSpPr>
        <p:spPr>
          <a:xfrm>
            <a:off x="0" y="4754880"/>
            <a:ext cx="9144000" cy="388620"/>
          </a:xfrm>
          <a:prstGeom prst="rect">
            <a:avLst/>
          </a:prstGeom>
          <a:solidFill>
            <a:srgbClr val="028090"/>
          </a:solidFill>
          <a:ln w="12700">
            <a:solidFill>
              <a:srgbClr val="028090"/>
            </a:solidFill>
            <a:prstDash val="solid"/>
          </a:ln>
        </p:spPr>
        <p:txBody>
          <a:bodyPr/>
          <a:lstStyle/>
          <a:p>
            <a:endParaRPr lang="en-MY"/>
          </a:p>
        </p:txBody>
      </p:sp>
      <p:sp>
        <p:nvSpPr>
          <p:cNvPr id="7" name="Text 5"/>
          <p:cNvSpPr/>
          <p:nvPr/>
        </p:nvSpPr>
        <p:spPr>
          <a:xfrm>
            <a:off x="274320" y="4773168"/>
            <a:ext cx="8595360" cy="320040"/>
          </a:xfrm>
          <a:prstGeom prst="rect">
            <a:avLst/>
          </a:prstGeom>
          <a:noFill/>
          <a:ln/>
        </p:spPr>
        <p:txBody>
          <a:bodyPr wrap="square" rtlCol="0" anchor="ctr"/>
          <a:lstStyle/>
          <a:p>
            <a:pPr marL="0" indent="0" algn="ctr">
              <a:buNone/>
            </a:pPr>
            <a:r>
              <a:rPr lang="en-US" sz="700" dirty="0">
                <a:solidFill>
                  <a:srgbClr val="FFFFFF"/>
                </a:solidFill>
                <a:latin typeface="Arial" pitchFamily="34" charset="0"/>
                <a:ea typeface="Arial" pitchFamily="34" charset="-122"/>
                <a:cs typeface="Arial" pitchFamily="34" charset="-120"/>
              </a:rPr>
              <a:t>CONFIDENTIAL | For Internal Use Only | Q3 FY2025 | Strategy and Planning Unit | Nusantara Capital Berhad</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w="12700">
            <a:solidFill>
              <a:srgbClr val="1E3A5F"/>
            </a:solidFill>
            <a:prstDash val="solid"/>
          </a:ln>
        </p:spPr>
        <p:txBody>
          <a:bodyPr/>
          <a:lstStyle/>
          <a:p>
            <a:endParaRPr lang="en-MY"/>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Agenda</a:t>
            </a:r>
            <a:endParaRPr lang="en-US" sz="2800" dirty="0"/>
          </a:p>
        </p:txBody>
      </p:sp>
      <p:sp>
        <p:nvSpPr>
          <p:cNvPr id="4" name="Text 2"/>
          <p:cNvSpPr/>
          <p:nvPr/>
        </p:nvSpPr>
        <p:spPr>
          <a:xfrm>
            <a:off x="914400" y="1097280"/>
            <a:ext cx="7315200" cy="3657600"/>
          </a:xfrm>
          <a:prstGeom prst="rect">
            <a:avLst/>
          </a:prstGeom>
          <a:noFill/>
          <a:ln/>
        </p:spPr>
        <p:txBody>
          <a:bodyPr wrap="square" rtlCol="0" anchor="ctr"/>
          <a:lstStyle/>
          <a:p>
            <a:pPr marL="0" indent="0">
              <a:lnSpc>
                <a:spcPct val="140000"/>
              </a:lnSpc>
              <a:buNone/>
            </a:pPr>
            <a:r>
              <a:rPr lang="en-US" sz="1600" dirty="0">
                <a:solidFill>
                  <a:srgbClr val="333333"/>
                </a:solidFill>
                <a:latin typeface="Calibri" pitchFamily="34" charset="0"/>
                <a:ea typeface="Calibri" pitchFamily="34" charset="-122"/>
                <a:cs typeface="Calibri" pitchFamily="34" charset="-120"/>
              </a:rPr>
              <a:t>1.  Department Overview</a:t>
            </a:r>
            <a:endParaRPr lang="en-US" sz="1600" dirty="0"/>
          </a:p>
          <a:p>
            <a:pPr marL="0" indent="0">
              <a:lnSpc>
                <a:spcPct val="140000"/>
              </a:lnSpc>
              <a:buNone/>
            </a:pPr>
            <a:r>
              <a:rPr lang="en-US" sz="1600" dirty="0">
                <a:solidFill>
                  <a:srgbClr val="333333"/>
                </a:solidFill>
                <a:latin typeface="Calibri" pitchFamily="34" charset="0"/>
                <a:ea typeface="Calibri" pitchFamily="34" charset="-122"/>
                <a:cs typeface="Calibri" pitchFamily="34" charset="-120"/>
              </a:rPr>
              <a:t>2.  Q3 Revenue Performance</a:t>
            </a:r>
            <a:endParaRPr lang="en-US" sz="1600" dirty="0"/>
          </a:p>
          <a:p>
            <a:pPr marL="0" indent="0">
              <a:lnSpc>
                <a:spcPct val="140000"/>
              </a:lnSpc>
              <a:buNone/>
            </a:pPr>
            <a:r>
              <a:rPr lang="en-US" sz="1600" dirty="0">
                <a:solidFill>
                  <a:srgbClr val="333333"/>
                </a:solidFill>
                <a:latin typeface="Calibri" pitchFamily="34" charset="0"/>
                <a:ea typeface="Calibri" pitchFamily="34" charset="-122"/>
                <a:cs typeface="Calibri" pitchFamily="34" charset="-120"/>
              </a:rPr>
              <a:t>3.  Project Status Update</a:t>
            </a:r>
            <a:endParaRPr lang="en-US" sz="1600" dirty="0"/>
          </a:p>
          <a:p>
            <a:pPr marL="0" indent="0">
              <a:lnSpc>
                <a:spcPct val="140000"/>
              </a:lnSpc>
              <a:buNone/>
            </a:pPr>
            <a:r>
              <a:rPr lang="en-US" sz="1600" dirty="0">
                <a:solidFill>
                  <a:srgbClr val="333333"/>
                </a:solidFill>
                <a:latin typeface="Calibri" pitchFamily="34" charset="0"/>
                <a:ea typeface="Calibri" pitchFamily="34" charset="-122"/>
                <a:cs typeface="Calibri" pitchFamily="34" charset="-120"/>
              </a:rPr>
              <a:t>4.  Key Achievements</a:t>
            </a:r>
            <a:endParaRPr lang="en-US" sz="1600" dirty="0"/>
          </a:p>
          <a:p>
            <a:pPr marL="0" indent="0">
              <a:lnSpc>
                <a:spcPct val="140000"/>
              </a:lnSpc>
              <a:buNone/>
            </a:pPr>
            <a:r>
              <a:rPr lang="en-US" sz="1600" dirty="0">
                <a:solidFill>
                  <a:srgbClr val="333333"/>
                </a:solidFill>
                <a:latin typeface="Calibri" pitchFamily="34" charset="0"/>
                <a:ea typeface="Calibri" pitchFamily="34" charset="-122"/>
                <a:cs typeface="Calibri" pitchFamily="34" charset="-120"/>
              </a:rPr>
              <a:t>5.  Headcount and Staffing</a:t>
            </a:r>
            <a:endParaRPr lang="en-US" sz="1600" dirty="0"/>
          </a:p>
          <a:p>
            <a:pPr marL="0" indent="0">
              <a:lnSpc>
                <a:spcPct val="140000"/>
              </a:lnSpc>
              <a:buNone/>
            </a:pPr>
            <a:r>
              <a:rPr lang="en-US" sz="1600" dirty="0">
                <a:solidFill>
                  <a:srgbClr val="333333"/>
                </a:solidFill>
                <a:latin typeface="Calibri" pitchFamily="34" charset="0"/>
                <a:ea typeface="Calibri" pitchFamily="34" charset="-122"/>
                <a:cs typeface="Calibri" pitchFamily="34" charset="-120"/>
              </a:rPr>
              <a:t>6.  Budget Utilisation</a:t>
            </a:r>
            <a:endParaRPr lang="en-US" sz="1600" dirty="0"/>
          </a:p>
          <a:p>
            <a:pPr marL="0" indent="0">
              <a:lnSpc>
                <a:spcPct val="140000"/>
              </a:lnSpc>
              <a:buNone/>
            </a:pPr>
            <a:r>
              <a:rPr lang="en-US" sz="1600" dirty="0">
                <a:solidFill>
                  <a:srgbClr val="333333"/>
                </a:solidFill>
                <a:latin typeface="Calibri" pitchFamily="34" charset="0"/>
                <a:ea typeface="Calibri" pitchFamily="34" charset="-122"/>
                <a:cs typeface="Calibri" pitchFamily="34" charset="-120"/>
              </a:rPr>
              <a:t>7.  Risks and Issues</a:t>
            </a:r>
            <a:endParaRPr lang="en-US" sz="1600" dirty="0"/>
          </a:p>
          <a:p>
            <a:pPr marL="0" indent="0">
              <a:lnSpc>
                <a:spcPct val="140000"/>
              </a:lnSpc>
              <a:buNone/>
            </a:pPr>
            <a:r>
              <a:rPr lang="en-US" sz="1600" dirty="0">
                <a:solidFill>
                  <a:srgbClr val="333333"/>
                </a:solidFill>
                <a:latin typeface="Calibri" pitchFamily="34" charset="0"/>
                <a:ea typeface="Calibri" pitchFamily="34" charset="-122"/>
                <a:cs typeface="Calibri" pitchFamily="34" charset="-120"/>
              </a:rPr>
              <a:t>8.  Q4 Priorities</a:t>
            </a:r>
            <a:endParaRPr lang="en-US" sz="1600" dirty="0"/>
          </a:p>
          <a:p>
            <a:pPr marL="0" indent="0">
              <a:lnSpc>
                <a:spcPct val="140000"/>
              </a:lnSpc>
              <a:buNone/>
            </a:pPr>
            <a:r>
              <a:rPr lang="en-US" sz="1600" dirty="0">
                <a:solidFill>
                  <a:srgbClr val="333333"/>
                </a:solidFill>
                <a:latin typeface="Calibri" pitchFamily="34" charset="0"/>
                <a:ea typeface="Calibri" pitchFamily="34" charset="-122"/>
                <a:cs typeface="Calibri" pitchFamily="34" charset="-120"/>
              </a:rPr>
              <a:t>9.  Key Decisions Required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w="12700">
            <a:solidFill>
              <a:srgbClr val="1E3A5F"/>
            </a:solidFill>
            <a:prstDash val="solid"/>
          </a:ln>
        </p:spPr>
        <p:txBody>
          <a:bodyPr/>
          <a:lstStyle/>
          <a:p>
            <a:endParaRPr lang="en-MY"/>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Department Overview</a:t>
            </a:r>
            <a:endParaRPr lang="en-US" sz="2600" dirty="0"/>
          </a:p>
        </p:txBody>
      </p:sp>
      <p:sp>
        <p:nvSpPr>
          <p:cNvPr id="4" name="Text 2"/>
          <p:cNvSpPr/>
          <p:nvPr/>
        </p:nvSpPr>
        <p:spPr>
          <a:xfrm>
            <a:off x="457200" y="1005840"/>
            <a:ext cx="8229600" cy="3931920"/>
          </a:xfrm>
          <a:prstGeom prst="rect">
            <a:avLst/>
          </a:prstGeom>
          <a:noFill/>
          <a:ln/>
        </p:spPr>
        <p:txBody>
          <a:bodyPr wrap="square" rtlCol="0" anchor="t"/>
          <a:lstStyle/>
          <a:p>
            <a:pPr marL="342900" indent="-342900">
              <a:spcAft>
                <a:spcPts val="400"/>
              </a:spcAft>
              <a:buSzPct val="100000"/>
              <a:buChar char="•"/>
            </a:pPr>
            <a:r>
              <a:rPr lang="en-US" sz="1100" dirty="0">
                <a:solidFill>
                  <a:srgbClr val="333333"/>
                </a:solidFill>
                <a:latin typeface="Calibri" pitchFamily="34" charset="0"/>
                <a:ea typeface="Calibri" pitchFamily="34" charset="-122"/>
                <a:cs typeface="Calibri" pitchFamily="34" charset="-120"/>
              </a:rPr>
              <a:t>The Strategy and Planning department was established in 2018 and currently operates with a team of 14 full-time employees and 2 contract staff members who are engaged on a project basis.</a:t>
            </a:r>
            <a:endParaRPr lang="en-US" sz="1100" dirty="0"/>
          </a:p>
          <a:p>
            <a:pPr marL="342900" indent="-342900">
              <a:spcAft>
                <a:spcPts val="400"/>
              </a:spcAft>
              <a:buSzPct val="100000"/>
              <a:buChar char="•"/>
            </a:pPr>
            <a:r>
              <a:rPr lang="en-US" sz="1100" dirty="0">
                <a:solidFill>
                  <a:srgbClr val="333333"/>
                </a:solidFill>
                <a:latin typeface="Calibri" pitchFamily="34" charset="0"/>
                <a:ea typeface="Calibri" pitchFamily="34" charset="-122"/>
                <a:cs typeface="Calibri" pitchFamily="34" charset="-120"/>
              </a:rPr>
              <a:t>The department is responsible for corporate strategy, market intelligence, business development, performance monitoring, and stakeholder engagement across all business units.</a:t>
            </a:r>
            <a:endParaRPr lang="en-US" sz="1100" dirty="0"/>
          </a:p>
          <a:p>
            <a:pPr marL="342900" indent="-342900">
              <a:spcAft>
                <a:spcPts val="400"/>
              </a:spcAft>
              <a:buSzPct val="100000"/>
              <a:buChar char="•"/>
            </a:pPr>
            <a:r>
              <a:rPr lang="en-US" sz="1100" dirty="0">
                <a:solidFill>
                  <a:srgbClr val="333333"/>
                </a:solidFill>
                <a:latin typeface="Calibri" pitchFamily="34" charset="0"/>
                <a:ea typeface="Calibri" pitchFamily="34" charset="-122"/>
                <a:cs typeface="Calibri" pitchFamily="34" charset="-120"/>
              </a:rPr>
              <a:t>During Q3, the department managed a total of 7 active projects spanning 4 different business units, with varying levels of complexity and resource requirements.</a:t>
            </a:r>
            <a:endParaRPr lang="en-US" sz="1100" dirty="0"/>
          </a:p>
          <a:p>
            <a:pPr marL="342900" indent="-342900">
              <a:spcAft>
                <a:spcPts val="400"/>
              </a:spcAft>
              <a:buSzPct val="100000"/>
              <a:buChar char="•"/>
            </a:pPr>
            <a:r>
              <a:rPr lang="en-US" sz="1100" dirty="0">
                <a:solidFill>
                  <a:srgbClr val="333333"/>
                </a:solidFill>
                <a:latin typeface="Calibri" pitchFamily="34" charset="0"/>
                <a:ea typeface="Calibri" pitchFamily="34" charset="-122"/>
                <a:cs typeface="Calibri" pitchFamily="34" charset="-120"/>
              </a:rPr>
              <a:t>Total department headcount has remained stable compared to Q2, with one resignation in August partially offset by an ongoing recruitment process for a replacement analyst.</a:t>
            </a:r>
            <a:endParaRPr lang="en-US" sz="1100" dirty="0"/>
          </a:p>
          <a:p>
            <a:pPr marL="342900" indent="-342900">
              <a:spcAft>
                <a:spcPts val="400"/>
              </a:spcAft>
              <a:buSzPct val="100000"/>
              <a:buChar char="•"/>
            </a:pPr>
            <a:r>
              <a:rPr lang="en-US" sz="1100" dirty="0">
                <a:solidFill>
                  <a:srgbClr val="333333"/>
                </a:solidFill>
                <a:latin typeface="Calibri" pitchFamily="34" charset="0"/>
                <a:ea typeface="Calibri" pitchFamily="34" charset="-122"/>
                <a:cs typeface="Calibri" pitchFamily="34" charset="-120"/>
              </a:rPr>
              <a:t>The department operates across two office locations in Kuala Lumpur and Cyberjaya, with remote working arrangements in place for 30% of staff on a rotational basis.</a:t>
            </a:r>
            <a:endParaRPr lang="en-US" sz="1100" dirty="0"/>
          </a:p>
          <a:p>
            <a:pPr marL="342900" indent="-342900">
              <a:spcAft>
                <a:spcPts val="400"/>
              </a:spcAft>
              <a:buSzPct val="100000"/>
              <a:buChar char="•"/>
            </a:pPr>
            <a:r>
              <a:rPr lang="en-US" sz="1100" dirty="0">
                <a:solidFill>
                  <a:srgbClr val="333333"/>
                </a:solidFill>
                <a:latin typeface="Calibri" pitchFamily="34" charset="0"/>
                <a:ea typeface="Calibri" pitchFamily="34" charset="-122"/>
                <a:cs typeface="Calibri" pitchFamily="34" charset="-120"/>
              </a:rPr>
              <a:t>Key stakeholder engagements in Q3 included quarterly reviews with 3 business unit heads, 2 board-level briefings, and ongoing coordination with the Finance and Risk departments.</a:t>
            </a:r>
            <a:endParaRPr lang="en-US" sz="1100" dirty="0"/>
          </a:p>
          <a:p>
            <a:pPr marL="342900" indent="-342900">
              <a:spcAft>
                <a:spcPts val="400"/>
              </a:spcAft>
              <a:buSzPct val="100000"/>
              <a:buChar char="•"/>
            </a:pPr>
            <a:r>
              <a:rPr lang="en-US" sz="1100" dirty="0">
                <a:solidFill>
                  <a:srgbClr val="333333"/>
                </a:solidFill>
                <a:latin typeface="Calibri" pitchFamily="34" charset="0"/>
                <a:ea typeface="Calibri" pitchFamily="34" charset="-122"/>
                <a:cs typeface="Calibri" pitchFamily="34" charset="-120"/>
              </a:rPr>
              <a:t>The department's operating budget for FY2025 was approved at RM 3.2 million, with Q3 spend tracking at RM 780K which represents 24% of the annual budget.</a:t>
            </a:r>
            <a:endParaRPr lang="en-US" sz="1100" dirty="0"/>
          </a:p>
          <a:p>
            <a:pPr marL="342900" indent="-342900">
              <a:spcAft>
                <a:spcPts val="400"/>
              </a:spcAft>
              <a:buSzPct val="100000"/>
              <a:buChar char="•"/>
            </a:pPr>
            <a:r>
              <a:rPr lang="en-US" sz="1100" dirty="0">
                <a:solidFill>
                  <a:srgbClr val="333333"/>
                </a:solidFill>
                <a:latin typeface="Calibri" pitchFamily="34" charset="0"/>
                <a:ea typeface="Calibri" pitchFamily="34" charset="-122"/>
                <a:cs typeface="Calibri" pitchFamily="34" charset="-120"/>
              </a:rPr>
              <a:t>Staff training and development activities in Q3 included 2 external training programmes attended by 6 staff members, with further training planned for Q4.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w="12700">
            <a:solidFill>
              <a:srgbClr val="1E3A5F"/>
            </a:solidFill>
            <a:prstDash val="solid"/>
          </a:ln>
        </p:spPr>
        <p:txBody>
          <a:bodyPr/>
          <a:lstStyle/>
          <a:p>
            <a:endParaRPr lang="en-MY"/>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Q3 Revenue Performance</a:t>
            </a:r>
            <a:endParaRPr lang="en-US" sz="2600" dirty="0"/>
          </a:p>
        </p:txBody>
      </p:sp>
      <p:sp>
        <p:nvSpPr>
          <p:cNvPr id="4" name="Text 2"/>
          <p:cNvSpPr/>
          <p:nvPr/>
        </p:nvSpPr>
        <p:spPr>
          <a:xfrm>
            <a:off x="457200" y="960120"/>
            <a:ext cx="8229600" cy="365760"/>
          </a:xfrm>
          <a:prstGeom prst="rect">
            <a:avLst/>
          </a:prstGeom>
          <a:noFill/>
          <a:ln/>
        </p:spPr>
        <p:txBody>
          <a:bodyPr wrap="square" rtlCol="0" anchor="ctr"/>
          <a:lstStyle/>
          <a:p>
            <a:pPr marL="0" indent="0" algn="ctr">
              <a:buNone/>
            </a:pPr>
            <a:r>
              <a:rPr lang="en-US" sz="1300" dirty="0">
                <a:solidFill>
                  <a:srgbClr val="666666"/>
                </a:solidFill>
                <a:latin typeface="Calibri" pitchFamily="34" charset="0"/>
                <a:ea typeface="Calibri" pitchFamily="34" charset="-122"/>
                <a:cs typeface="Calibri" pitchFamily="34" charset="-120"/>
              </a:rPr>
              <a:t>Revenue by Business Unit (RM Million)</a:t>
            </a:r>
            <a:endParaRPr lang="en-US" sz="1300" dirty="0"/>
          </a:p>
        </p:txBody>
      </p:sp>
      <p:graphicFrame>
        <p:nvGraphicFramePr>
          <p:cNvPr id="5" name="Chart 0"/>
          <p:cNvGraphicFramePr/>
          <p:nvPr/>
        </p:nvGraphicFramePr>
        <p:xfrm>
          <a:off x="1371600" y="1280160"/>
          <a:ext cx="64008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4709160"/>
            <a:ext cx="8229600" cy="320040"/>
          </a:xfrm>
          <a:prstGeom prst="rect">
            <a:avLst/>
          </a:prstGeom>
          <a:noFill/>
          <a:ln/>
        </p:spPr>
        <p:txBody>
          <a:bodyPr wrap="square" rtlCol="0" anchor="ctr"/>
          <a:lstStyle/>
          <a:p>
            <a:pPr marL="0" indent="0" algn="ctr">
              <a:buNone/>
            </a:pPr>
            <a:r>
              <a:rPr lang="en-US" sz="1100" i="1" dirty="0">
                <a:solidFill>
                  <a:srgbClr val="666666"/>
                </a:solidFill>
                <a:latin typeface="Calibri" pitchFamily="34" charset="0"/>
                <a:ea typeface="Calibri" pitchFamily="34" charset="-122"/>
                <a:cs typeface="Calibri" pitchFamily="34" charset="-120"/>
              </a:rPr>
              <a:t>Total Q3 Revenue: RM 4.2M</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E3A5F"/>
          </a:solidFill>
          <a:ln w="12700">
            <a:solidFill>
              <a:srgbClr val="1E3A5F"/>
            </a:solidFill>
            <a:prstDash val="solid"/>
          </a:ln>
        </p:spPr>
        <p:txBody>
          <a:bodyPr/>
          <a:lstStyle/>
          <a:p>
            <a:endParaRPr lang="en-MY"/>
          </a:p>
        </p:txBody>
      </p:sp>
      <p:sp>
        <p:nvSpPr>
          <p:cNvPr id="3" name="Text 1"/>
          <p:cNvSpPr/>
          <p:nvPr/>
        </p:nvSpPr>
        <p:spPr>
          <a:xfrm>
            <a:off x="457200" y="73152"/>
            <a:ext cx="8229600" cy="64008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Project Status Update</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82880" y="822960"/>
          <a:ext cx="7772400" cy="4114800"/>
        </p:xfrm>
        <a:graphic>
          <a:graphicData uri="http://schemas.openxmlformats.org/drawingml/2006/table">
            <a:tbl>
              <a:tblPr/>
              <a:tblGrid>
                <a:gridCol w="16459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gridCol w="2788920">
                  <a:extLst>
                    <a:ext uri="{9D8B030D-6E8A-4147-A177-3AD203B41FA5}">
                      <a16:colId xmlns:a16="http://schemas.microsoft.com/office/drawing/2014/main" val="20005"/>
                    </a:ext>
                  </a:extLst>
                </a:gridCol>
              </a:tblGrid>
              <a:tr h="411480">
                <a:tc>
                  <a:txBody>
                    <a:bodyPr/>
                    <a:lstStyle/>
                    <a:p>
                      <a:pPr marL="0" indent="0" algn="ctr">
                        <a:buNone/>
                      </a:pPr>
                      <a:r>
                        <a:rPr lang="en-US" sz="900" b="1" dirty="0">
                          <a:solidFill>
                            <a:srgbClr val="FFFFFF"/>
                          </a:solidFill>
                        </a:rPr>
                        <a:t>Project Name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F7A"/>
                    </a:solidFill>
                  </a:tcPr>
                </a:tc>
                <a:tc>
                  <a:txBody>
                    <a:bodyPr/>
                    <a:lstStyle/>
                    <a:p>
                      <a:pPr marL="0" indent="0" algn="ctr">
                        <a:buNone/>
                      </a:pPr>
                      <a:r>
                        <a:rPr lang="en-US" sz="900" b="1" dirty="0">
                          <a:solidFill>
                            <a:srgbClr val="FFFFFF"/>
                          </a:solidFill>
                        </a:rPr>
                        <a:t>Owner</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F7A"/>
                    </a:solidFill>
                  </a:tcPr>
                </a:tc>
                <a:tc>
                  <a:txBody>
                    <a:bodyPr/>
                    <a:lstStyle/>
                    <a:p>
                      <a:pPr marL="0" indent="0" algn="ctr">
                        <a:buNone/>
                      </a:pPr>
                      <a:r>
                        <a:rPr lang="en-US" sz="900" b="1" dirty="0">
                          <a:solidFill>
                            <a:srgbClr val="FFFFFF"/>
                          </a:solidFill>
                        </a:rPr>
                        <a:t>Start Date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F7A"/>
                    </a:solidFill>
                  </a:tcPr>
                </a:tc>
                <a:tc>
                  <a:txBody>
                    <a:bodyPr/>
                    <a:lstStyle/>
                    <a:p>
                      <a:pPr marL="0" indent="0" algn="ctr">
                        <a:buNone/>
                      </a:pPr>
                      <a:r>
                        <a:rPr lang="en-US" sz="900" b="1" dirty="0">
                          <a:solidFill>
                            <a:srgbClr val="FFFFFF"/>
                          </a:solidFill>
                        </a:rPr>
                        <a:t>Planned End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F7A"/>
                    </a:solidFill>
                  </a:tcPr>
                </a:tc>
                <a:tc>
                  <a:txBody>
                    <a:bodyPr/>
                    <a:lstStyle/>
                    <a:p>
                      <a:pPr marL="0" indent="0" algn="ctr">
                        <a:buNone/>
                      </a:pPr>
                      <a:r>
                        <a:rPr lang="en-US" sz="900" b="1" dirty="0">
                          <a:solidFill>
                            <a:srgbClr val="FFFFFF"/>
                          </a:solidFill>
                        </a:rPr>
                        <a:t>Status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F7A"/>
                    </a:solidFill>
                  </a:tcPr>
                </a:tc>
                <a:tc>
                  <a:txBody>
                    <a:bodyPr/>
                    <a:lstStyle/>
                    <a:p>
                      <a:pPr marL="0" indent="0" algn="ctr">
                        <a:buNone/>
                      </a:pPr>
                      <a:r>
                        <a:rPr lang="en-US" sz="900" b="1" dirty="0">
                          <a:solidFill>
                            <a:srgbClr val="FFFFFF"/>
                          </a:solidFill>
                        </a:rPr>
                        <a:t>Key Issues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F7A"/>
                    </a:solidFill>
                  </a:tcPr>
                </a:tc>
                <a:extLst>
                  <a:ext uri="{0D108BD9-81ED-4DB2-BD59-A6C34878D82A}">
                    <a16:rowId xmlns:a16="http://schemas.microsoft.com/office/drawing/2014/main" val="10000"/>
                  </a:ext>
                </a:extLst>
              </a:tr>
              <a:tr h="411480">
                <a:tc>
                  <a:txBody>
                    <a:bodyPr/>
                    <a:lstStyle/>
                    <a:p>
                      <a:pPr marL="0" indent="0" algn="l">
                        <a:buNone/>
                      </a:pPr>
                      <a:r>
                        <a:rPr lang="en-US" sz="900" dirty="0">
                          <a:solidFill>
                            <a:srgbClr val="333333"/>
                          </a:solidFill>
                        </a:rPr>
                        <a:t>Project Helang</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Zulaikha R.</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Jan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Sep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C0392B"/>
                          </a:solidFill>
                        </a:rPr>
                        <a:t>Delayed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Vendor delivery issues since July</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lgn="l">
                        <a:buNone/>
                      </a:pPr>
                      <a:r>
                        <a:rPr lang="en-US" sz="900" dirty="0">
                          <a:solidFill>
                            <a:srgbClr val="333333"/>
                          </a:solidFill>
                        </a:rPr>
                        <a:t>Project Rimau</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Faizal A.</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Mar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Dec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E07B30"/>
                          </a:solidFill>
                        </a:rPr>
                        <a:t>At Risk</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Resource gap since Aug resignation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411480">
                <a:tc>
                  <a:txBody>
                    <a:bodyPr/>
                    <a:lstStyle/>
                    <a:p>
                      <a:pPr marL="0" indent="0" algn="l">
                        <a:buNone/>
                      </a:pPr>
                      <a:r>
                        <a:rPr lang="en-US" sz="900" dirty="0">
                          <a:solidFill>
                            <a:srgbClr val="333333"/>
                          </a:solidFill>
                        </a:rPr>
                        <a:t>Project Kijang</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Siti 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Apr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Nov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7AE60"/>
                          </a:solidFill>
                        </a:rPr>
                        <a:t>On Track</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Minor scope clarification pending</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lgn="l">
                        <a:buNone/>
                      </a:pPr>
                      <a:r>
                        <a:rPr lang="en-US" sz="900" dirty="0">
                          <a:solidFill>
                            <a:srgbClr val="333333"/>
                          </a:solidFill>
                        </a:rPr>
                        <a:t>Project Wawasan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Arif M.</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Feb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Oct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27AE60"/>
                          </a:solidFill>
                        </a:rPr>
                        <a:t>On Track</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Awaiting sign-off from Finance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411480">
                <a:tc>
                  <a:txBody>
                    <a:bodyPr/>
                    <a:lstStyle/>
                    <a:p>
                      <a:pPr marL="0" indent="0" algn="l">
                        <a:buNone/>
                      </a:pPr>
                      <a:r>
                        <a:rPr lang="en-US" sz="900" dirty="0">
                          <a:solidFill>
                            <a:srgbClr val="333333"/>
                          </a:solidFill>
                        </a:rPr>
                        <a:t>Project Angkasa</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Nurul H.</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Jun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Feb 2026</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7AE60"/>
                          </a:solidFill>
                        </a:rPr>
                        <a:t>On Track</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No issues at this stage</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lgn="l">
                        <a:buNone/>
                      </a:pPr>
                      <a:r>
                        <a:rPr lang="en-US" sz="900" dirty="0">
                          <a:solidFill>
                            <a:srgbClr val="333333"/>
                          </a:solidFill>
                        </a:rPr>
                        <a:t>Project Mulia</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Hafiz Z.</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May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Jan 2026</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27AE60"/>
                          </a:solidFill>
                        </a:rPr>
                        <a:t>On Track</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Stakeholder alignment ongoing</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411480">
                <a:tc>
                  <a:txBody>
                    <a:bodyPr/>
                    <a:lstStyle/>
                    <a:p>
                      <a:pPr marL="0" indent="0" algn="l">
                        <a:buNone/>
                      </a:pPr>
                      <a:r>
                        <a:rPr lang="en-US" sz="900" dirty="0">
                          <a:solidFill>
                            <a:srgbClr val="333333"/>
                          </a:solidFill>
                        </a:rPr>
                        <a:t>Project Cekal</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Roslinda K.</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Jul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Mar 2026</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27AE60"/>
                          </a:solidFill>
                        </a:rPr>
                        <a:t>On Track</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Recently kicked off, no issues</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411480">
                <a:tc>
                  <a:txBody>
                    <a:bodyPr/>
                    <a:lstStyle/>
                    <a:p>
                      <a:pPr marL="0" indent="0" algn="l">
                        <a:buNone/>
                      </a:pPr>
                      <a:r>
                        <a:rPr lang="en-US" sz="900" dirty="0">
                          <a:solidFill>
                            <a:srgbClr val="333333"/>
                          </a:solidFill>
                        </a:rPr>
                        <a:t>Digital Roadmap Review</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Zulaikha R.</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Aug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Nov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27AE60"/>
                          </a:solidFill>
                        </a:rPr>
                        <a:t>On Track</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tc>
                  <a:txBody>
                    <a:bodyPr/>
                    <a:lstStyle/>
                    <a:p>
                      <a:pPr marL="0" indent="0" algn="l">
                        <a:buNone/>
                      </a:pPr>
                      <a:r>
                        <a:rPr lang="en-US" sz="900" dirty="0">
                          <a:solidFill>
                            <a:srgbClr val="333333"/>
                          </a:solidFill>
                        </a:rPr>
                        <a:t>First milestone completed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r h="411480">
                <a:tc>
                  <a:txBody>
                    <a:bodyPr/>
                    <a:lstStyle/>
                    <a:p>
                      <a:pPr marL="0" indent="0" algn="l">
                        <a:buNone/>
                      </a:pPr>
                      <a:r>
                        <a:rPr lang="en-US" sz="900" dirty="0">
                          <a:solidFill>
                            <a:srgbClr val="333333"/>
                          </a:solidFill>
                        </a:rPr>
                        <a:t>Talent Development Plan</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Faizal A.</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Jan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Dec 2025</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C0392B"/>
                          </a:solidFill>
                        </a:rPr>
                        <a:t>Delayed</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l">
                        <a:buNone/>
                      </a:pPr>
                      <a:r>
                        <a:rPr lang="en-US" sz="900" dirty="0">
                          <a:solidFill>
                            <a:srgbClr val="333333"/>
                          </a:solidFill>
                        </a:rPr>
                        <a:t>Awaiting HR sign-off since Q2</a:t>
                      </a:r>
                      <a:endParaRPr lang="en-US" sz="9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w="12700">
            <a:solidFill>
              <a:srgbClr val="1E3A5F"/>
            </a:solidFill>
            <a:prstDash val="solid"/>
          </a:ln>
        </p:spPr>
        <p:txBody>
          <a:bodyPr/>
          <a:lstStyle/>
          <a:p>
            <a:endParaRPr lang="en-MY"/>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Key Achievements</a:t>
            </a:r>
            <a:endParaRPr lang="en-US" sz="2600" dirty="0"/>
          </a:p>
        </p:txBody>
      </p:sp>
      <p:sp>
        <p:nvSpPr>
          <p:cNvPr id="4" name="Text 2"/>
          <p:cNvSpPr/>
          <p:nvPr/>
        </p:nvSpPr>
        <p:spPr>
          <a:xfrm>
            <a:off x="548640" y="1097280"/>
            <a:ext cx="8046720" cy="3840480"/>
          </a:xfrm>
          <a:prstGeom prst="rect">
            <a:avLst/>
          </a:prstGeom>
          <a:noFill/>
          <a:ln/>
        </p:spPr>
        <p:txBody>
          <a:bodyPr wrap="square" rtlCol="0" anchor="t"/>
          <a:lstStyle/>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Revenue increased by 12% this quarter.</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Successfully onboarded 3 new clients.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Stakeholder satisfaction scores improved.</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Two staff members completed advanced training programmes.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Cost savings of RM 180K were achieved across operations.</a:t>
            </a:r>
            <a:endParaRPr lang="en-US" sz="1600" dirty="0"/>
          </a:p>
          <a:p>
            <a:pPr marL="342900" indent="-342900">
              <a:spcAft>
                <a:spcPts val="600"/>
              </a:spcAft>
              <a:buSzPct val="100000"/>
              <a:buChar char="•"/>
            </a:pPr>
            <a:r>
              <a:rPr lang="en-US" sz="1600" dirty="0">
                <a:solidFill>
                  <a:srgbClr val="333333"/>
                </a:solidFill>
                <a:latin typeface="Calibri" pitchFamily="34" charset="0"/>
                <a:ea typeface="Calibri" pitchFamily="34" charset="-122"/>
                <a:cs typeface="Calibri" pitchFamily="34" charset="-120"/>
              </a:rPr>
              <a:t>The department completed a significant deliverable ahead of schedule.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w="12700">
            <a:solidFill>
              <a:srgbClr val="1E3A5F"/>
            </a:solidFill>
            <a:prstDash val="solid"/>
          </a:ln>
        </p:spPr>
        <p:txBody>
          <a:bodyPr/>
          <a:lstStyle/>
          <a:p>
            <a:endParaRPr lang="en-MY"/>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Headcount and Staffing</a:t>
            </a:r>
            <a:endParaRPr lang="en-US" sz="2600" dirty="0"/>
          </a:p>
        </p:txBody>
      </p:sp>
      <p:sp>
        <p:nvSpPr>
          <p:cNvPr id="4" name="Text 2"/>
          <p:cNvSpPr/>
          <p:nvPr/>
        </p:nvSpPr>
        <p:spPr>
          <a:xfrm>
            <a:off x="457200" y="1051560"/>
            <a:ext cx="3840480" cy="365760"/>
          </a:xfrm>
          <a:prstGeom prst="rect">
            <a:avLst/>
          </a:prstGeom>
          <a:noFill/>
          <a:ln/>
        </p:spPr>
        <p:txBody>
          <a:bodyPr wrap="square"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Headcount Summary</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3840480" cy="1463040"/>
        </p:xfrm>
        <a:graphic>
          <a:graphicData uri="http://schemas.openxmlformats.org/drawingml/2006/table">
            <a:tbl>
              <a:tblPr/>
              <a:tblGrid>
                <a:gridCol w="1645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365760">
                <a:tc>
                  <a:txBody>
                    <a:bodyPr/>
                    <a:lstStyle/>
                    <a:p>
                      <a:pPr marL="0" indent="0">
                        <a:buNone/>
                      </a:pPr>
                      <a:r>
                        <a:rPr lang="en-US" sz="1100" b="1" dirty="0">
                          <a:solidFill>
                            <a:srgbClr val="FFFFFF"/>
                          </a:solidFill>
                        </a:rPr>
                        <a:t>Category</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rPr>
                        <a:t>Q2 2025</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rPr>
                        <a:t>Q3 2025</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65760">
                <a:tc>
                  <a:txBody>
                    <a:bodyPr/>
                    <a:lstStyle/>
                    <a:p>
                      <a:pPr marL="0" indent="0">
                        <a:buNone/>
                      </a:pPr>
                      <a:r>
                        <a:rPr lang="en-US" sz="1100" dirty="0">
                          <a:solidFill>
                            <a:srgbClr val="000000"/>
                          </a:solidFill>
                        </a:rPr>
                        <a:t>Full-time</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rPr>
                        <a:t>15</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rPr>
                        <a:t>14</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100" dirty="0">
                          <a:solidFill>
                            <a:srgbClr val="000000"/>
                          </a:solidFill>
                        </a:rPr>
                        <a:t>Contract</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100" dirty="0">
                          <a:solidFill>
                            <a:srgbClr val="000000"/>
                          </a:solidFill>
                        </a:rPr>
                        <a:t>2</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100" dirty="0">
                          <a:solidFill>
                            <a:srgbClr val="000000"/>
                          </a:solidFill>
                        </a:rPr>
                        <a:t>2</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65760">
                <a:tc>
                  <a:txBody>
                    <a:bodyPr/>
                    <a:lstStyle/>
                    <a:p>
                      <a:pPr marL="0" indent="0">
                        <a:buNone/>
                      </a:pPr>
                      <a:r>
                        <a:rPr lang="en-US" sz="1100" b="1" dirty="0">
                          <a:solidFill>
                            <a:srgbClr val="000000"/>
                          </a:solidFill>
                        </a:rPr>
                        <a:t>Total</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b="1" dirty="0">
                          <a:solidFill>
                            <a:srgbClr val="000000"/>
                          </a:solidFill>
                        </a:rPr>
                        <a:t>17</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100" b="1" dirty="0">
                          <a:solidFill>
                            <a:srgbClr val="000000"/>
                          </a:solidFill>
                        </a:rPr>
                        <a:t>16</a:t>
                      </a:r>
                      <a:endParaRPr lang="en-US" sz="11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3"/>
          <p:cNvSpPr/>
          <p:nvPr/>
        </p:nvSpPr>
        <p:spPr>
          <a:xfrm>
            <a:off x="457200" y="3017520"/>
            <a:ext cx="3840480" cy="822960"/>
          </a:xfrm>
          <a:prstGeom prst="rect">
            <a:avLst/>
          </a:prstGeom>
          <a:noFill/>
          <a:ln/>
        </p:spPr>
        <p:txBody>
          <a:bodyPr wrap="square"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One staff member resigned in August 2025. Recruitment for a replacement is currently in progress with interviews scheduled for October.</a:t>
            </a:r>
            <a:endParaRPr lang="en-US" sz="1100" dirty="0"/>
          </a:p>
        </p:txBody>
      </p:sp>
      <p:sp>
        <p:nvSpPr>
          <p:cNvPr id="7" name="Text 4"/>
          <p:cNvSpPr/>
          <p:nvPr/>
        </p:nvSpPr>
        <p:spPr>
          <a:xfrm>
            <a:off x="4846320" y="1051560"/>
            <a:ext cx="3840480" cy="365760"/>
          </a:xfrm>
          <a:prstGeom prst="rect">
            <a:avLst/>
          </a:prstGeom>
          <a:noFill/>
          <a:ln/>
        </p:spPr>
        <p:txBody>
          <a:bodyPr wrap="square"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Staff Engagement Update</a:t>
            </a:r>
            <a:endParaRPr lang="en-US" sz="1400" dirty="0"/>
          </a:p>
        </p:txBody>
      </p:sp>
      <p:sp>
        <p:nvSpPr>
          <p:cNvPr id="5" name="Text 5"/>
          <p:cNvSpPr/>
          <p:nvPr/>
        </p:nvSpPr>
        <p:spPr>
          <a:xfrm>
            <a:off x="4846320" y="1463040"/>
            <a:ext cx="3840480" cy="2743200"/>
          </a:xfrm>
          <a:prstGeom prst="rect">
            <a:avLst/>
          </a:prstGeom>
          <a:noFill/>
          <a:ln/>
        </p:spPr>
        <p:txBody>
          <a:bodyPr wrap="square" rtlCol="0" anchor="ctr"/>
          <a:lstStyle/>
          <a:p>
            <a:pPr marL="342900" indent="-342900">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Q3 staff engagement survey conducted in September with 86% participation rate.</a:t>
            </a:r>
            <a:endParaRPr lang="en-US" sz="1100" dirty="0"/>
          </a:p>
          <a:p>
            <a:pPr marL="342900" indent="-342900">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Overall satisfaction score: 3.8 out of 5.0 (up from 3.5 in Q2).</a:t>
            </a:r>
            <a:endParaRPr lang="en-US" sz="1100" dirty="0"/>
          </a:p>
          <a:p>
            <a:pPr marL="342900" indent="-342900">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Top concern raised: workload distribution across project teams.</a:t>
            </a:r>
            <a:endParaRPr lang="en-US" sz="1100" dirty="0"/>
          </a:p>
          <a:p>
            <a:pPr marL="342900" indent="-342900">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Management responsiveness rated highest at 4.2 out of 5.0.</a:t>
            </a:r>
            <a:endParaRPr lang="en-US" sz="1100" dirty="0"/>
          </a:p>
          <a:p>
            <a:pPr marL="342900" indent="-342900">
              <a:spcAft>
                <a:spcPts val="500"/>
              </a:spcAft>
              <a:buSzPct val="100000"/>
              <a:buChar char="•"/>
            </a:pPr>
            <a:r>
              <a:rPr lang="en-US" sz="1100" dirty="0">
                <a:solidFill>
                  <a:srgbClr val="333333"/>
                </a:solidFill>
                <a:latin typeface="Calibri" pitchFamily="34" charset="0"/>
                <a:ea typeface="Calibri" pitchFamily="34" charset="-122"/>
                <a:cs typeface="Calibri" pitchFamily="34" charset="-120"/>
              </a:rPr>
              <a:t>Action plan to address workload concerns to be tabled in Q4.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w="12700">
            <a:solidFill>
              <a:srgbClr val="1E3A5F"/>
            </a:solidFill>
            <a:prstDash val="solid"/>
          </a:ln>
        </p:spPr>
        <p:txBody>
          <a:bodyPr/>
          <a:lstStyle/>
          <a:p>
            <a:endParaRPr lang="en-MY"/>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Budget Utilisation</a:t>
            </a:r>
            <a:endParaRPr lang="en-US" sz="2600" dirty="0"/>
          </a:p>
        </p:txBody>
      </p:sp>
      <p:sp>
        <p:nvSpPr>
          <p:cNvPr id="4" name="Text 2"/>
          <p:cNvSpPr/>
          <p:nvPr/>
        </p:nvSpPr>
        <p:spPr>
          <a:xfrm>
            <a:off x="457200" y="960120"/>
            <a:ext cx="8229600" cy="320040"/>
          </a:xfrm>
          <a:prstGeom prst="rect">
            <a:avLst/>
          </a:prstGeom>
          <a:noFill/>
          <a:ln/>
        </p:spPr>
        <p:txBody>
          <a:bodyPr wrap="square" rtlCol="0" anchor="ctr"/>
          <a:lstStyle/>
          <a:p>
            <a:pPr marL="0" indent="0" algn="ctr">
              <a:buNone/>
            </a:pPr>
            <a:r>
              <a:rPr lang="en-US" sz="1200" dirty="0">
                <a:solidFill>
                  <a:srgbClr val="666666"/>
                </a:solidFill>
                <a:latin typeface="Calibri" pitchFamily="34" charset="0"/>
                <a:ea typeface="Calibri" pitchFamily="34" charset="-122"/>
                <a:cs typeface="Calibri" pitchFamily="34" charset="-120"/>
              </a:rPr>
              <a:t>Q3 Spend by Category (RM '000)</a:t>
            </a:r>
            <a:endParaRPr lang="en-US" sz="1200" dirty="0"/>
          </a:p>
        </p:txBody>
      </p:sp>
      <p:graphicFrame>
        <p:nvGraphicFramePr>
          <p:cNvPr id="5" name="Chart 0"/>
          <p:cNvGraphicFramePr/>
          <p:nvPr/>
        </p:nvGraphicFramePr>
        <p:xfrm>
          <a:off x="274320" y="1234440"/>
          <a:ext cx="8595360" cy="36576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w="12700">
            <a:solidFill>
              <a:srgbClr val="1E3A5F"/>
            </a:solidFill>
            <a:prstDash val="solid"/>
          </a:ln>
        </p:spPr>
        <p:txBody>
          <a:bodyPr/>
          <a:lstStyle/>
          <a:p>
            <a:endParaRPr lang="en-MY"/>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Risks and Issues</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74320" y="960120"/>
          <a:ext cx="8595360" cy="2743200"/>
        </p:xfrm>
        <a:graphic>
          <a:graphicData uri="http://schemas.openxmlformats.org/drawingml/2006/table">
            <a:tbl>
              <a:tblPr/>
              <a:tblGrid>
                <a:gridCol w="16459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548640">
                <a:tc>
                  <a:txBody>
                    <a:bodyPr/>
                    <a:lstStyle/>
                    <a:p>
                      <a:pPr marL="0" indent="0" algn="ctr">
                        <a:buNone/>
                      </a:pPr>
                      <a:r>
                        <a:rPr lang="en-US" sz="1000" b="1" dirty="0">
                          <a:solidFill>
                            <a:srgbClr val="FFFFFF"/>
                          </a:solidFill>
                        </a:rPr>
                        <a:t>Risk</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F7A"/>
                    </a:solidFill>
                  </a:tcPr>
                </a:tc>
                <a:tc>
                  <a:txBody>
                    <a:bodyPr/>
                    <a:lstStyle/>
                    <a:p>
                      <a:pPr marL="0" indent="0">
                        <a:buNone/>
                      </a:pPr>
                      <a:r>
                        <a:rPr lang="en-US" sz="1000" b="1" dirty="0">
                          <a:solidFill>
                            <a:srgbClr val="FFFFFF"/>
                          </a:solidFill>
                        </a:rPr>
                        <a:t>Description</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F7A"/>
                    </a:solidFill>
                  </a:tcPr>
                </a:tc>
                <a:tc>
                  <a:txBody>
                    <a:bodyPr/>
                    <a:lstStyle/>
                    <a:p>
                      <a:pPr marL="0" indent="0" algn="ctr">
                        <a:buNone/>
                      </a:pPr>
                      <a:r>
                        <a:rPr lang="en-US" sz="1000" b="1" dirty="0">
                          <a:solidFill>
                            <a:srgbClr val="FFFFFF"/>
                          </a:solidFill>
                        </a:rPr>
                        <a:t>Likelihood</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F7A"/>
                    </a:solidFill>
                  </a:tcPr>
                </a:tc>
                <a:tc>
                  <a:txBody>
                    <a:bodyPr/>
                    <a:lstStyle/>
                    <a:p>
                      <a:pPr marL="0" indent="0" algn="ctr">
                        <a:buNone/>
                      </a:pPr>
                      <a:r>
                        <a:rPr lang="en-US" sz="1000" b="1" dirty="0">
                          <a:solidFill>
                            <a:srgbClr val="FFFFFF"/>
                          </a:solidFill>
                        </a:rPr>
                        <a:t>Impact</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F7A"/>
                    </a:solidFill>
                  </a:tcPr>
                </a:tc>
                <a:tc>
                  <a:txBody>
                    <a:bodyPr/>
                    <a:lstStyle/>
                    <a:p>
                      <a:pPr marL="0" indent="0" algn="ctr">
                        <a:buNone/>
                      </a:pPr>
                      <a:r>
                        <a:rPr lang="en-US" sz="1000" b="1" dirty="0">
                          <a:solidFill>
                            <a:srgbClr val="FFFFFF"/>
                          </a:solidFill>
                        </a:rPr>
                        <a:t>Status</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C4F7A"/>
                    </a:solidFill>
                  </a:tcPr>
                </a:tc>
                <a:extLst>
                  <a:ext uri="{0D108BD9-81ED-4DB2-BD59-A6C34878D82A}">
                    <a16:rowId xmlns:a16="http://schemas.microsoft.com/office/drawing/2014/main" val="10000"/>
                  </a:ext>
                </a:extLst>
              </a:tr>
              <a:tr h="548640">
                <a:tc>
                  <a:txBody>
                    <a:bodyPr/>
                    <a:lstStyle/>
                    <a:p>
                      <a:pPr marL="0" indent="0">
                        <a:buNone/>
                      </a:pPr>
                      <a:r>
                        <a:rPr lang="en-US" sz="1000" dirty="0">
                          <a:solidFill>
                            <a:srgbClr val="000000"/>
                          </a:solidFill>
                        </a:rPr>
                        <a:t>Resource Availability</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rPr>
                        <a:t>Ongoing vacancy in analyst role may affect Q4 project delivery capacity.</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C0392B"/>
                          </a:solidFill>
                        </a:rPr>
                        <a:t>High</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C0392B"/>
                          </a:solidFill>
                        </a:rPr>
                        <a:t>High</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000000"/>
                          </a:solidFill>
                        </a:rPr>
                        <a:t>Being monitored</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000" dirty="0">
                          <a:solidFill>
                            <a:srgbClr val="000000"/>
                          </a:solidFill>
                        </a:rPr>
                        <a:t>Vendor Dependency</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000000"/>
                          </a:solidFill>
                        </a:rPr>
                        <a:t>Project Helang delay tied to third-party vendor performance and contract terms.</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E07B30"/>
                          </a:solidFill>
                        </a:rPr>
                        <a:t>Medium</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C0392B"/>
                          </a:solidFill>
                        </a:rPr>
                        <a:t>High</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000000"/>
                          </a:solidFill>
                        </a:rPr>
                        <a:t>Under review</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548640">
                <a:tc>
                  <a:txBody>
                    <a:bodyPr/>
                    <a:lstStyle/>
                    <a:p>
                      <a:pPr marL="0" indent="0">
                        <a:buNone/>
                      </a:pPr>
                      <a:r>
                        <a:rPr lang="en-US" sz="1000" dirty="0">
                          <a:solidFill>
                            <a:srgbClr val="000000"/>
                          </a:solidFill>
                        </a:rPr>
                        <a:t>Budget Overrun</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rPr>
                        <a:t>Consultancy spend is currently tracking below budget but may increase in Q4.</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27AE60"/>
                          </a:solidFill>
                        </a:rPr>
                        <a:t>Low</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E07B30"/>
                          </a:solidFill>
                        </a:rPr>
                        <a:t>Medium</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1000" dirty="0">
                          <a:solidFill>
                            <a:srgbClr val="000000"/>
                          </a:solidFill>
                        </a:rPr>
                        <a:t>Being monitored</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000" dirty="0">
                          <a:solidFill>
                            <a:srgbClr val="000000"/>
                          </a:solidFill>
                        </a:rPr>
                        <a:t>Regulatory Change</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buNone/>
                      </a:pPr>
                      <a:r>
                        <a:rPr lang="en-US" sz="1000" dirty="0">
                          <a:solidFill>
                            <a:srgbClr val="000000"/>
                          </a:solidFill>
                        </a:rPr>
                        <a:t>Potential policy changes affecting investment reporting requirements in Q4.</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27AE60"/>
                          </a:solidFill>
                        </a:rPr>
                        <a:t>Low</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C0392B"/>
                          </a:solidFill>
                        </a:rPr>
                        <a:t>High</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tc>
                  <a:txBody>
                    <a:bodyPr/>
                    <a:lstStyle/>
                    <a:p>
                      <a:pPr marL="0" indent="0" algn="ctr">
                        <a:buNone/>
                      </a:pPr>
                      <a:r>
                        <a:rPr lang="en-US" sz="1000" dirty="0">
                          <a:solidFill>
                            <a:srgbClr val="000000"/>
                          </a:solidFill>
                        </a:rPr>
                        <a:t>Tracking</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bl>
          </a:graphicData>
        </a:graphic>
      </p:graphicFrame>
      <p:sp>
        <p:nvSpPr>
          <p:cNvPr id="5" name="Text 2"/>
          <p:cNvSpPr/>
          <p:nvPr/>
        </p:nvSpPr>
        <p:spPr>
          <a:xfrm>
            <a:off x="457200" y="3840480"/>
            <a:ext cx="8229600" cy="548640"/>
          </a:xfrm>
          <a:prstGeom prst="rect">
            <a:avLst/>
          </a:prstGeom>
          <a:noFill/>
          <a:ln/>
        </p:spPr>
        <p:txBody>
          <a:bodyPr wrap="square" rtlCol="0" anchor="ctr"/>
          <a:lstStyle/>
          <a:p>
            <a:pPr marL="0" indent="0">
              <a:buNone/>
            </a:pPr>
            <a:r>
              <a:rPr lang="en-US" sz="1100" i="1" dirty="0">
                <a:solidFill>
                  <a:srgbClr val="666666"/>
                </a:solidFill>
                <a:latin typeface="Calibri" pitchFamily="34" charset="0"/>
                <a:ea typeface="Calibri" pitchFamily="34" charset="-122"/>
                <a:cs typeface="Calibri" pitchFamily="34" charset="-120"/>
              </a:rPr>
              <a:t>The department continues to track all identified risks and will provide updates at the next leadership review.</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w="12700">
            <a:solidFill>
              <a:srgbClr val="1E3A5F"/>
            </a:solidFill>
            <a:prstDash val="solid"/>
          </a:ln>
        </p:spPr>
        <p:txBody>
          <a:bodyPr/>
          <a:lstStyle/>
          <a:p>
            <a:endParaRPr lang="en-MY"/>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Q4 Priorities</a:t>
            </a:r>
            <a:endParaRPr lang="en-US" sz="2600" dirty="0"/>
          </a:p>
        </p:txBody>
      </p:sp>
      <p:sp>
        <p:nvSpPr>
          <p:cNvPr id="4" name="Text 2"/>
          <p:cNvSpPr/>
          <p:nvPr/>
        </p:nvSpPr>
        <p:spPr>
          <a:xfrm>
            <a:off x="548640" y="1051560"/>
            <a:ext cx="8046720" cy="3886200"/>
          </a:xfrm>
          <a:prstGeom prst="rect">
            <a:avLst/>
          </a:prstGeom>
          <a:noFill/>
          <a:ln/>
        </p:spPr>
        <p:txBody>
          <a:bodyPr wrap="square" rtlCol="0" anchor="t"/>
          <a:lstStyle/>
          <a:p>
            <a:pPr marL="342900" indent="-342900">
              <a:spcAft>
                <a:spcPts val="500"/>
              </a:spcAft>
              <a:buSzPct val="100000"/>
              <a:buChar char="•"/>
            </a:pPr>
            <a:r>
              <a:rPr lang="en-US" sz="1300" dirty="0">
                <a:solidFill>
                  <a:srgbClr val="333333"/>
                </a:solidFill>
                <a:latin typeface="Calibri" pitchFamily="34" charset="0"/>
                <a:ea typeface="Calibri" pitchFamily="34" charset="-122"/>
                <a:cs typeface="Calibri" pitchFamily="34" charset="-120"/>
              </a:rPr>
              <a:t>Complete Project Helang by resolving vendor issues and fast-tracking outstanding deliverables before end of November.</a:t>
            </a:r>
            <a:endParaRPr lang="en-US" sz="1300" dirty="0"/>
          </a:p>
          <a:p>
            <a:pPr marL="342900" indent="-342900">
              <a:spcAft>
                <a:spcPts val="500"/>
              </a:spcAft>
              <a:buSzPct val="100000"/>
              <a:buChar char="•"/>
            </a:pPr>
            <a:r>
              <a:rPr lang="en-US" sz="1300" dirty="0">
                <a:solidFill>
                  <a:srgbClr val="333333"/>
                </a:solidFill>
                <a:latin typeface="Calibri" pitchFamily="34" charset="0"/>
                <a:ea typeface="Calibri" pitchFamily="34" charset="-122"/>
                <a:cs typeface="Calibri" pitchFamily="34" charset="-120"/>
              </a:rPr>
              <a:t>Fill the vacant analyst position through the ongoing recruitment process, with a target start date in November.</a:t>
            </a:r>
            <a:endParaRPr lang="en-US" sz="1300" dirty="0"/>
          </a:p>
          <a:p>
            <a:pPr marL="342900" indent="-342900">
              <a:spcAft>
                <a:spcPts val="500"/>
              </a:spcAft>
              <a:buSzPct val="100000"/>
              <a:buChar char="•"/>
            </a:pPr>
            <a:r>
              <a:rPr lang="en-US" sz="1300" dirty="0">
                <a:solidFill>
                  <a:srgbClr val="333333"/>
                </a:solidFill>
                <a:latin typeface="Calibri" pitchFamily="34" charset="0"/>
                <a:ea typeface="Calibri" pitchFamily="34" charset="-122"/>
                <a:cs typeface="Calibri" pitchFamily="34" charset="-120"/>
              </a:rPr>
              <a:t>Conduct Q4 planning sessions with all business units to align on 2026 strategic priorities.</a:t>
            </a:r>
            <a:endParaRPr lang="en-US" sz="1300" dirty="0"/>
          </a:p>
          <a:p>
            <a:pPr marL="342900" indent="-342900">
              <a:spcAft>
                <a:spcPts val="500"/>
              </a:spcAft>
              <a:buSzPct val="100000"/>
              <a:buChar char="•"/>
            </a:pPr>
            <a:r>
              <a:rPr lang="en-US" sz="1300" dirty="0">
                <a:solidFill>
                  <a:srgbClr val="333333"/>
                </a:solidFill>
                <a:latin typeface="Calibri" pitchFamily="34" charset="0"/>
                <a:ea typeface="Calibri" pitchFamily="34" charset="-122"/>
                <a:cs typeface="Calibri" pitchFamily="34" charset="-120"/>
              </a:rPr>
              <a:t>Finalise the Digital Roadmap Review report and present findings to the Executive Committee.</a:t>
            </a:r>
            <a:endParaRPr lang="en-US" sz="1300" dirty="0"/>
          </a:p>
          <a:p>
            <a:pPr marL="342900" indent="-342900">
              <a:spcAft>
                <a:spcPts val="500"/>
              </a:spcAft>
              <a:buSzPct val="100000"/>
              <a:buChar char="•"/>
            </a:pPr>
            <a:r>
              <a:rPr lang="en-US" sz="1300" dirty="0">
                <a:solidFill>
                  <a:srgbClr val="333333"/>
                </a:solidFill>
                <a:latin typeface="Calibri" pitchFamily="34" charset="0"/>
                <a:ea typeface="Calibri" pitchFamily="34" charset="-122"/>
                <a:cs typeface="Calibri" pitchFamily="34" charset="-120"/>
              </a:rPr>
              <a:t>Implement the staff engagement action plan focusing on workload distribution improvements.</a:t>
            </a:r>
            <a:endParaRPr lang="en-US" sz="1300" dirty="0"/>
          </a:p>
          <a:p>
            <a:pPr marL="342900" indent="-342900">
              <a:spcAft>
                <a:spcPts val="500"/>
              </a:spcAft>
              <a:buSzPct val="100000"/>
              <a:buChar char="•"/>
            </a:pPr>
            <a:r>
              <a:rPr lang="en-US" sz="1300" dirty="0">
                <a:solidFill>
                  <a:srgbClr val="333333"/>
                </a:solidFill>
                <a:latin typeface="Calibri" pitchFamily="34" charset="0"/>
                <a:ea typeface="Calibri" pitchFamily="34" charset="-122"/>
                <a:cs typeface="Calibri" pitchFamily="34" charset="-120"/>
              </a:rPr>
              <a:t>Complete the Talent Development Plan and submit to HR for sign-off by end of October.</a:t>
            </a:r>
            <a:endParaRPr lang="en-US" sz="1300" dirty="0"/>
          </a:p>
          <a:p>
            <a:pPr marL="342900" indent="-342900">
              <a:spcAft>
                <a:spcPts val="500"/>
              </a:spcAft>
              <a:buSzPct val="100000"/>
              <a:buChar char="•"/>
            </a:pPr>
            <a:r>
              <a:rPr lang="en-US" sz="1300" dirty="0">
                <a:solidFill>
                  <a:srgbClr val="333333"/>
                </a:solidFill>
                <a:latin typeface="Calibri" pitchFamily="34" charset="0"/>
                <a:ea typeface="Calibri" pitchFamily="34" charset="-122"/>
                <a:cs typeface="Calibri" pitchFamily="34" charset="-120"/>
              </a:rPr>
              <a:t>Prepare and submit the annual budget proposal for FY2026 to Finance by November 30.</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E3A5F"/>
          </a:solidFill>
          <a:ln w="12700">
            <a:solidFill>
              <a:srgbClr val="1E3A5F"/>
            </a:solidFill>
            <a:prstDash val="solid"/>
          </a:ln>
        </p:spPr>
        <p:txBody>
          <a:bodyPr/>
          <a:lstStyle/>
          <a:p>
            <a:endParaRPr lang="en-MY"/>
          </a:p>
        </p:txBody>
      </p:sp>
      <p:sp>
        <p:nvSpPr>
          <p:cNvPr id="3" name="Text 1"/>
          <p:cNvSpPr/>
          <p:nvPr/>
        </p:nvSpPr>
        <p:spPr>
          <a:xfrm>
            <a:off x="457200" y="91440"/>
            <a:ext cx="8229600" cy="73152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Key Decisions Needed</a:t>
            </a:r>
            <a:endParaRPr lang="en-US" sz="2600" dirty="0"/>
          </a:p>
        </p:txBody>
      </p:sp>
      <p:sp>
        <p:nvSpPr>
          <p:cNvPr id="4" name="Text 2"/>
          <p:cNvSpPr/>
          <p:nvPr/>
        </p:nvSpPr>
        <p:spPr>
          <a:xfrm>
            <a:off x="548640" y="1051560"/>
            <a:ext cx="8046720" cy="3886200"/>
          </a:xfrm>
          <a:prstGeom prst="rect">
            <a:avLst/>
          </a:prstGeom>
          <a:noFill/>
          <a:ln/>
        </p:spPr>
        <p:txBody>
          <a:bodyPr wrap="square" rtlCol="0" anchor="t"/>
          <a:lstStyle/>
          <a:p>
            <a:pPr marL="342900" indent="-342900">
              <a:spcAft>
                <a:spcPts val="500"/>
              </a:spcAft>
              <a:buSzPct val="100000"/>
              <a:buChar char="•"/>
            </a:pPr>
            <a:r>
              <a:rPr lang="en-US" sz="1200" dirty="0">
                <a:solidFill>
                  <a:srgbClr val="333333"/>
                </a:solidFill>
                <a:latin typeface="Calibri" pitchFamily="34" charset="0"/>
                <a:ea typeface="Calibri" pitchFamily="34" charset="-122"/>
                <a:cs typeface="Calibri" pitchFamily="34" charset="-120"/>
              </a:rPr>
              <a:t>The department has reviewed its Q3 performance and identified several areas requiring leadership input and decision-making support to ensure smooth execution in Q4.</a:t>
            </a:r>
            <a:endParaRPr lang="en-US" sz="1200" dirty="0"/>
          </a:p>
          <a:p>
            <a:pPr marL="342900" indent="-342900">
              <a:spcAft>
                <a:spcPts val="500"/>
              </a:spcAft>
              <a:buSzPct val="100000"/>
              <a:buChar char="•"/>
            </a:pPr>
            <a:r>
              <a:rPr lang="en-US" sz="1200" dirty="0">
                <a:solidFill>
                  <a:srgbClr val="333333"/>
                </a:solidFill>
                <a:latin typeface="Calibri" pitchFamily="34" charset="0"/>
                <a:ea typeface="Calibri" pitchFamily="34" charset="-122"/>
                <a:cs typeface="Calibri" pitchFamily="34" charset="-120"/>
              </a:rPr>
              <a:t>Guidance is requested on the appropriate communication approach for the Digital Roadmap findings, particularly regarding how results should be shared with external stakeholders.</a:t>
            </a:r>
            <a:endParaRPr lang="en-US" sz="1200" dirty="0"/>
          </a:p>
          <a:p>
            <a:pPr marL="342900" indent="-342900">
              <a:spcAft>
                <a:spcPts val="500"/>
              </a:spcAft>
              <a:buSzPct val="100000"/>
              <a:buChar char="•"/>
            </a:pPr>
            <a:r>
              <a:rPr lang="en-US" sz="1200" dirty="0">
                <a:solidFill>
                  <a:srgbClr val="333333"/>
                </a:solidFill>
                <a:latin typeface="Calibri" pitchFamily="34" charset="0"/>
                <a:ea typeface="Calibri" pitchFamily="34" charset="-122"/>
                <a:cs typeface="Calibri" pitchFamily="34" charset="-120"/>
              </a:rPr>
              <a:t>Clarification is needed on the revised travel policy for Q4, specifically whether overseas client visits can resume following the earlier suspension.</a:t>
            </a:r>
            <a:endParaRPr lang="en-US" sz="1200" dirty="0"/>
          </a:p>
          <a:p>
            <a:pPr marL="342900" indent="-342900">
              <a:spcAft>
                <a:spcPts val="500"/>
              </a:spcAft>
              <a:buSzPct val="100000"/>
              <a:buChar char="•"/>
            </a:pPr>
            <a:r>
              <a:rPr lang="en-US" sz="1200" dirty="0">
                <a:solidFill>
                  <a:srgbClr val="333333"/>
                </a:solidFill>
                <a:latin typeface="Calibri" pitchFamily="34" charset="0"/>
                <a:ea typeface="Calibri" pitchFamily="34" charset="-122"/>
                <a:cs typeface="Calibri" pitchFamily="34" charset="-120"/>
              </a:rPr>
              <a:t>Approval is required to reallocate one headcount from Project Angkasa to Project Rimau for a period of 8 weeks to address the current resource gap and prevent further delays.</a:t>
            </a:r>
            <a:endParaRPr lang="en-US" sz="1200" dirty="0"/>
          </a:p>
          <a:p>
            <a:pPr marL="342900" indent="-342900">
              <a:spcAft>
                <a:spcPts val="500"/>
              </a:spcAft>
              <a:buSzPct val="100000"/>
              <a:buChar char="•"/>
            </a:pPr>
            <a:r>
              <a:rPr lang="en-US" sz="1200" dirty="0">
                <a:solidFill>
                  <a:srgbClr val="333333"/>
                </a:solidFill>
                <a:latin typeface="Calibri" pitchFamily="34" charset="0"/>
                <a:ea typeface="Calibri" pitchFamily="34" charset="-122"/>
                <a:cs typeface="Calibri" pitchFamily="34" charset="-120"/>
              </a:rPr>
              <a:t>The department also requests endorsement of the updated project governance framework which has been under review since June and requires sign-off to take effect.</a:t>
            </a:r>
            <a:endParaRPr lang="en-US" sz="1200" dirty="0"/>
          </a:p>
          <a:p>
            <a:pPr marL="342900" indent="-342900">
              <a:spcAft>
                <a:spcPts val="500"/>
              </a:spcAft>
              <a:buSzPct val="100000"/>
              <a:buChar char="•"/>
            </a:pPr>
            <a:r>
              <a:rPr lang="en-US" sz="1200" dirty="0">
                <a:solidFill>
                  <a:srgbClr val="333333"/>
                </a:solidFill>
                <a:latin typeface="Calibri" pitchFamily="34" charset="0"/>
                <a:ea typeface="Calibri" pitchFamily="34" charset="-122"/>
                <a:cs typeface="Calibri" pitchFamily="34" charset="-120"/>
              </a:rPr>
              <a:t>Finally, the team would welcome guidance on budget flexibility for the Q4 consultancy line, as two potential engagements may require spend above the current allocation.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914400" y="1371600"/>
            <a:ext cx="7315200" cy="1097280"/>
          </a:xfrm>
          <a:prstGeom prst="rect">
            <a:avLst/>
          </a:prstGeom>
          <a:noFill/>
          <a:ln/>
        </p:spPr>
        <p:txBody>
          <a:bodyPr wrap="square" rtlCol="0" anchor="ctr"/>
          <a:lstStyle/>
          <a:p>
            <a:pPr marL="0" indent="0" algn="ctr">
              <a:buNone/>
            </a:pPr>
            <a:r>
              <a:rPr lang="en-US" sz="4400" b="1" dirty="0">
                <a:solidFill>
                  <a:srgbClr val="FFFFFF"/>
                </a:solidFill>
                <a:latin typeface="Georgia" pitchFamily="34" charset="0"/>
                <a:ea typeface="Georgia" pitchFamily="34" charset="-122"/>
                <a:cs typeface="Georgia" pitchFamily="34" charset="-120"/>
              </a:rPr>
              <a:t>Thank You</a:t>
            </a:r>
            <a:endParaRPr lang="en-US" sz="4400" dirty="0"/>
          </a:p>
        </p:txBody>
      </p:sp>
      <p:sp>
        <p:nvSpPr>
          <p:cNvPr id="3" name="Text 1"/>
          <p:cNvSpPr/>
          <p:nvPr/>
        </p:nvSpPr>
        <p:spPr>
          <a:xfrm>
            <a:off x="1371600" y="2743200"/>
            <a:ext cx="6400800" cy="548640"/>
          </a:xfrm>
          <a:prstGeom prst="rect">
            <a:avLst/>
          </a:prstGeom>
          <a:noFill/>
          <a:ln/>
        </p:spPr>
        <p:txBody>
          <a:bodyPr wrap="square" rtlCol="0" anchor="ctr"/>
          <a:lstStyle/>
          <a:p>
            <a:pPr marL="0" indent="0" algn="ctr">
              <a:buNone/>
            </a:pPr>
            <a:r>
              <a:rPr lang="en-US" sz="1400" i="1" dirty="0">
                <a:solidFill>
                  <a:srgbClr val="A0BFD8"/>
                </a:solidFill>
                <a:latin typeface="Calibri" pitchFamily="34" charset="0"/>
                <a:ea typeface="Calibri" pitchFamily="34" charset="-122"/>
                <a:cs typeface="Calibri" pitchFamily="34" charset="-120"/>
              </a:rPr>
              <a:t>For questions, please contact the Strategy and Planning department.</a:t>
            </a:r>
            <a:endParaRPr lang="en-US" sz="1400" dirty="0"/>
          </a:p>
        </p:txBody>
      </p:sp>
      <p:sp>
        <p:nvSpPr>
          <p:cNvPr id="4" name="Shape 2"/>
          <p:cNvSpPr/>
          <p:nvPr/>
        </p:nvSpPr>
        <p:spPr>
          <a:xfrm>
            <a:off x="0" y="4754880"/>
            <a:ext cx="9144000" cy="388620"/>
          </a:xfrm>
          <a:prstGeom prst="rect">
            <a:avLst/>
          </a:prstGeom>
          <a:solidFill>
            <a:srgbClr val="028090"/>
          </a:solidFill>
          <a:ln w="12700">
            <a:solidFill>
              <a:srgbClr val="028090"/>
            </a:solidFill>
            <a:prstDash val="solid"/>
          </a:ln>
        </p:spPr>
        <p:txBody>
          <a:bodyPr/>
          <a:lstStyle/>
          <a:p>
            <a:endParaRPr lang="en-MY"/>
          </a:p>
        </p:txBody>
      </p:sp>
      <p:sp>
        <p:nvSpPr>
          <p:cNvPr id="5" name="Text 3"/>
          <p:cNvSpPr/>
          <p:nvPr/>
        </p:nvSpPr>
        <p:spPr>
          <a:xfrm>
            <a:off x="274320" y="4773168"/>
            <a:ext cx="8595360" cy="320040"/>
          </a:xfrm>
          <a:prstGeom prst="rect">
            <a:avLst/>
          </a:prstGeom>
          <a:noFill/>
          <a:ln/>
        </p:spPr>
        <p:txBody>
          <a:bodyPr wrap="square"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CONFIDENTIAL | Nusantara Capital Berhad | Q3 FY2025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1172</Words>
  <Application>Microsoft Office PowerPoint</Application>
  <PresentationFormat>On-screen Show (16:9)</PresentationFormat>
  <Paragraphs>194</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Nusantara Capital Q3 2025 Departmental Review</dc:title>
  <dc:subject>PptxGenJS Presentation</dc:subject>
  <dc:creator>PptxGenJS</dc:creator>
  <cp:lastModifiedBy>Asraf  Jaafar Sidik</cp:lastModifiedBy>
  <cp:revision>2</cp:revision>
  <dcterms:created xsi:type="dcterms:W3CDTF">2026-05-02T15:04:11Z</dcterms:created>
  <dcterms:modified xsi:type="dcterms:W3CDTF">2026-05-02T15:16:01Z</dcterms:modified>
</cp:coreProperties>
</file>