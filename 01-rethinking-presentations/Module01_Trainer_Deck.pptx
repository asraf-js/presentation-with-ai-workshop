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and introduce yourself briefly if needed.
Tell them: This first module is not about PowerPoint features yet. Before we touch any tools, we need to agree on what the problem actually is.
Mention the 40-minute timing and that they will be working on a real deck throughout the two days — introduce that here or after the scenario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2 minutes to discuss in pairs, then ask 3 or 4 people to share out loud.
Write their answers on the whiteboard or flip chart as they speak.
You will almost always hear: too many words, boring, no point, confusing charts, dragged on too long.
These answers map directly to the 5 problems on the next slide. Do not reveal that yet — let them talk first.
Transition: "Almost everything you just described falls into one of five categories. Let me show you what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of the five problems briefly. One sentence each is enough — you already collected examples from the room on the previous slide.
Connect what participants said to these categories: "Someone mentioned too many bullet points — that is problem 01. Someone said they had no idea what the presenter wanted them to do — that is problem 02."
Do not spend more than 3 minutes on this slide. The goal is recognition, not deep explanation. They will experience all five problems firsthand when they open the before deck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of this slide is the right column, not the left.
Most participants come in thinking AI will solve their presentation problems. This slide reframes that: AI accelerates the mechanical work, but the thinking — the message, the audience, the strategy — stays with you.
Spend a moment on the Design row. Participants often want to use Designer or Canva AI as a shortcut for the whole slide. Point out that it picks common over distinctive.
Ask: "Has anyone used AI to write or improve a presentation before? What happened?" This usually generates a useful story about generic-sounding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a moment. Let them read it.
You can say: "If you remember one thing from this module, this is it. We will come back to this idea throughout the two days."
This slide is intentionally simple. It demonstrates the principle it is teaching — one point, stated clearly, no decoration needed. You can call that out explicitly if the group is ready to hear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one minute maximum. These are not warnings meant to scare people away from AI. They are calibration points.
The third one (AI does not know your context) tends to land well because everyone immediately thinks of a situation where generic advice would have been wrong in their organisation.
Transition: "Now that we know where AI fits and where it does not, let me show you what we will be working on for the next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manages expectations. Some participants may be hoping to use Copilot for Microsoft 365 — the paid enterprise version. They might not have it.
Reassure them: everything in this workshop works on free tools. The techniques are transferable to paid tools later.
Also worth saying: the principles we teach apply regardless of which AI tool you use. Prompting skills, structural thinking, and visual judgment are not tool-specific.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Nusantara Capital scenario here.
If you are delivering for a specific client (e.g. Khazanah), say: "We are using a fictional company called Nusantara Capital as our scenario — treat it as a stand-in for your own organisation. The deck, the problems, and the decisions are all realistic."
This is important: participants should engage with the scenario as if it is real. The more they treat it as their own department, the more useful the workshop will be.
Tell them the before deck is available for download from the workshop site (or share it directly). Give them 5 minutes to open it and scroll through before Module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3 to 5 minutes to open and scroll through the deck at this point.
Do not tell them what the problems are yet. Let them find them.
After they have had time to look: ask "What did you notice?" You should get a range of answers — some will spot the pie chart immediately, some will notice the wall of text, fewer will catch the buried decision on slide 11.
Use this as a segue into Module 02: "Now that you know what the problems are, the next question is: what does good look like? That starts with knowing what you are trying to say before you open a single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points briefly — one sentence each.
Then transition: "Before we start fixing the deck, we need to know what the deck is trying to say. That is Module 02. It takes about 30 minutes and it happens entirely before you open PowerPoint."
If you are running short on time, this slide can be skipped and the transition spoken directly from slide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8090"/>
          </a:solidFill>
          <a:ln w="12700">
            <a:solidFill>
              <a:srgbClr val="028090"/>
            </a:solidFill>
            <a:prstDash val="solid"/>
          </a:ln>
        </p:spPr>
      </p:sp>
      <p:sp>
        <p:nvSpPr>
          <p:cNvPr id="3" name="Text 1"/>
          <p:cNvSpPr/>
          <p:nvPr/>
        </p:nvSpPr>
        <p:spPr>
          <a:xfrm>
            <a:off x="548640" y="822960"/>
            <a:ext cx="7772400" cy="365760"/>
          </a:xfrm>
          <a:prstGeom prst="rect">
            <a:avLst/>
          </a:prstGeom>
          <a:noFill/>
          <a:ln/>
        </p:spPr>
        <p:txBody>
          <a:bodyPr wrap="square" lIns="0" tIns="0" rIns="0" bIns="0" rtlCol="0" anchor="ctr"/>
          <a:lstStyle/>
          <a:p>
            <a:pPr indent="0" marL="0">
              <a:buNone/>
            </a:pPr>
            <a:r>
              <a:rPr lang="en-US" sz="1100" b="1" spc="500" kern="0" dirty="0">
                <a:solidFill>
                  <a:srgbClr val="028090"/>
                </a:solidFill>
                <a:latin typeface="Calibri" pitchFamily="34" charset="0"/>
                <a:ea typeface="Calibri" pitchFamily="34" charset="-122"/>
                <a:cs typeface="Calibri" pitchFamily="34" charset="-120"/>
              </a:rPr>
              <a:t>MODULE 01</a:t>
            </a:r>
            <a:endParaRPr lang="en-US" sz="1100" dirty="0"/>
          </a:p>
        </p:txBody>
      </p:sp>
      <p:sp>
        <p:nvSpPr>
          <p:cNvPr id="4" name="Text 2"/>
          <p:cNvSpPr/>
          <p:nvPr/>
        </p:nvSpPr>
        <p:spPr>
          <a:xfrm>
            <a:off x="548640" y="1234440"/>
            <a:ext cx="7772400" cy="1828800"/>
          </a:xfrm>
          <a:prstGeom prst="rect">
            <a:avLst/>
          </a:prstGeom>
          <a:noFill/>
          <a:ln/>
        </p:spPr>
        <p:txBody>
          <a:bodyPr wrap="square" lIns="0" tIns="0" rIns="0" bIns="0" rtlCol="0" anchor="ctr"/>
          <a:lstStyle/>
          <a:p>
            <a:pPr indent="0" marL="0">
              <a:lnSpc>
                <a:spcPct val="115000"/>
              </a:lnSpc>
              <a:buNone/>
            </a:pPr>
            <a:r>
              <a:rPr lang="en-US" sz="3600" b="1" dirty="0">
                <a:solidFill>
                  <a:srgbClr val="FFFFFF"/>
                </a:solidFill>
                <a:latin typeface="Calibri" pitchFamily="34" charset="0"/>
                <a:ea typeface="Calibri" pitchFamily="34" charset="-122"/>
                <a:cs typeface="Calibri" pitchFamily="34" charset="-120"/>
              </a:rPr>
              <a:t>Rethinking Presentations</a:t>
            </a:r>
            <a:endParaRPr lang="en-US" sz="3600" dirty="0"/>
          </a:p>
          <a:p>
            <a:pPr indent="0" marL="0">
              <a:lnSpc>
                <a:spcPct val="115000"/>
              </a:lnSpc>
              <a:buNone/>
            </a:pPr>
            <a:r>
              <a:rPr lang="en-US" sz="3600" b="1" dirty="0">
                <a:solidFill>
                  <a:srgbClr val="FFFFFF"/>
                </a:solidFill>
                <a:latin typeface="Calibri" pitchFamily="34" charset="0"/>
                <a:ea typeface="Calibri" pitchFamily="34" charset="-122"/>
                <a:cs typeface="Calibri" pitchFamily="34" charset="-120"/>
              </a:rPr>
              <a:t>in the Age of AI</a:t>
            </a:r>
            <a:endParaRPr lang="en-US" sz="3600" dirty="0"/>
          </a:p>
        </p:txBody>
      </p:sp>
      <p:sp>
        <p:nvSpPr>
          <p:cNvPr id="5" name="Text 3"/>
          <p:cNvSpPr/>
          <p:nvPr/>
        </p:nvSpPr>
        <p:spPr>
          <a:xfrm>
            <a:off x="548640" y="3200400"/>
            <a:ext cx="6858000" cy="457200"/>
          </a:xfrm>
          <a:prstGeom prst="rect">
            <a:avLst/>
          </a:prstGeom>
          <a:noFill/>
          <a:ln/>
        </p:spPr>
        <p:txBody>
          <a:bodyPr wrap="square" lIns="0" tIns="0" rIns="0" bIns="0" rtlCol="0" anchor="ctr"/>
          <a:lstStyle/>
          <a:p>
            <a:pPr indent="0" marL="0">
              <a:buNone/>
            </a:pPr>
            <a:r>
              <a:rPr lang="en-US" sz="1400" dirty="0">
                <a:solidFill>
                  <a:srgbClr val="A0BFD8"/>
                </a:solidFill>
                <a:latin typeface="Calibri" pitchFamily="34" charset="0"/>
                <a:ea typeface="Calibri" pitchFamily="34" charset="-122"/>
                <a:cs typeface="Calibri" pitchFamily="34" charset="-120"/>
              </a:rPr>
              <a:t>What goes wrong. Where AI helps. And where it does not.</a:t>
            </a:r>
            <a:endParaRPr lang="en-US" sz="1400" dirty="0"/>
          </a:p>
        </p:txBody>
      </p:sp>
      <p:sp>
        <p:nvSpPr>
          <p:cNvPr id="6" name="Shape 4"/>
          <p:cNvSpPr/>
          <p:nvPr/>
        </p:nvSpPr>
        <p:spPr>
          <a:xfrm>
            <a:off x="548640" y="3931920"/>
            <a:ext cx="1463040" cy="347472"/>
          </a:xfrm>
          <a:prstGeom prst="rect">
            <a:avLst/>
          </a:prstGeom>
          <a:solidFill>
            <a:srgbClr val="028090"/>
          </a:solidFill>
          <a:ln w="12700">
            <a:solidFill>
              <a:srgbClr val="028090"/>
            </a:solidFill>
            <a:prstDash val="solid"/>
          </a:ln>
        </p:spPr>
      </p:sp>
      <p:sp>
        <p:nvSpPr>
          <p:cNvPr id="7" name="Text 5"/>
          <p:cNvSpPr/>
          <p:nvPr/>
        </p:nvSpPr>
        <p:spPr>
          <a:xfrm>
            <a:off x="548640" y="3931920"/>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40 minutes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640080" y="822960"/>
            <a:ext cx="7863840" cy="1280160"/>
          </a:xfrm>
          <a:prstGeom prst="rect">
            <a:avLst/>
          </a:prstGeom>
          <a:noFill/>
          <a:ln/>
        </p:spPr>
        <p:txBody>
          <a:bodyPr wrap="square" lIns="0" tIns="0" rIns="0" bIns="0" rtlCol="0" anchor="ctr"/>
          <a:lstStyle/>
          <a:p>
            <a:pPr indent="0" marL="0">
              <a:lnSpc>
                <a:spcPct val="120000"/>
              </a:lnSpc>
              <a:buNone/>
            </a:pPr>
            <a:r>
              <a:rPr lang="en-US" sz="2800" b="1" dirty="0">
                <a:solidFill>
                  <a:srgbClr val="FFFFFF"/>
                </a:solidFill>
                <a:latin typeface="Calibri" pitchFamily="34" charset="0"/>
                <a:ea typeface="Calibri" pitchFamily="34" charset="-122"/>
                <a:cs typeface="Calibri" pitchFamily="34" charset="-120"/>
              </a:rPr>
              <a:t>Think of the last presentation you sat through that wasted your time.</a:t>
            </a:r>
            <a:endParaRPr lang="en-US" sz="2800" dirty="0"/>
          </a:p>
        </p:txBody>
      </p:sp>
      <p:sp>
        <p:nvSpPr>
          <p:cNvPr id="4" name="Text 2"/>
          <p:cNvSpPr/>
          <p:nvPr/>
        </p:nvSpPr>
        <p:spPr>
          <a:xfrm>
            <a:off x="640080" y="2286000"/>
            <a:ext cx="7863840" cy="548640"/>
          </a:xfrm>
          <a:prstGeom prst="rect">
            <a:avLst/>
          </a:prstGeom>
          <a:noFill/>
          <a:ln/>
        </p:spPr>
        <p:txBody>
          <a:bodyPr wrap="square" lIns="0" tIns="0" rIns="0" bIns="0" rtlCol="0" anchor="ctr"/>
          <a:lstStyle/>
          <a:p>
            <a:pPr indent="0" marL="0">
              <a:buNone/>
            </a:pPr>
            <a:r>
              <a:rPr lang="en-US" sz="2000" dirty="0">
                <a:solidFill>
                  <a:srgbClr val="028090"/>
                </a:solidFill>
                <a:latin typeface="Calibri" pitchFamily="34" charset="0"/>
                <a:ea typeface="Calibri" pitchFamily="34" charset="-122"/>
                <a:cs typeface="Calibri" pitchFamily="34" charset="-120"/>
              </a:rPr>
              <a:t>What was wrong with it?</a:t>
            </a:r>
            <a:endParaRPr lang="en-US" sz="2000" dirty="0"/>
          </a:p>
        </p:txBody>
      </p:sp>
      <p:sp>
        <p:nvSpPr>
          <p:cNvPr id="5" name="Text 3"/>
          <p:cNvSpPr/>
          <p:nvPr/>
        </p:nvSpPr>
        <p:spPr>
          <a:xfrm>
            <a:off x="640080" y="3108960"/>
            <a:ext cx="7863840" cy="411480"/>
          </a:xfrm>
          <a:prstGeom prst="rect">
            <a:avLst/>
          </a:prstGeom>
          <a:noFill/>
          <a:ln/>
        </p:spPr>
        <p:txBody>
          <a:bodyPr wrap="square" lIns="0" tIns="0" rIns="0" bIns="0" rtlCol="0" anchor="ctr"/>
          <a:lstStyle/>
          <a:p>
            <a:pPr indent="0" marL="0">
              <a:buNone/>
            </a:pPr>
            <a:r>
              <a:rPr lang="en-US" sz="1300" i="1" dirty="0">
                <a:solidFill>
                  <a:srgbClr val="7090A0"/>
                </a:solidFill>
                <a:latin typeface="Calibri" pitchFamily="34" charset="0"/>
                <a:ea typeface="Calibri" pitchFamily="34" charset="-122"/>
                <a:cs typeface="Calibri" pitchFamily="34" charset="-120"/>
              </a:rPr>
              <a:t>Take 2 minutes. Share with the person next to you.</a:t>
            </a:r>
            <a:endParaRPr lang="en-US" sz="1300" dirty="0"/>
          </a:p>
        </p:txBody>
      </p:sp>
      <p:sp>
        <p:nvSpPr>
          <p:cNvPr id="6" name="Text 4"/>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Five problems that show up in almost every corporate deck</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sp>
        <p:nvSpPr>
          <p:cNvPr id="5" name="Shape 3"/>
          <p:cNvSpPr/>
          <p:nvPr/>
        </p:nvSpPr>
        <p:spPr>
          <a:xfrm>
            <a:off x="502920" y="950976"/>
            <a:ext cx="384048" cy="384048"/>
          </a:xfrm>
          <a:prstGeom prst="ellipse">
            <a:avLst/>
          </a:prstGeom>
          <a:solidFill>
            <a:srgbClr val="1E2761"/>
          </a:solidFill>
          <a:ln w="12700">
            <a:solidFill>
              <a:srgbClr val="1E2761"/>
            </a:solidFill>
            <a:prstDash val="solid"/>
          </a:ln>
        </p:spPr>
      </p:sp>
      <p:sp>
        <p:nvSpPr>
          <p:cNvPr id="6" name="Text 4"/>
          <p:cNvSpPr/>
          <p:nvPr/>
        </p:nvSpPr>
        <p:spPr>
          <a:xfrm>
            <a:off x="502920" y="95097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1005840" y="914400"/>
            <a:ext cx="237744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Too much text</a:t>
            </a:r>
            <a:endParaRPr lang="en-US" sz="1300" dirty="0"/>
          </a:p>
        </p:txBody>
      </p:sp>
      <p:sp>
        <p:nvSpPr>
          <p:cNvPr id="8" name="Text 6"/>
          <p:cNvSpPr/>
          <p:nvPr/>
        </p:nvSpPr>
        <p:spPr>
          <a:xfrm>
            <a:off x="3520440" y="914400"/>
            <a:ext cx="5212080" cy="45720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Slides used as documents. Audience reads ahead and stops listening.</a:t>
            </a:r>
            <a:endParaRPr lang="en-US" sz="1200" dirty="0"/>
          </a:p>
        </p:txBody>
      </p:sp>
      <p:sp>
        <p:nvSpPr>
          <p:cNvPr id="9" name="Shape 7"/>
          <p:cNvSpPr/>
          <p:nvPr/>
        </p:nvSpPr>
        <p:spPr>
          <a:xfrm>
            <a:off x="502920" y="1417320"/>
            <a:ext cx="8229600" cy="10973"/>
          </a:xfrm>
          <a:prstGeom prst="rect">
            <a:avLst/>
          </a:prstGeom>
          <a:solidFill>
            <a:srgbClr val="E2E6EA"/>
          </a:solidFill>
          <a:ln w="12700">
            <a:solidFill>
              <a:srgbClr val="E2E6EA"/>
            </a:solidFill>
            <a:prstDash val="solid"/>
          </a:ln>
        </p:spPr>
      </p:sp>
      <p:sp>
        <p:nvSpPr>
          <p:cNvPr id="10" name="Shape 8"/>
          <p:cNvSpPr/>
          <p:nvPr/>
        </p:nvSpPr>
        <p:spPr>
          <a:xfrm>
            <a:off x="502920" y="1746504"/>
            <a:ext cx="384048" cy="384048"/>
          </a:xfrm>
          <a:prstGeom prst="ellipse">
            <a:avLst/>
          </a:prstGeom>
          <a:solidFill>
            <a:srgbClr val="1E2761"/>
          </a:solidFill>
          <a:ln w="12700">
            <a:solidFill>
              <a:srgbClr val="1E2761"/>
            </a:solidFill>
            <a:prstDash val="solid"/>
          </a:ln>
        </p:spPr>
      </p:sp>
      <p:sp>
        <p:nvSpPr>
          <p:cNvPr id="11" name="Text 9"/>
          <p:cNvSpPr/>
          <p:nvPr/>
        </p:nvSpPr>
        <p:spPr>
          <a:xfrm>
            <a:off x="502920" y="1746504"/>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2" name="Text 10"/>
          <p:cNvSpPr/>
          <p:nvPr/>
        </p:nvSpPr>
        <p:spPr>
          <a:xfrm>
            <a:off x="1005840" y="1709928"/>
            <a:ext cx="237744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 clear message</a:t>
            </a:r>
            <a:endParaRPr lang="en-US" sz="1300" dirty="0"/>
          </a:p>
        </p:txBody>
      </p:sp>
      <p:sp>
        <p:nvSpPr>
          <p:cNvPr id="13" name="Text 11"/>
          <p:cNvSpPr/>
          <p:nvPr/>
        </p:nvSpPr>
        <p:spPr>
          <a:xfrm>
            <a:off x="3520440" y="1709928"/>
            <a:ext cx="5212080" cy="45720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Lots of information. No answer to the question: so what?</a:t>
            </a:r>
            <a:endParaRPr lang="en-US" sz="1200" dirty="0"/>
          </a:p>
        </p:txBody>
      </p:sp>
      <p:sp>
        <p:nvSpPr>
          <p:cNvPr id="14" name="Shape 12"/>
          <p:cNvSpPr/>
          <p:nvPr/>
        </p:nvSpPr>
        <p:spPr>
          <a:xfrm>
            <a:off x="502920" y="2212848"/>
            <a:ext cx="8229600" cy="10973"/>
          </a:xfrm>
          <a:prstGeom prst="rect">
            <a:avLst/>
          </a:prstGeom>
          <a:solidFill>
            <a:srgbClr val="E2E6EA"/>
          </a:solidFill>
          <a:ln w="12700">
            <a:solidFill>
              <a:srgbClr val="E2E6EA"/>
            </a:solidFill>
            <a:prstDash val="solid"/>
          </a:ln>
        </p:spPr>
      </p:sp>
      <p:sp>
        <p:nvSpPr>
          <p:cNvPr id="15" name="Shape 13"/>
          <p:cNvSpPr/>
          <p:nvPr/>
        </p:nvSpPr>
        <p:spPr>
          <a:xfrm>
            <a:off x="502920" y="2542032"/>
            <a:ext cx="384048" cy="384048"/>
          </a:xfrm>
          <a:prstGeom prst="ellipse">
            <a:avLst/>
          </a:prstGeom>
          <a:solidFill>
            <a:srgbClr val="1E2761"/>
          </a:solidFill>
          <a:ln w="12700">
            <a:solidFill>
              <a:srgbClr val="1E2761"/>
            </a:solidFill>
            <a:prstDash val="solid"/>
          </a:ln>
        </p:spPr>
      </p:sp>
      <p:sp>
        <p:nvSpPr>
          <p:cNvPr id="16" name="Text 14"/>
          <p:cNvSpPr/>
          <p:nvPr/>
        </p:nvSpPr>
        <p:spPr>
          <a:xfrm>
            <a:off x="502920" y="254203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7" name="Text 15"/>
          <p:cNvSpPr/>
          <p:nvPr/>
        </p:nvSpPr>
        <p:spPr>
          <a:xfrm>
            <a:off x="1005840" y="2505456"/>
            <a:ext cx="237744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Misused visuals</a:t>
            </a:r>
            <a:endParaRPr lang="en-US" sz="1300" dirty="0"/>
          </a:p>
        </p:txBody>
      </p:sp>
      <p:sp>
        <p:nvSpPr>
          <p:cNvPr id="18" name="Text 16"/>
          <p:cNvSpPr/>
          <p:nvPr/>
        </p:nvSpPr>
        <p:spPr>
          <a:xfrm>
            <a:off x="3520440" y="2505456"/>
            <a:ext cx="5212080" cy="45720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Charts that show everything. Tables from Excel with no simplification.</a:t>
            </a:r>
            <a:endParaRPr lang="en-US" sz="1200" dirty="0"/>
          </a:p>
        </p:txBody>
      </p:sp>
      <p:sp>
        <p:nvSpPr>
          <p:cNvPr id="19" name="Shape 17"/>
          <p:cNvSpPr/>
          <p:nvPr/>
        </p:nvSpPr>
        <p:spPr>
          <a:xfrm>
            <a:off x="502920" y="3008376"/>
            <a:ext cx="8229600" cy="10973"/>
          </a:xfrm>
          <a:prstGeom prst="rect">
            <a:avLst/>
          </a:prstGeom>
          <a:solidFill>
            <a:srgbClr val="E2E6EA"/>
          </a:solidFill>
          <a:ln w="12700">
            <a:solidFill>
              <a:srgbClr val="E2E6EA"/>
            </a:solidFill>
            <a:prstDash val="solid"/>
          </a:ln>
        </p:spPr>
      </p:sp>
      <p:sp>
        <p:nvSpPr>
          <p:cNvPr id="20" name="Shape 18"/>
          <p:cNvSpPr/>
          <p:nvPr/>
        </p:nvSpPr>
        <p:spPr>
          <a:xfrm>
            <a:off x="502920" y="3337560"/>
            <a:ext cx="384048" cy="384048"/>
          </a:xfrm>
          <a:prstGeom prst="ellipse">
            <a:avLst/>
          </a:prstGeom>
          <a:solidFill>
            <a:srgbClr val="1E2761"/>
          </a:solidFill>
          <a:ln w="12700">
            <a:solidFill>
              <a:srgbClr val="1E2761"/>
            </a:solidFill>
            <a:prstDash val="solid"/>
          </a:ln>
        </p:spPr>
      </p:sp>
      <p:sp>
        <p:nvSpPr>
          <p:cNvPr id="21" name="Text 19"/>
          <p:cNvSpPr/>
          <p:nvPr/>
        </p:nvSpPr>
        <p:spPr>
          <a:xfrm>
            <a:off x="502920" y="333756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2" name="Text 20"/>
          <p:cNvSpPr/>
          <p:nvPr/>
        </p:nvSpPr>
        <p:spPr>
          <a:xfrm>
            <a:off x="1005840" y="3300984"/>
            <a:ext cx="237744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Inconsistent design</a:t>
            </a:r>
            <a:endParaRPr lang="en-US" sz="1300" dirty="0"/>
          </a:p>
        </p:txBody>
      </p:sp>
      <p:sp>
        <p:nvSpPr>
          <p:cNvPr id="23" name="Text 21"/>
          <p:cNvSpPr/>
          <p:nvPr/>
        </p:nvSpPr>
        <p:spPr>
          <a:xfrm>
            <a:off x="3520440" y="3300984"/>
            <a:ext cx="5212080" cy="45720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Four fonts, three colour schemes, slides from different decks.</a:t>
            </a:r>
            <a:endParaRPr lang="en-US" sz="1200" dirty="0"/>
          </a:p>
        </p:txBody>
      </p:sp>
      <p:sp>
        <p:nvSpPr>
          <p:cNvPr id="24" name="Shape 22"/>
          <p:cNvSpPr/>
          <p:nvPr/>
        </p:nvSpPr>
        <p:spPr>
          <a:xfrm>
            <a:off x="502920" y="3803904"/>
            <a:ext cx="8229600" cy="10973"/>
          </a:xfrm>
          <a:prstGeom prst="rect">
            <a:avLst/>
          </a:prstGeom>
          <a:solidFill>
            <a:srgbClr val="E2E6EA"/>
          </a:solidFill>
          <a:ln w="12700">
            <a:solidFill>
              <a:srgbClr val="E2E6EA"/>
            </a:solidFill>
            <a:prstDash val="solid"/>
          </a:ln>
        </p:spPr>
      </p:sp>
      <p:sp>
        <p:nvSpPr>
          <p:cNvPr id="25" name="Shape 23"/>
          <p:cNvSpPr/>
          <p:nvPr/>
        </p:nvSpPr>
        <p:spPr>
          <a:xfrm>
            <a:off x="502920" y="4133088"/>
            <a:ext cx="384048" cy="384048"/>
          </a:xfrm>
          <a:prstGeom prst="ellipse">
            <a:avLst/>
          </a:prstGeom>
          <a:solidFill>
            <a:srgbClr val="1E2761"/>
          </a:solidFill>
          <a:ln w="12700">
            <a:solidFill>
              <a:srgbClr val="1E2761"/>
            </a:solidFill>
            <a:prstDash val="solid"/>
          </a:ln>
        </p:spPr>
      </p:sp>
      <p:sp>
        <p:nvSpPr>
          <p:cNvPr id="26" name="Text 24"/>
          <p:cNvSpPr/>
          <p:nvPr/>
        </p:nvSpPr>
        <p:spPr>
          <a:xfrm>
            <a:off x="502920" y="4133088"/>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7" name="Text 25"/>
          <p:cNvSpPr/>
          <p:nvPr/>
        </p:nvSpPr>
        <p:spPr>
          <a:xfrm>
            <a:off x="1005840" y="4096512"/>
            <a:ext cx="237744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Slide-by-slide thinking</a:t>
            </a:r>
            <a:endParaRPr lang="en-US" sz="1300" dirty="0"/>
          </a:p>
        </p:txBody>
      </p:sp>
      <p:sp>
        <p:nvSpPr>
          <p:cNvPr id="28" name="Text 26"/>
          <p:cNvSpPr/>
          <p:nvPr/>
        </p:nvSpPr>
        <p:spPr>
          <a:xfrm>
            <a:off x="3520440" y="4096512"/>
            <a:ext cx="5212080" cy="45720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A collection of slides, not a story.</a:t>
            </a:r>
            <a:endParaRPr lang="en-US" sz="1200" dirty="0"/>
          </a:p>
        </p:txBody>
      </p:sp>
      <p:sp>
        <p:nvSpPr>
          <p:cNvPr id="29" name="Text 27"/>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AI can help at certain stages. Not all of them.</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sp>
        <p:nvSpPr>
          <p:cNvPr id="5" name="Shape 3"/>
          <p:cNvSpPr/>
          <p:nvPr/>
        </p:nvSpPr>
        <p:spPr>
          <a:xfrm>
            <a:off x="502920" y="896112"/>
            <a:ext cx="8138160" cy="347472"/>
          </a:xfrm>
          <a:prstGeom prst="rect">
            <a:avLst/>
          </a:prstGeom>
          <a:solidFill>
            <a:srgbClr val="1E2761"/>
          </a:solidFill>
          <a:ln w="12700">
            <a:solidFill>
              <a:srgbClr val="1E2761"/>
            </a:solidFill>
            <a:prstDash val="solid"/>
          </a:ln>
        </p:spPr>
      </p:sp>
      <p:sp>
        <p:nvSpPr>
          <p:cNvPr id="6" name="Text 4"/>
          <p:cNvSpPr/>
          <p:nvPr/>
        </p:nvSpPr>
        <p:spPr>
          <a:xfrm>
            <a:off x="594360" y="896112"/>
            <a:ext cx="100584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Stage</a:t>
            </a:r>
            <a:endParaRPr lang="en-US" sz="1000" dirty="0"/>
          </a:p>
        </p:txBody>
      </p:sp>
      <p:sp>
        <p:nvSpPr>
          <p:cNvPr id="7" name="Text 5"/>
          <p:cNvSpPr/>
          <p:nvPr/>
        </p:nvSpPr>
        <p:spPr>
          <a:xfrm>
            <a:off x="1737360" y="896112"/>
            <a:ext cx="320040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AI can help with</a:t>
            </a:r>
            <a:endParaRPr lang="en-US" sz="1000" dirty="0"/>
          </a:p>
        </p:txBody>
      </p:sp>
      <p:sp>
        <p:nvSpPr>
          <p:cNvPr id="8" name="Text 6"/>
          <p:cNvSpPr/>
          <p:nvPr/>
        </p:nvSpPr>
        <p:spPr>
          <a:xfrm>
            <a:off x="5074920" y="896112"/>
            <a:ext cx="352044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AI cannot do</a:t>
            </a:r>
            <a:endParaRPr lang="en-US" sz="1000" dirty="0"/>
          </a:p>
        </p:txBody>
      </p:sp>
      <p:sp>
        <p:nvSpPr>
          <p:cNvPr id="9" name="Shape 7"/>
          <p:cNvSpPr/>
          <p:nvPr/>
        </p:nvSpPr>
        <p:spPr>
          <a:xfrm>
            <a:off x="502920" y="1261872"/>
            <a:ext cx="8138160" cy="749808"/>
          </a:xfrm>
          <a:prstGeom prst="rect">
            <a:avLst/>
          </a:prstGeom>
          <a:solidFill>
            <a:srgbClr val="FFFFFF"/>
          </a:solidFill>
          <a:ln w="12700">
            <a:solidFill>
              <a:srgbClr val="E2E6EA"/>
            </a:solidFill>
            <a:prstDash val="solid"/>
          </a:ln>
        </p:spPr>
      </p:sp>
      <p:sp>
        <p:nvSpPr>
          <p:cNvPr id="10" name="Shape 8"/>
          <p:cNvSpPr/>
          <p:nvPr/>
        </p:nvSpPr>
        <p:spPr>
          <a:xfrm>
            <a:off x="502920" y="1261872"/>
            <a:ext cx="1143000" cy="749808"/>
          </a:xfrm>
          <a:prstGeom prst="rect">
            <a:avLst/>
          </a:prstGeom>
          <a:solidFill>
            <a:srgbClr val="028090"/>
          </a:solidFill>
          <a:ln w="12700">
            <a:solidFill>
              <a:srgbClr val="028090"/>
            </a:solidFill>
            <a:prstDash val="solid"/>
          </a:ln>
        </p:spPr>
      </p:sp>
      <p:sp>
        <p:nvSpPr>
          <p:cNvPr id="11" name="Text 9"/>
          <p:cNvSpPr/>
          <p:nvPr/>
        </p:nvSpPr>
        <p:spPr>
          <a:xfrm>
            <a:off x="502920" y="1261872"/>
            <a:ext cx="1143000" cy="7498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Ideation</a:t>
            </a:r>
            <a:endParaRPr lang="en-US" sz="1100" dirty="0"/>
          </a:p>
        </p:txBody>
      </p:sp>
      <p:sp>
        <p:nvSpPr>
          <p:cNvPr id="12" name="Text 10"/>
          <p:cNvSpPr/>
          <p:nvPr/>
        </p:nvSpPr>
        <p:spPr>
          <a:xfrm>
            <a:off x="1737360" y="1335024"/>
            <a:ext cx="3200400" cy="603504"/>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Suggest structures, outline flows, generate first drafts</a:t>
            </a:r>
            <a:endParaRPr lang="en-US" sz="1050" dirty="0"/>
          </a:p>
        </p:txBody>
      </p:sp>
      <p:sp>
        <p:nvSpPr>
          <p:cNvPr id="13" name="Text 11"/>
          <p:cNvSpPr/>
          <p:nvPr/>
        </p:nvSpPr>
        <p:spPr>
          <a:xfrm>
            <a:off x="5074920" y="1335024"/>
            <a:ext cx="3520440" cy="603504"/>
          </a:xfrm>
          <a:prstGeom prst="rect">
            <a:avLst/>
          </a:prstGeom>
          <a:noFill/>
          <a:ln/>
        </p:spPr>
        <p:txBody>
          <a:bodyPr wrap="square" lIns="0" tIns="0" rIns="0" bIns="0" rtlCol="0" anchor="t"/>
          <a:lstStyle/>
          <a:p>
            <a:pPr indent="0" marL="0">
              <a:buNone/>
            </a:pPr>
            <a:r>
              <a:rPr lang="en-US" sz="1050" i="1" dirty="0">
                <a:solidFill>
                  <a:srgbClr val="4A5568"/>
                </a:solidFill>
                <a:latin typeface="Calibri" pitchFamily="34" charset="0"/>
                <a:ea typeface="Calibri" pitchFamily="34" charset="-122"/>
                <a:cs typeface="Calibri" pitchFamily="34" charset="-120"/>
              </a:rPr>
              <a:t>Know your audience, your organisation, your politics</a:t>
            </a:r>
            <a:endParaRPr lang="en-US" sz="1050" dirty="0"/>
          </a:p>
        </p:txBody>
      </p:sp>
      <p:sp>
        <p:nvSpPr>
          <p:cNvPr id="14" name="Shape 12"/>
          <p:cNvSpPr/>
          <p:nvPr/>
        </p:nvSpPr>
        <p:spPr>
          <a:xfrm>
            <a:off x="502920" y="2066544"/>
            <a:ext cx="8138160" cy="749808"/>
          </a:xfrm>
          <a:prstGeom prst="rect">
            <a:avLst/>
          </a:prstGeom>
          <a:solidFill>
            <a:srgbClr val="F8FAFB"/>
          </a:solidFill>
          <a:ln w="12700">
            <a:solidFill>
              <a:srgbClr val="E2E6EA"/>
            </a:solidFill>
            <a:prstDash val="solid"/>
          </a:ln>
        </p:spPr>
      </p:sp>
      <p:sp>
        <p:nvSpPr>
          <p:cNvPr id="15" name="Shape 13"/>
          <p:cNvSpPr/>
          <p:nvPr/>
        </p:nvSpPr>
        <p:spPr>
          <a:xfrm>
            <a:off x="502920" y="2066544"/>
            <a:ext cx="1143000" cy="749808"/>
          </a:xfrm>
          <a:prstGeom prst="rect">
            <a:avLst/>
          </a:prstGeom>
          <a:solidFill>
            <a:srgbClr val="028090"/>
          </a:solidFill>
          <a:ln w="12700">
            <a:solidFill>
              <a:srgbClr val="028090"/>
            </a:solidFill>
            <a:prstDash val="solid"/>
          </a:ln>
        </p:spPr>
      </p:sp>
      <p:sp>
        <p:nvSpPr>
          <p:cNvPr id="16" name="Text 14"/>
          <p:cNvSpPr/>
          <p:nvPr/>
        </p:nvSpPr>
        <p:spPr>
          <a:xfrm>
            <a:off x="502920" y="2066544"/>
            <a:ext cx="1143000" cy="7498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Writing</a:t>
            </a:r>
            <a:endParaRPr lang="en-US" sz="1100" dirty="0"/>
          </a:p>
        </p:txBody>
      </p:sp>
      <p:sp>
        <p:nvSpPr>
          <p:cNvPr id="17" name="Text 15"/>
          <p:cNvSpPr/>
          <p:nvPr/>
        </p:nvSpPr>
        <p:spPr>
          <a:xfrm>
            <a:off x="1737360" y="2139696"/>
            <a:ext cx="3200400" cy="603504"/>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Rewrite dense text for clarity, trim bullets, suggest headlines</a:t>
            </a:r>
            <a:endParaRPr lang="en-US" sz="1050" dirty="0"/>
          </a:p>
        </p:txBody>
      </p:sp>
      <p:sp>
        <p:nvSpPr>
          <p:cNvPr id="18" name="Text 16"/>
          <p:cNvSpPr/>
          <p:nvPr/>
        </p:nvSpPr>
        <p:spPr>
          <a:xfrm>
            <a:off x="5074920" y="2139696"/>
            <a:ext cx="3520440" cy="603504"/>
          </a:xfrm>
          <a:prstGeom prst="rect">
            <a:avLst/>
          </a:prstGeom>
          <a:noFill/>
          <a:ln/>
        </p:spPr>
        <p:txBody>
          <a:bodyPr wrap="square" lIns="0" tIns="0" rIns="0" bIns="0" rtlCol="0" anchor="t"/>
          <a:lstStyle/>
          <a:p>
            <a:pPr indent="0" marL="0">
              <a:buNone/>
            </a:pPr>
            <a:r>
              <a:rPr lang="en-US" sz="1050" i="1" dirty="0">
                <a:solidFill>
                  <a:srgbClr val="4A5568"/>
                </a:solidFill>
                <a:latin typeface="Calibri" pitchFamily="34" charset="0"/>
                <a:ea typeface="Calibri" pitchFamily="34" charset="-122"/>
                <a:cs typeface="Calibri" pitchFamily="34" charset="-120"/>
              </a:rPr>
              <a:t>Judge whether a message is strategically right</a:t>
            </a:r>
            <a:endParaRPr lang="en-US" sz="1050" dirty="0"/>
          </a:p>
        </p:txBody>
      </p:sp>
      <p:sp>
        <p:nvSpPr>
          <p:cNvPr id="19" name="Shape 17"/>
          <p:cNvSpPr/>
          <p:nvPr/>
        </p:nvSpPr>
        <p:spPr>
          <a:xfrm>
            <a:off x="502920" y="2871216"/>
            <a:ext cx="8138160" cy="749808"/>
          </a:xfrm>
          <a:prstGeom prst="rect">
            <a:avLst/>
          </a:prstGeom>
          <a:solidFill>
            <a:srgbClr val="FFFFFF"/>
          </a:solidFill>
          <a:ln w="12700">
            <a:solidFill>
              <a:srgbClr val="E2E6EA"/>
            </a:solidFill>
            <a:prstDash val="solid"/>
          </a:ln>
        </p:spPr>
      </p:sp>
      <p:sp>
        <p:nvSpPr>
          <p:cNvPr id="20" name="Shape 18"/>
          <p:cNvSpPr/>
          <p:nvPr/>
        </p:nvSpPr>
        <p:spPr>
          <a:xfrm>
            <a:off x="502920" y="2871216"/>
            <a:ext cx="1143000" cy="749808"/>
          </a:xfrm>
          <a:prstGeom prst="rect">
            <a:avLst/>
          </a:prstGeom>
          <a:solidFill>
            <a:srgbClr val="028090"/>
          </a:solidFill>
          <a:ln w="12700">
            <a:solidFill>
              <a:srgbClr val="028090"/>
            </a:solidFill>
            <a:prstDash val="solid"/>
          </a:ln>
        </p:spPr>
      </p:sp>
      <p:sp>
        <p:nvSpPr>
          <p:cNvPr id="21" name="Text 19"/>
          <p:cNvSpPr/>
          <p:nvPr/>
        </p:nvSpPr>
        <p:spPr>
          <a:xfrm>
            <a:off x="502920" y="2871216"/>
            <a:ext cx="1143000" cy="7498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Design</a:t>
            </a:r>
            <a:endParaRPr lang="en-US" sz="1100" dirty="0"/>
          </a:p>
        </p:txBody>
      </p:sp>
      <p:sp>
        <p:nvSpPr>
          <p:cNvPr id="22" name="Text 20"/>
          <p:cNvSpPr/>
          <p:nvPr/>
        </p:nvSpPr>
        <p:spPr>
          <a:xfrm>
            <a:off x="1737360" y="2944368"/>
            <a:ext cx="3200400" cy="603504"/>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Suggest layouts, match colours, resize elements</a:t>
            </a:r>
            <a:endParaRPr lang="en-US" sz="1050" dirty="0"/>
          </a:p>
        </p:txBody>
      </p:sp>
      <p:sp>
        <p:nvSpPr>
          <p:cNvPr id="23" name="Text 21"/>
          <p:cNvSpPr/>
          <p:nvPr/>
        </p:nvSpPr>
        <p:spPr>
          <a:xfrm>
            <a:off x="5074920" y="2944368"/>
            <a:ext cx="3520440" cy="603504"/>
          </a:xfrm>
          <a:prstGeom prst="rect">
            <a:avLst/>
          </a:prstGeom>
          <a:noFill/>
          <a:ln/>
        </p:spPr>
        <p:txBody>
          <a:bodyPr wrap="square" lIns="0" tIns="0" rIns="0" bIns="0" rtlCol="0" anchor="t"/>
          <a:lstStyle/>
          <a:p>
            <a:pPr indent="0" marL="0">
              <a:buNone/>
            </a:pPr>
            <a:r>
              <a:rPr lang="en-US" sz="1050" i="1" dirty="0">
                <a:solidFill>
                  <a:srgbClr val="4A5568"/>
                </a:solidFill>
                <a:latin typeface="Calibri" pitchFamily="34" charset="0"/>
                <a:ea typeface="Calibri" pitchFamily="34" charset="-122"/>
                <a:cs typeface="Calibri" pitchFamily="34" charset="-120"/>
              </a:rPr>
              <a:t>Make taste decisions it picks common, not distinctive</a:t>
            </a:r>
            <a:endParaRPr lang="en-US" sz="1050" dirty="0"/>
          </a:p>
        </p:txBody>
      </p:sp>
      <p:sp>
        <p:nvSpPr>
          <p:cNvPr id="24" name="Shape 22"/>
          <p:cNvSpPr/>
          <p:nvPr/>
        </p:nvSpPr>
        <p:spPr>
          <a:xfrm>
            <a:off x="502920" y="3675888"/>
            <a:ext cx="8138160" cy="749808"/>
          </a:xfrm>
          <a:prstGeom prst="rect">
            <a:avLst/>
          </a:prstGeom>
          <a:solidFill>
            <a:srgbClr val="F8FAFB"/>
          </a:solidFill>
          <a:ln w="12700">
            <a:solidFill>
              <a:srgbClr val="E2E6EA"/>
            </a:solidFill>
            <a:prstDash val="solid"/>
          </a:ln>
        </p:spPr>
      </p:sp>
      <p:sp>
        <p:nvSpPr>
          <p:cNvPr id="25" name="Shape 23"/>
          <p:cNvSpPr/>
          <p:nvPr/>
        </p:nvSpPr>
        <p:spPr>
          <a:xfrm>
            <a:off x="502920" y="3675888"/>
            <a:ext cx="1143000" cy="749808"/>
          </a:xfrm>
          <a:prstGeom prst="rect">
            <a:avLst/>
          </a:prstGeom>
          <a:solidFill>
            <a:srgbClr val="028090"/>
          </a:solidFill>
          <a:ln w="12700">
            <a:solidFill>
              <a:srgbClr val="028090"/>
            </a:solidFill>
            <a:prstDash val="solid"/>
          </a:ln>
        </p:spPr>
      </p:sp>
      <p:sp>
        <p:nvSpPr>
          <p:cNvPr id="26" name="Text 24"/>
          <p:cNvSpPr/>
          <p:nvPr/>
        </p:nvSpPr>
        <p:spPr>
          <a:xfrm>
            <a:off x="502920" y="3675888"/>
            <a:ext cx="1143000" cy="7498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Review</a:t>
            </a:r>
            <a:endParaRPr lang="en-US" sz="1100" dirty="0"/>
          </a:p>
        </p:txBody>
      </p:sp>
      <p:sp>
        <p:nvSpPr>
          <p:cNvPr id="27" name="Text 25"/>
          <p:cNvSpPr/>
          <p:nvPr/>
        </p:nvSpPr>
        <p:spPr>
          <a:xfrm>
            <a:off x="1737360" y="3749040"/>
            <a:ext cx="3200400" cy="603504"/>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Flag overloaded slides, identify vague headlines</a:t>
            </a:r>
            <a:endParaRPr lang="en-US" sz="1050" dirty="0"/>
          </a:p>
        </p:txBody>
      </p:sp>
      <p:sp>
        <p:nvSpPr>
          <p:cNvPr id="28" name="Text 26"/>
          <p:cNvSpPr/>
          <p:nvPr/>
        </p:nvSpPr>
        <p:spPr>
          <a:xfrm>
            <a:off x="5074920" y="3749040"/>
            <a:ext cx="3520440" cy="603504"/>
          </a:xfrm>
          <a:prstGeom prst="rect">
            <a:avLst/>
          </a:prstGeom>
          <a:noFill/>
          <a:ln/>
        </p:spPr>
        <p:txBody>
          <a:bodyPr wrap="square" lIns="0" tIns="0" rIns="0" bIns="0" rtlCol="0" anchor="t"/>
          <a:lstStyle/>
          <a:p>
            <a:pPr indent="0" marL="0">
              <a:buNone/>
            </a:pPr>
            <a:r>
              <a:rPr lang="en-US" sz="1050" i="1" dirty="0">
                <a:solidFill>
                  <a:srgbClr val="4A5568"/>
                </a:solidFill>
                <a:latin typeface="Calibri" pitchFamily="34" charset="0"/>
                <a:ea typeface="Calibri" pitchFamily="34" charset="-122"/>
                <a:cs typeface="Calibri" pitchFamily="34" charset="-120"/>
              </a:rPr>
              <a:t>Understand tone, nuance, or what your audience will respond to</a:t>
            </a:r>
            <a:endParaRPr lang="en-US" sz="1050" dirty="0"/>
          </a:p>
        </p:txBody>
      </p:sp>
      <p:sp>
        <p:nvSpPr>
          <p:cNvPr id="29" name="Text 27"/>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8090"/>
        </a:solidFill>
      </p:bgPr>
    </p:bg>
    <p:spTree>
      <p:nvGrpSpPr>
        <p:cNvPr id="1" name=""/>
        <p:cNvGrpSpPr/>
        <p:nvPr/>
      </p:nvGrpSpPr>
      <p:grpSpPr>
        <a:xfrm>
          <a:off x="0" y="0"/>
          <a:ext cx="0" cy="0"/>
          <a:chOff x="0" y="0"/>
          <a:chExt cx="0" cy="0"/>
        </a:xfrm>
      </p:grpSpPr>
      <p:sp>
        <p:nvSpPr>
          <p:cNvPr id="2" name="Text 0"/>
          <p:cNvSpPr/>
          <p:nvPr/>
        </p:nvSpPr>
        <p:spPr>
          <a:xfrm>
            <a:off x="731520" y="1188720"/>
            <a:ext cx="7680960" cy="2011680"/>
          </a:xfrm>
          <a:prstGeom prst="rect">
            <a:avLst/>
          </a:prstGeom>
          <a:noFill/>
          <a:ln/>
        </p:spPr>
        <p:txBody>
          <a:bodyPr wrap="square" lIns="0" tIns="0" rIns="0" bIns="0" rtlCol="0" anchor="ctr"/>
          <a:lstStyle/>
          <a:p>
            <a:pPr algn="ctr" indent="0" marL="0">
              <a:lnSpc>
                <a:spcPct val="125000"/>
              </a:lnSpc>
              <a:buNone/>
            </a:pPr>
            <a:r>
              <a:rPr lang="en-US" sz="3400" b="1" dirty="0">
                <a:solidFill>
                  <a:srgbClr val="FFFFFF"/>
                </a:solidFill>
                <a:latin typeface="Calibri" pitchFamily="34" charset="0"/>
                <a:ea typeface="Calibri" pitchFamily="34" charset="-122"/>
                <a:cs typeface="Calibri" pitchFamily="34" charset="-120"/>
              </a:rPr>
              <a:t>AI accelerates the mechanical work.</a:t>
            </a:r>
            <a:endParaRPr lang="en-US" sz="3400" dirty="0"/>
          </a:p>
          <a:p>
            <a:pPr algn="ctr" indent="0" marL="0">
              <a:lnSpc>
                <a:spcPct val="125000"/>
              </a:lnSpc>
              <a:buNone/>
            </a:pPr>
            <a:r>
              <a:rPr lang="en-US" sz="3400" b="1" dirty="0">
                <a:solidFill>
                  <a:srgbClr val="FFFFFF"/>
                </a:solidFill>
                <a:latin typeface="Calibri" pitchFamily="34" charset="0"/>
                <a:ea typeface="Calibri" pitchFamily="34" charset="-122"/>
                <a:cs typeface="Calibri" pitchFamily="34" charset="-120"/>
              </a:rPr>
              <a:t>The thinking stays with you.</a:t>
            </a:r>
            <a:endParaRPr lang="en-US" sz="3400" dirty="0"/>
          </a:p>
        </p:txBody>
      </p:sp>
      <p:sp>
        <p:nvSpPr>
          <p:cNvPr id="3" name="Text 1"/>
          <p:cNvSpPr/>
          <p:nvPr/>
        </p:nvSpPr>
        <p:spPr>
          <a:xfrm>
            <a:off x="1371600" y="3383280"/>
            <a:ext cx="6400800" cy="457200"/>
          </a:xfrm>
          <a:prstGeom prst="rect">
            <a:avLst/>
          </a:prstGeom>
          <a:noFill/>
          <a:ln/>
        </p:spPr>
        <p:txBody>
          <a:bodyPr wrap="square" lIns="0" tIns="0" rIns="0" bIns="0" rtlCol="0" anchor="ctr"/>
          <a:lstStyle/>
          <a:p>
            <a:pPr algn="ctr" indent="0" marL="0">
              <a:buNone/>
            </a:pPr>
            <a:r>
              <a:rPr lang="en-US" sz="1300" i="1" dirty="0">
                <a:solidFill>
                  <a:srgbClr val="D0EEF2"/>
                </a:solidFill>
                <a:latin typeface="Calibri" pitchFamily="34" charset="0"/>
                <a:ea typeface="Calibri" pitchFamily="34" charset="-122"/>
                <a:cs typeface="Calibri" pitchFamily="34" charset="-120"/>
              </a:rPr>
              <a:t>This is the one thing to take from Module 01.</a:t>
            </a:r>
            <a:endParaRPr lang="en-US" sz="1300" dirty="0"/>
          </a:p>
        </p:txBody>
      </p:sp>
      <p:sp>
        <p:nvSpPr>
          <p:cNvPr id="4" name="Text 2"/>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Three limitations to know before we start</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sp>
        <p:nvSpPr>
          <p:cNvPr id="5" name="Shape 3"/>
          <p:cNvSpPr/>
          <p:nvPr/>
        </p:nvSpPr>
        <p:spPr>
          <a:xfrm>
            <a:off x="502920" y="960120"/>
            <a:ext cx="8138160" cy="1188720"/>
          </a:xfrm>
          <a:prstGeom prst="rect">
            <a:avLst/>
          </a:prstGeom>
          <a:solidFill>
            <a:srgbClr val="F8FAFB"/>
          </a:solidFill>
          <a:ln w="12700">
            <a:solidFill>
              <a:srgbClr val="E2E6EA"/>
            </a:solidFill>
            <a:prstDash val="solid"/>
          </a:ln>
        </p:spPr>
      </p:sp>
      <p:sp>
        <p:nvSpPr>
          <p:cNvPr id="6" name="Shape 4"/>
          <p:cNvSpPr/>
          <p:nvPr/>
        </p:nvSpPr>
        <p:spPr>
          <a:xfrm>
            <a:off x="502920" y="960120"/>
            <a:ext cx="457200" cy="1188720"/>
          </a:xfrm>
          <a:prstGeom prst="rect">
            <a:avLst/>
          </a:prstGeom>
          <a:solidFill>
            <a:srgbClr val="1E2761"/>
          </a:solidFill>
          <a:ln w="12700">
            <a:solidFill>
              <a:srgbClr val="1E2761"/>
            </a:solidFill>
            <a:prstDash val="solid"/>
          </a:ln>
        </p:spPr>
      </p:sp>
      <p:sp>
        <p:nvSpPr>
          <p:cNvPr id="7" name="Text 5"/>
          <p:cNvSpPr/>
          <p:nvPr/>
        </p:nvSpPr>
        <p:spPr>
          <a:xfrm>
            <a:off x="502920" y="960120"/>
            <a:ext cx="457200" cy="11887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051560" y="1069848"/>
            <a:ext cx="7498080" cy="34747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AI design suggestions tend toward the generic</a:t>
            </a:r>
            <a:endParaRPr lang="en-US" sz="1300" dirty="0"/>
          </a:p>
        </p:txBody>
      </p:sp>
      <p:sp>
        <p:nvSpPr>
          <p:cNvPr id="9" name="Text 7"/>
          <p:cNvSpPr/>
          <p:nvPr/>
        </p:nvSpPr>
        <p:spPr>
          <a:xfrm>
            <a:off x="1051560" y="1435608"/>
            <a:ext cx="7498080" cy="59436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Designer and Canva AI produce clean, acceptable results. They will rarely produce something distinctive. Use them as a starting point.</a:t>
            </a:r>
            <a:endParaRPr lang="en-US" sz="1150" dirty="0"/>
          </a:p>
        </p:txBody>
      </p:sp>
      <p:sp>
        <p:nvSpPr>
          <p:cNvPr id="10" name="Shape 8"/>
          <p:cNvSpPr/>
          <p:nvPr/>
        </p:nvSpPr>
        <p:spPr>
          <a:xfrm>
            <a:off x="502920" y="2286000"/>
            <a:ext cx="8138160" cy="1188720"/>
          </a:xfrm>
          <a:prstGeom prst="rect">
            <a:avLst/>
          </a:prstGeom>
          <a:solidFill>
            <a:srgbClr val="FFFFFF"/>
          </a:solidFill>
          <a:ln w="12700">
            <a:solidFill>
              <a:srgbClr val="E2E6EA"/>
            </a:solidFill>
            <a:prstDash val="solid"/>
          </a:ln>
        </p:spPr>
      </p:sp>
      <p:sp>
        <p:nvSpPr>
          <p:cNvPr id="11" name="Shape 9"/>
          <p:cNvSpPr/>
          <p:nvPr/>
        </p:nvSpPr>
        <p:spPr>
          <a:xfrm>
            <a:off x="502920" y="2286000"/>
            <a:ext cx="457200" cy="1188720"/>
          </a:xfrm>
          <a:prstGeom prst="rect">
            <a:avLst/>
          </a:prstGeom>
          <a:solidFill>
            <a:srgbClr val="1E2761"/>
          </a:solidFill>
          <a:ln w="12700">
            <a:solidFill>
              <a:srgbClr val="1E2761"/>
            </a:solidFill>
            <a:prstDash val="solid"/>
          </a:ln>
        </p:spPr>
      </p:sp>
      <p:sp>
        <p:nvSpPr>
          <p:cNvPr id="12" name="Text 10"/>
          <p:cNvSpPr/>
          <p:nvPr/>
        </p:nvSpPr>
        <p:spPr>
          <a:xfrm>
            <a:off x="502920" y="2286000"/>
            <a:ext cx="457200" cy="11887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051560" y="2395728"/>
            <a:ext cx="7498080" cy="34747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AI-generated text sounds like AI</a:t>
            </a:r>
            <a:endParaRPr lang="en-US" sz="1300" dirty="0"/>
          </a:p>
        </p:txBody>
      </p:sp>
      <p:sp>
        <p:nvSpPr>
          <p:cNvPr id="14" name="Text 12"/>
          <p:cNvSpPr/>
          <p:nvPr/>
        </p:nvSpPr>
        <p:spPr>
          <a:xfrm>
            <a:off x="1051560" y="2761488"/>
            <a:ext cx="7498080" cy="59436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Polished, inoffensive, and forgettable. Use AI to improve your writing use it to improve, not replace.</a:t>
            </a:r>
            <a:endParaRPr lang="en-US" sz="1150" dirty="0"/>
          </a:p>
        </p:txBody>
      </p:sp>
      <p:sp>
        <p:nvSpPr>
          <p:cNvPr id="15" name="Shape 13"/>
          <p:cNvSpPr/>
          <p:nvPr/>
        </p:nvSpPr>
        <p:spPr>
          <a:xfrm>
            <a:off x="502920" y="3611880"/>
            <a:ext cx="8138160" cy="1188720"/>
          </a:xfrm>
          <a:prstGeom prst="rect">
            <a:avLst/>
          </a:prstGeom>
          <a:solidFill>
            <a:srgbClr val="F8FAFB"/>
          </a:solidFill>
          <a:ln w="12700">
            <a:solidFill>
              <a:srgbClr val="E2E6EA"/>
            </a:solidFill>
            <a:prstDash val="solid"/>
          </a:ln>
        </p:spPr>
      </p:sp>
      <p:sp>
        <p:nvSpPr>
          <p:cNvPr id="16" name="Shape 14"/>
          <p:cNvSpPr/>
          <p:nvPr/>
        </p:nvSpPr>
        <p:spPr>
          <a:xfrm>
            <a:off x="502920" y="3611880"/>
            <a:ext cx="457200" cy="1188720"/>
          </a:xfrm>
          <a:prstGeom prst="rect">
            <a:avLst/>
          </a:prstGeom>
          <a:solidFill>
            <a:srgbClr val="1E2761"/>
          </a:solidFill>
          <a:ln w="12700">
            <a:solidFill>
              <a:srgbClr val="1E2761"/>
            </a:solidFill>
            <a:prstDash val="solid"/>
          </a:ln>
        </p:spPr>
      </p:sp>
      <p:sp>
        <p:nvSpPr>
          <p:cNvPr id="17" name="Text 15"/>
          <p:cNvSpPr/>
          <p:nvPr/>
        </p:nvSpPr>
        <p:spPr>
          <a:xfrm>
            <a:off x="502920" y="3611880"/>
            <a:ext cx="457200" cy="11887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051560" y="3721608"/>
            <a:ext cx="7498080" cy="34747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AI does not know your context</a:t>
            </a:r>
            <a:endParaRPr lang="en-US" sz="1300" dirty="0"/>
          </a:p>
        </p:txBody>
      </p:sp>
      <p:sp>
        <p:nvSpPr>
          <p:cNvPr id="19" name="Text 17"/>
          <p:cNvSpPr/>
          <p:nvPr/>
        </p:nvSpPr>
        <p:spPr>
          <a:xfrm>
            <a:off x="1051560" y="4087368"/>
            <a:ext cx="7498080" cy="59436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It does not know your CFO hates pie charts, or that the last time this topic came up it caused a fight. You bring that knowledge.</a:t>
            </a:r>
            <a:endParaRPr lang="en-US" sz="1150" dirty="0"/>
          </a:p>
        </p:txBody>
      </p:sp>
      <p:sp>
        <p:nvSpPr>
          <p:cNvPr id="20" name="Text 18"/>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This workshop uses free features only</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sp>
        <p:nvSpPr>
          <p:cNvPr id="5" name="Shape 3"/>
          <p:cNvSpPr/>
          <p:nvPr/>
        </p:nvSpPr>
        <p:spPr>
          <a:xfrm>
            <a:off x="502920" y="886968"/>
            <a:ext cx="4114800" cy="384048"/>
          </a:xfrm>
          <a:prstGeom prst="rect">
            <a:avLst/>
          </a:prstGeom>
          <a:solidFill>
            <a:srgbClr val="1E2761"/>
          </a:solidFill>
          <a:ln w="12700">
            <a:solidFill>
              <a:srgbClr val="1E2761"/>
            </a:solidFill>
            <a:prstDash val="solid"/>
          </a:ln>
        </p:spPr>
      </p:sp>
      <p:sp>
        <p:nvSpPr>
          <p:cNvPr id="6" name="Text 4"/>
          <p:cNvSpPr/>
          <p:nvPr/>
        </p:nvSpPr>
        <p:spPr>
          <a:xfrm>
            <a:off x="502920" y="886968"/>
            <a:ext cx="4114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What we use</a:t>
            </a:r>
            <a:endParaRPr lang="en-US" sz="1200" dirty="0"/>
          </a:p>
        </p:txBody>
      </p:sp>
      <p:sp>
        <p:nvSpPr>
          <p:cNvPr id="7" name="Shape 5"/>
          <p:cNvSpPr/>
          <p:nvPr/>
        </p:nvSpPr>
        <p:spPr>
          <a:xfrm>
            <a:off x="502920" y="1371600"/>
            <a:ext cx="4114800" cy="530352"/>
          </a:xfrm>
          <a:prstGeom prst="rect">
            <a:avLst/>
          </a:prstGeom>
          <a:solidFill>
            <a:srgbClr val="F8FAFB"/>
          </a:solidFill>
          <a:ln w="12700">
            <a:solidFill>
              <a:srgbClr val="E2E6EA"/>
            </a:solidFill>
            <a:prstDash val="solid"/>
          </a:ln>
        </p:spPr>
      </p:sp>
      <p:sp>
        <p:nvSpPr>
          <p:cNvPr id="8" name="Text 6"/>
          <p:cNvSpPr/>
          <p:nvPr/>
        </p:nvSpPr>
        <p:spPr>
          <a:xfrm>
            <a:off x="667512" y="1371600"/>
            <a:ext cx="3840480" cy="530352"/>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PowerPoint Designer (built-in)</a:t>
            </a:r>
            <a:endParaRPr lang="en-US" sz="1200" dirty="0"/>
          </a:p>
        </p:txBody>
      </p:sp>
      <p:sp>
        <p:nvSpPr>
          <p:cNvPr id="9" name="Shape 7"/>
          <p:cNvSpPr/>
          <p:nvPr/>
        </p:nvSpPr>
        <p:spPr>
          <a:xfrm>
            <a:off x="502920" y="1993392"/>
            <a:ext cx="4114800" cy="530352"/>
          </a:xfrm>
          <a:prstGeom prst="rect">
            <a:avLst/>
          </a:prstGeom>
          <a:solidFill>
            <a:srgbClr val="FFFFFF"/>
          </a:solidFill>
          <a:ln w="12700">
            <a:solidFill>
              <a:srgbClr val="E2E6EA"/>
            </a:solidFill>
            <a:prstDash val="solid"/>
          </a:ln>
        </p:spPr>
      </p:sp>
      <p:sp>
        <p:nvSpPr>
          <p:cNvPr id="10" name="Text 8"/>
          <p:cNvSpPr/>
          <p:nvPr/>
        </p:nvSpPr>
        <p:spPr>
          <a:xfrm>
            <a:off x="667512" y="1993392"/>
            <a:ext cx="3840480" cy="530352"/>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Copilot Chat (free web version)</a:t>
            </a:r>
            <a:endParaRPr lang="en-US" sz="1200" dirty="0"/>
          </a:p>
        </p:txBody>
      </p:sp>
      <p:sp>
        <p:nvSpPr>
          <p:cNvPr id="11" name="Shape 9"/>
          <p:cNvSpPr/>
          <p:nvPr/>
        </p:nvSpPr>
        <p:spPr>
          <a:xfrm>
            <a:off x="502920" y="2615184"/>
            <a:ext cx="4114800" cy="530352"/>
          </a:xfrm>
          <a:prstGeom prst="rect">
            <a:avLst/>
          </a:prstGeom>
          <a:solidFill>
            <a:srgbClr val="F8FAFB"/>
          </a:solidFill>
          <a:ln w="12700">
            <a:solidFill>
              <a:srgbClr val="E2E6EA"/>
            </a:solidFill>
            <a:prstDash val="solid"/>
          </a:ln>
        </p:spPr>
      </p:sp>
      <p:sp>
        <p:nvSpPr>
          <p:cNvPr id="12" name="Text 10"/>
          <p:cNvSpPr/>
          <p:nvPr/>
        </p:nvSpPr>
        <p:spPr>
          <a:xfrm>
            <a:off x="667512" y="2615184"/>
            <a:ext cx="3840480" cy="530352"/>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ChatGPT free tier</a:t>
            </a:r>
            <a:endParaRPr lang="en-US" sz="1200" dirty="0"/>
          </a:p>
        </p:txBody>
      </p:sp>
      <p:sp>
        <p:nvSpPr>
          <p:cNvPr id="13" name="Shape 11"/>
          <p:cNvSpPr/>
          <p:nvPr/>
        </p:nvSpPr>
        <p:spPr>
          <a:xfrm>
            <a:off x="502920" y="3236976"/>
            <a:ext cx="4114800" cy="530352"/>
          </a:xfrm>
          <a:prstGeom prst="rect">
            <a:avLst/>
          </a:prstGeom>
          <a:solidFill>
            <a:srgbClr val="FFFFFF"/>
          </a:solidFill>
          <a:ln w="12700">
            <a:solidFill>
              <a:srgbClr val="E2E6EA"/>
            </a:solidFill>
            <a:prstDash val="solid"/>
          </a:ln>
        </p:spPr>
      </p:sp>
      <p:sp>
        <p:nvSpPr>
          <p:cNvPr id="14" name="Text 12"/>
          <p:cNvSpPr/>
          <p:nvPr/>
        </p:nvSpPr>
        <p:spPr>
          <a:xfrm>
            <a:off x="667512" y="3236976"/>
            <a:ext cx="3840480" cy="530352"/>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Canva free tier</a:t>
            </a:r>
            <a:endParaRPr lang="en-US" sz="1200" dirty="0"/>
          </a:p>
        </p:txBody>
      </p:sp>
      <p:sp>
        <p:nvSpPr>
          <p:cNvPr id="15" name="Shape 13"/>
          <p:cNvSpPr/>
          <p:nvPr/>
        </p:nvSpPr>
        <p:spPr>
          <a:xfrm>
            <a:off x="502920" y="3858768"/>
            <a:ext cx="4114800" cy="530352"/>
          </a:xfrm>
          <a:prstGeom prst="rect">
            <a:avLst/>
          </a:prstGeom>
          <a:solidFill>
            <a:srgbClr val="F8FAFB"/>
          </a:solidFill>
          <a:ln w="12700">
            <a:solidFill>
              <a:srgbClr val="E2E6EA"/>
            </a:solidFill>
            <a:prstDash val="solid"/>
          </a:ln>
        </p:spPr>
      </p:sp>
      <p:sp>
        <p:nvSpPr>
          <p:cNvPr id="16" name="Text 14"/>
          <p:cNvSpPr/>
          <p:nvPr/>
        </p:nvSpPr>
        <p:spPr>
          <a:xfrm>
            <a:off x="667512" y="3858768"/>
            <a:ext cx="3840480" cy="530352"/>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AI chat tools for prompting</a:t>
            </a:r>
            <a:endParaRPr lang="en-US" sz="1200" dirty="0"/>
          </a:p>
        </p:txBody>
      </p:sp>
      <p:sp>
        <p:nvSpPr>
          <p:cNvPr id="17" name="Shape 15"/>
          <p:cNvSpPr/>
          <p:nvPr/>
        </p:nvSpPr>
        <p:spPr>
          <a:xfrm>
            <a:off x="4846320" y="886968"/>
            <a:ext cx="4114800" cy="384048"/>
          </a:xfrm>
          <a:prstGeom prst="rect">
            <a:avLst/>
          </a:prstGeom>
          <a:solidFill>
            <a:srgbClr val="4A5568"/>
          </a:solidFill>
          <a:ln w="12700">
            <a:solidFill>
              <a:srgbClr val="4A5568"/>
            </a:solidFill>
            <a:prstDash val="solid"/>
          </a:ln>
        </p:spPr>
      </p:sp>
      <p:sp>
        <p:nvSpPr>
          <p:cNvPr id="18" name="Text 16"/>
          <p:cNvSpPr/>
          <p:nvPr/>
        </p:nvSpPr>
        <p:spPr>
          <a:xfrm>
            <a:off x="4846320" y="886968"/>
            <a:ext cx="4114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What we do not need</a:t>
            </a:r>
            <a:endParaRPr lang="en-US" sz="1200" dirty="0"/>
          </a:p>
        </p:txBody>
      </p:sp>
      <p:sp>
        <p:nvSpPr>
          <p:cNvPr id="19" name="Shape 17"/>
          <p:cNvSpPr/>
          <p:nvPr/>
        </p:nvSpPr>
        <p:spPr>
          <a:xfrm>
            <a:off x="4846320" y="1371600"/>
            <a:ext cx="4114800" cy="530352"/>
          </a:xfrm>
          <a:prstGeom prst="rect">
            <a:avLst/>
          </a:prstGeom>
          <a:solidFill>
            <a:srgbClr val="F8FAFB"/>
          </a:solidFill>
          <a:ln w="12700">
            <a:solidFill>
              <a:srgbClr val="E2E6EA"/>
            </a:solidFill>
            <a:prstDash val="solid"/>
          </a:ln>
        </p:spPr>
      </p:sp>
      <p:sp>
        <p:nvSpPr>
          <p:cNvPr id="20" name="Text 18"/>
          <p:cNvSpPr/>
          <p:nvPr/>
        </p:nvSpPr>
        <p:spPr>
          <a:xfrm>
            <a:off x="5010912" y="1371600"/>
            <a:ext cx="3840480" cy="530352"/>
          </a:xfrm>
          <a:prstGeom prst="rect">
            <a:avLst/>
          </a:prstGeom>
          <a:noFill/>
          <a:ln/>
        </p:spPr>
        <p:txBody>
          <a:bodyPr wrap="square" lIns="0" tIns="0" rIns="0" bIns="0" rtlCol="0" anchor="ctr"/>
          <a:lstStyle/>
          <a:p>
            <a:pPr indent="0" marL="0">
              <a:buNone/>
            </a:pPr>
            <a:r>
              <a:rPr lang="en-US" sz="1200" dirty="0">
                <a:solidFill>
                  <a:srgbClr val="AAAAAA"/>
                </a:solidFill>
                <a:latin typeface="Calibri" pitchFamily="34" charset="0"/>
                <a:ea typeface="Calibri" pitchFamily="34" charset="-122"/>
                <a:cs typeface="Calibri" pitchFamily="34" charset="-120"/>
              </a:rPr>
              <a:t>Microsoft 365 Copilot licence</a:t>
            </a:r>
            <a:endParaRPr lang="en-US" sz="1200" dirty="0"/>
          </a:p>
        </p:txBody>
      </p:sp>
      <p:sp>
        <p:nvSpPr>
          <p:cNvPr id="21" name="Shape 19"/>
          <p:cNvSpPr/>
          <p:nvPr/>
        </p:nvSpPr>
        <p:spPr>
          <a:xfrm>
            <a:off x="4846320" y="1993392"/>
            <a:ext cx="4114800" cy="530352"/>
          </a:xfrm>
          <a:prstGeom prst="rect">
            <a:avLst/>
          </a:prstGeom>
          <a:solidFill>
            <a:srgbClr val="FFFFFF"/>
          </a:solidFill>
          <a:ln w="12700">
            <a:solidFill>
              <a:srgbClr val="E2E6EA"/>
            </a:solidFill>
            <a:prstDash val="solid"/>
          </a:ln>
        </p:spPr>
      </p:sp>
      <p:sp>
        <p:nvSpPr>
          <p:cNvPr id="22" name="Text 20"/>
          <p:cNvSpPr/>
          <p:nvPr/>
        </p:nvSpPr>
        <p:spPr>
          <a:xfrm>
            <a:off x="5010912" y="1993392"/>
            <a:ext cx="3840480" cy="530352"/>
          </a:xfrm>
          <a:prstGeom prst="rect">
            <a:avLst/>
          </a:prstGeom>
          <a:noFill/>
          <a:ln/>
        </p:spPr>
        <p:txBody>
          <a:bodyPr wrap="square" lIns="0" tIns="0" rIns="0" bIns="0" rtlCol="0" anchor="ctr"/>
          <a:lstStyle/>
          <a:p>
            <a:pPr indent="0" marL="0">
              <a:buNone/>
            </a:pPr>
            <a:r>
              <a:rPr lang="en-US" sz="1200" dirty="0">
                <a:solidFill>
                  <a:srgbClr val="AAAAAA"/>
                </a:solidFill>
                <a:latin typeface="Calibri" pitchFamily="34" charset="0"/>
                <a:ea typeface="Calibri" pitchFamily="34" charset="-122"/>
                <a:cs typeface="Calibri" pitchFamily="34" charset="-120"/>
              </a:rPr>
              <a:t>Canva Pro</a:t>
            </a:r>
            <a:endParaRPr lang="en-US" sz="1200" dirty="0"/>
          </a:p>
        </p:txBody>
      </p:sp>
      <p:sp>
        <p:nvSpPr>
          <p:cNvPr id="23" name="Shape 21"/>
          <p:cNvSpPr/>
          <p:nvPr/>
        </p:nvSpPr>
        <p:spPr>
          <a:xfrm>
            <a:off x="4846320" y="2615184"/>
            <a:ext cx="4114800" cy="530352"/>
          </a:xfrm>
          <a:prstGeom prst="rect">
            <a:avLst/>
          </a:prstGeom>
          <a:solidFill>
            <a:srgbClr val="F8FAFB"/>
          </a:solidFill>
          <a:ln w="12700">
            <a:solidFill>
              <a:srgbClr val="E2E6EA"/>
            </a:solidFill>
            <a:prstDash val="solid"/>
          </a:ln>
        </p:spPr>
      </p:sp>
      <p:sp>
        <p:nvSpPr>
          <p:cNvPr id="24" name="Text 22"/>
          <p:cNvSpPr/>
          <p:nvPr/>
        </p:nvSpPr>
        <p:spPr>
          <a:xfrm>
            <a:off x="5010912" y="2615184"/>
            <a:ext cx="3840480" cy="530352"/>
          </a:xfrm>
          <a:prstGeom prst="rect">
            <a:avLst/>
          </a:prstGeom>
          <a:noFill/>
          <a:ln/>
        </p:spPr>
        <p:txBody>
          <a:bodyPr wrap="square" lIns="0" tIns="0" rIns="0" bIns="0" rtlCol="0" anchor="ctr"/>
          <a:lstStyle/>
          <a:p>
            <a:pPr indent="0" marL="0">
              <a:buNone/>
            </a:pPr>
            <a:r>
              <a:rPr lang="en-US" sz="1200" dirty="0">
                <a:solidFill>
                  <a:srgbClr val="AAAAAA"/>
                </a:solidFill>
                <a:latin typeface="Calibri" pitchFamily="34" charset="0"/>
                <a:ea typeface="Calibri" pitchFamily="34" charset="-122"/>
                <a:cs typeface="Calibri" pitchFamily="34" charset="-120"/>
              </a:rPr>
              <a:t>ChatGPT Plus</a:t>
            </a:r>
            <a:endParaRPr lang="en-US" sz="1200" dirty="0"/>
          </a:p>
        </p:txBody>
      </p:sp>
      <p:sp>
        <p:nvSpPr>
          <p:cNvPr id="25" name="Shape 23"/>
          <p:cNvSpPr/>
          <p:nvPr/>
        </p:nvSpPr>
        <p:spPr>
          <a:xfrm>
            <a:off x="4846320" y="3236976"/>
            <a:ext cx="4114800" cy="530352"/>
          </a:xfrm>
          <a:prstGeom prst="rect">
            <a:avLst/>
          </a:prstGeom>
          <a:solidFill>
            <a:srgbClr val="FFFFFF"/>
          </a:solidFill>
          <a:ln w="12700">
            <a:solidFill>
              <a:srgbClr val="E2E6EA"/>
            </a:solidFill>
            <a:prstDash val="solid"/>
          </a:ln>
        </p:spPr>
      </p:sp>
      <p:sp>
        <p:nvSpPr>
          <p:cNvPr id="26" name="Text 24"/>
          <p:cNvSpPr/>
          <p:nvPr/>
        </p:nvSpPr>
        <p:spPr>
          <a:xfrm>
            <a:off x="5010912" y="3236976"/>
            <a:ext cx="3840480" cy="530352"/>
          </a:xfrm>
          <a:prstGeom prst="rect">
            <a:avLst/>
          </a:prstGeom>
          <a:noFill/>
          <a:ln/>
        </p:spPr>
        <p:txBody>
          <a:bodyPr wrap="square" lIns="0" tIns="0" rIns="0" bIns="0" rtlCol="0" anchor="ctr"/>
          <a:lstStyle/>
          <a:p>
            <a:pPr indent="0" marL="0">
              <a:buNone/>
            </a:pPr>
            <a:r>
              <a:rPr lang="en-US" sz="1200" dirty="0">
                <a:solidFill>
                  <a:srgbClr val="AAAAAA"/>
                </a:solidFill>
                <a:latin typeface="Calibri" pitchFamily="34" charset="0"/>
                <a:ea typeface="Calibri" pitchFamily="34" charset="-122"/>
                <a:cs typeface="Calibri" pitchFamily="34" charset="-120"/>
              </a:rPr>
              <a:t>Any paid AI subscription</a:t>
            </a:r>
            <a:endParaRPr lang="en-US" sz="1200" dirty="0"/>
          </a:p>
        </p:txBody>
      </p:sp>
      <p:sp>
        <p:nvSpPr>
          <p:cNvPr id="27" name="Shape 25"/>
          <p:cNvSpPr/>
          <p:nvPr/>
        </p:nvSpPr>
        <p:spPr>
          <a:xfrm>
            <a:off x="4846320" y="3858768"/>
            <a:ext cx="4114800" cy="530352"/>
          </a:xfrm>
          <a:prstGeom prst="rect">
            <a:avLst/>
          </a:prstGeom>
          <a:solidFill>
            <a:srgbClr val="F8FAFB"/>
          </a:solidFill>
          <a:ln w="12700">
            <a:solidFill>
              <a:srgbClr val="E2E6EA"/>
            </a:solidFill>
            <a:prstDash val="solid"/>
          </a:ln>
        </p:spPr>
      </p:sp>
      <p:sp>
        <p:nvSpPr>
          <p:cNvPr id="28" name="Text 26"/>
          <p:cNvSpPr/>
          <p:nvPr/>
        </p:nvSpPr>
        <p:spPr>
          <a:xfrm>
            <a:off x="5010912" y="3858768"/>
            <a:ext cx="3840480" cy="530352"/>
          </a:xfrm>
          <a:prstGeom prst="rect">
            <a:avLst/>
          </a:prstGeom>
          <a:noFill/>
          <a:ln/>
        </p:spPr>
        <p:txBody>
          <a:bodyPr wrap="square" lIns="0" tIns="0" rIns="0" bIns="0" rtlCol="0" anchor="ctr"/>
          <a:lstStyle/>
          <a:p>
            <a:pPr indent="0" marL="0">
              <a:buNone/>
            </a:pPr>
            <a:r>
              <a:rPr lang="en-US" sz="1200" dirty="0">
                <a:solidFill>
                  <a:srgbClr val="AAAAAA"/>
                </a:solidFill>
                <a:latin typeface="Calibri" pitchFamily="34" charset="0"/>
                <a:ea typeface="Calibri" pitchFamily="34" charset="-122"/>
                <a:cs typeface="Calibri" pitchFamily="34" charset="-120"/>
              </a:rPr>
              <a:t>Design software</a:t>
            </a:r>
            <a:endParaRPr lang="en-US" sz="1200" dirty="0"/>
          </a:p>
        </p:txBody>
      </p:sp>
      <p:sp>
        <p:nvSpPr>
          <p:cNvPr id="29" name="Text 27"/>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Your scenario for the next two days</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sp>
        <p:nvSpPr>
          <p:cNvPr id="5" name="Shape 3"/>
          <p:cNvSpPr/>
          <p:nvPr/>
        </p:nvSpPr>
        <p:spPr>
          <a:xfrm>
            <a:off x="502920" y="960120"/>
            <a:ext cx="8138160" cy="1417320"/>
          </a:xfrm>
          <a:prstGeom prst="rect">
            <a:avLst/>
          </a:prstGeom>
          <a:solidFill>
            <a:srgbClr val="E8F5F7"/>
          </a:solidFill>
          <a:ln w="12700">
            <a:solidFill>
              <a:srgbClr val="028090"/>
            </a:solidFill>
            <a:prstDash val="solid"/>
          </a:ln>
        </p:spPr>
      </p:sp>
      <p:sp>
        <p:nvSpPr>
          <p:cNvPr id="6" name="Text 4"/>
          <p:cNvSpPr/>
          <p:nvPr/>
        </p:nvSpPr>
        <p:spPr>
          <a:xfrm>
            <a:off x="685800" y="1024128"/>
            <a:ext cx="7772400" cy="1280160"/>
          </a:xfrm>
          <a:prstGeom prst="rect">
            <a:avLst/>
          </a:prstGeom>
          <a:noFill/>
          <a:ln/>
        </p:spPr>
        <p:txBody>
          <a:bodyPr wrap="square" lIns="0" tIns="0" rIns="0" bIns="0" rtlCol="0" anchor="ctr"/>
          <a:lstStyle/>
          <a:p>
            <a:pPr indent="0" marL="0">
              <a:lnSpc>
                <a:spcPct val="120000"/>
              </a:lnSpc>
              <a:buNone/>
            </a:pPr>
            <a:r>
              <a:rPr lang="en-US" sz="1800" b="1" dirty="0">
                <a:solidFill>
                  <a:srgbClr val="1E2761"/>
                </a:solidFill>
                <a:latin typeface="Calibri" pitchFamily="34" charset="0"/>
                <a:ea typeface="Calibri" pitchFamily="34" charset="-122"/>
                <a:cs typeface="Calibri" pitchFamily="34" charset="-120"/>
              </a:rPr>
              <a:t>You are improving your department's quarterly review presentation for Nusantara Capital.</a:t>
            </a:r>
            <a:endParaRPr lang="en-US" sz="1800" dirty="0"/>
          </a:p>
        </p:txBody>
      </p:sp>
      <p:sp>
        <p:nvSpPr>
          <p:cNvPr id="7" name="Shape 5"/>
          <p:cNvSpPr/>
          <p:nvPr/>
        </p:nvSpPr>
        <p:spPr>
          <a:xfrm>
            <a:off x="502920" y="2633472"/>
            <a:ext cx="310896" cy="310896"/>
          </a:xfrm>
          <a:prstGeom prst="ellipse">
            <a:avLst/>
          </a:prstGeom>
          <a:solidFill>
            <a:srgbClr val="028090"/>
          </a:solidFill>
          <a:ln w="12700">
            <a:solidFill>
              <a:srgbClr val="028090"/>
            </a:solidFill>
            <a:prstDash val="solid"/>
          </a:ln>
        </p:spPr>
      </p:sp>
      <p:sp>
        <p:nvSpPr>
          <p:cNvPr id="8" name="Text 6"/>
          <p:cNvSpPr/>
          <p:nvPr/>
        </p:nvSpPr>
        <p:spPr>
          <a:xfrm>
            <a:off x="502920" y="263347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960120" y="2542032"/>
            <a:ext cx="7680960" cy="54864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Your department head has asked you to improve last quarter's deck before it goes to senior leadership.</a:t>
            </a:r>
            <a:endParaRPr lang="en-US" sz="1250" dirty="0"/>
          </a:p>
        </p:txBody>
      </p:sp>
      <p:sp>
        <p:nvSpPr>
          <p:cNvPr id="10" name="Shape 8"/>
          <p:cNvSpPr/>
          <p:nvPr/>
        </p:nvSpPr>
        <p:spPr>
          <a:xfrm>
            <a:off x="502920" y="3383280"/>
            <a:ext cx="310896" cy="310896"/>
          </a:xfrm>
          <a:prstGeom prst="ellipse">
            <a:avLst/>
          </a:prstGeom>
          <a:solidFill>
            <a:srgbClr val="028090"/>
          </a:solidFill>
          <a:ln w="12700">
            <a:solidFill>
              <a:srgbClr val="028090"/>
            </a:solidFill>
            <a:prstDash val="solid"/>
          </a:ln>
        </p:spPr>
      </p:sp>
      <p:sp>
        <p:nvSpPr>
          <p:cNvPr id="11" name="Text 9"/>
          <p:cNvSpPr/>
          <p:nvPr/>
        </p:nvSpPr>
        <p:spPr>
          <a:xfrm>
            <a:off x="502920" y="338328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960120" y="3291840"/>
            <a:ext cx="7680960" cy="54864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Each module moves the project one step forward: structure, rewrite, visualise, design, review.</a:t>
            </a:r>
            <a:endParaRPr lang="en-US" sz="1250" dirty="0"/>
          </a:p>
        </p:txBody>
      </p:sp>
      <p:sp>
        <p:nvSpPr>
          <p:cNvPr id="13" name="Shape 11"/>
          <p:cNvSpPr/>
          <p:nvPr/>
        </p:nvSpPr>
        <p:spPr>
          <a:xfrm>
            <a:off x="502920" y="4133088"/>
            <a:ext cx="310896" cy="310896"/>
          </a:xfrm>
          <a:prstGeom prst="ellipse">
            <a:avLst/>
          </a:prstGeom>
          <a:solidFill>
            <a:srgbClr val="028090"/>
          </a:solidFill>
          <a:ln w="12700">
            <a:solidFill>
              <a:srgbClr val="028090"/>
            </a:solidFill>
            <a:prstDash val="solid"/>
          </a:ln>
        </p:spPr>
      </p:sp>
      <p:sp>
        <p:nvSpPr>
          <p:cNvPr id="14" name="Text 12"/>
          <p:cNvSpPr/>
          <p:nvPr/>
        </p:nvSpPr>
        <p:spPr>
          <a:xfrm>
            <a:off x="502920" y="413308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Text 13"/>
          <p:cNvSpPr/>
          <p:nvPr/>
        </p:nvSpPr>
        <p:spPr>
          <a:xfrm>
            <a:off x="960120" y="4041648"/>
            <a:ext cx="7680960" cy="54864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By Module 08 you will have a deck that is cleaner, clearer, and ready to present.</a:t>
            </a:r>
            <a:endParaRPr lang="en-US" sz="1250" dirty="0"/>
          </a:p>
        </p:txBody>
      </p:sp>
      <p:sp>
        <p:nvSpPr>
          <p:cNvPr id="16" name="Text 14"/>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sp>
      <p:sp>
        <p:nvSpPr>
          <p:cNvPr id="3" name="Text 1"/>
          <p:cNvSpPr/>
          <p:nvPr/>
        </p:nvSpPr>
        <p:spPr>
          <a:xfrm>
            <a:off x="502920" y="201168"/>
            <a:ext cx="8138160" cy="50292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Your before deck: NC Q3 2025 Departmental Review</a:t>
            </a:r>
            <a:endParaRPr lang="en-US" sz="2200" dirty="0"/>
          </a:p>
        </p:txBody>
      </p:sp>
      <p:sp>
        <p:nvSpPr>
          <p:cNvPr id="4" name="Shape 2"/>
          <p:cNvSpPr/>
          <p:nvPr/>
        </p:nvSpPr>
        <p:spPr>
          <a:xfrm>
            <a:off x="502920" y="749808"/>
            <a:ext cx="8138160" cy="22860"/>
          </a:xfrm>
          <a:prstGeom prst="rect">
            <a:avLst/>
          </a:prstGeom>
          <a:solidFill>
            <a:srgbClr val="E2E6EA"/>
          </a:solidFill>
          <a:ln w="12700">
            <a:solidFill>
              <a:srgbClr val="E2E6EA"/>
            </a:solidFill>
            <a:prstDash val="solid"/>
          </a:ln>
        </p:spPr>
      </p:sp>
      <p:sp>
        <p:nvSpPr>
          <p:cNvPr id="5" name="Shape 3"/>
          <p:cNvSpPr/>
          <p:nvPr/>
        </p:nvSpPr>
        <p:spPr>
          <a:xfrm>
            <a:off x="502920" y="960120"/>
            <a:ext cx="2011680" cy="1417320"/>
          </a:xfrm>
          <a:prstGeom prst="rect">
            <a:avLst/>
          </a:prstGeom>
          <a:solidFill>
            <a:srgbClr val="F8FAFB"/>
          </a:solidFill>
          <a:ln w="12700">
            <a:solidFill>
              <a:srgbClr val="E2E6EA"/>
            </a:solidFill>
            <a:prstDash val="solid"/>
          </a:ln>
        </p:spPr>
      </p:sp>
      <p:sp>
        <p:nvSpPr>
          <p:cNvPr id="6" name="Text 4"/>
          <p:cNvSpPr/>
          <p:nvPr/>
        </p:nvSpPr>
        <p:spPr>
          <a:xfrm>
            <a:off x="576072" y="1033272"/>
            <a:ext cx="1865376" cy="320040"/>
          </a:xfrm>
          <a:prstGeom prst="rect">
            <a:avLst/>
          </a:prstGeom>
          <a:noFill/>
          <a:ln/>
        </p:spPr>
        <p:txBody>
          <a:bodyPr wrap="square" lIns="0" tIns="0" rIns="0" bIns="0" rtlCol="0" anchor="ctr"/>
          <a:lstStyle/>
          <a:p>
            <a:pPr indent="0" marL="0">
              <a:buNone/>
            </a:pPr>
            <a:r>
              <a:rPr lang="en-US" sz="900" b="1" dirty="0">
                <a:solidFill>
                  <a:srgbClr val="1E2761"/>
                </a:solidFill>
                <a:latin typeface="Calibri" pitchFamily="34" charset="0"/>
                <a:ea typeface="Calibri" pitchFamily="34" charset="-122"/>
                <a:cs typeface="Calibri" pitchFamily="34" charset="-120"/>
              </a:rPr>
              <a:t>Cover</a:t>
            </a:r>
            <a:endParaRPr lang="en-US" sz="900" dirty="0"/>
          </a:p>
        </p:txBody>
      </p:sp>
      <p:sp>
        <p:nvSpPr>
          <p:cNvPr id="7" name="Shape 5"/>
          <p:cNvSpPr/>
          <p:nvPr/>
        </p:nvSpPr>
        <p:spPr>
          <a:xfrm>
            <a:off x="502920" y="2011680"/>
            <a:ext cx="2011680" cy="365760"/>
          </a:xfrm>
          <a:prstGeom prst="rect">
            <a:avLst/>
          </a:prstGeom>
          <a:solidFill>
            <a:srgbClr val="FFF3CD"/>
          </a:solidFill>
          <a:ln w="12700">
            <a:solidFill>
              <a:srgbClr val="F0C36D"/>
            </a:solidFill>
            <a:prstDash val="solid"/>
          </a:ln>
        </p:spPr>
      </p:sp>
      <p:sp>
        <p:nvSpPr>
          <p:cNvPr id="8" name="Text 6"/>
          <p:cNvSpPr/>
          <p:nvPr/>
        </p:nvSpPr>
        <p:spPr>
          <a:xfrm>
            <a:off x="557784" y="2011680"/>
            <a:ext cx="1901952" cy="365760"/>
          </a:xfrm>
          <a:prstGeom prst="rect">
            <a:avLst/>
          </a:prstGeom>
          <a:noFill/>
          <a:ln/>
        </p:spPr>
        <p:txBody>
          <a:bodyPr wrap="square" lIns="0" tIns="0" rIns="0" bIns="0" rtlCol="0" anchor="ctr"/>
          <a:lstStyle/>
          <a:p>
            <a:pPr indent="0" marL="0">
              <a:buNone/>
            </a:pPr>
            <a:r>
              <a:rPr lang="en-US" sz="850" i="1" dirty="0">
                <a:solidFill>
                  <a:srgbClr val="7A5C00"/>
                </a:solidFill>
                <a:latin typeface="Calibri" pitchFamily="34" charset="0"/>
                <a:ea typeface="Calibri" pitchFamily="34" charset="-122"/>
                <a:cs typeface="Calibri" pitchFamily="34" charset="-120"/>
              </a:rPr>
              <a:t>Font inconsistency</a:t>
            </a:r>
            <a:endParaRPr lang="en-US" sz="850" dirty="0"/>
          </a:p>
        </p:txBody>
      </p:sp>
      <p:sp>
        <p:nvSpPr>
          <p:cNvPr id="9" name="Shape 7"/>
          <p:cNvSpPr/>
          <p:nvPr/>
        </p:nvSpPr>
        <p:spPr>
          <a:xfrm>
            <a:off x="2743200" y="960120"/>
            <a:ext cx="2011680" cy="1417320"/>
          </a:xfrm>
          <a:prstGeom prst="rect">
            <a:avLst/>
          </a:prstGeom>
          <a:solidFill>
            <a:srgbClr val="F8FAFB"/>
          </a:solidFill>
          <a:ln w="12700">
            <a:solidFill>
              <a:srgbClr val="E2E6EA"/>
            </a:solidFill>
            <a:prstDash val="solid"/>
          </a:ln>
        </p:spPr>
      </p:sp>
      <p:sp>
        <p:nvSpPr>
          <p:cNvPr id="10" name="Text 8"/>
          <p:cNvSpPr/>
          <p:nvPr/>
        </p:nvSpPr>
        <p:spPr>
          <a:xfrm>
            <a:off x="2816352" y="1033272"/>
            <a:ext cx="1865376" cy="320040"/>
          </a:xfrm>
          <a:prstGeom prst="rect">
            <a:avLst/>
          </a:prstGeom>
          <a:noFill/>
          <a:ln/>
        </p:spPr>
        <p:txBody>
          <a:bodyPr wrap="square" lIns="0" tIns="0" rIns="0" bIns="0" rtlCol="0" anchor="ctr"/>
          <a:lstStyle/>
          <a:p>
            <a:pPr indent="0" marL="0">
              <a:buNone/>
            </a:pPr>
            <a:r>
              <a:rPr lang="en-US" sz="900" b="1" dirty="0">
                <a:solidFill>
                  <a:srgbClr val="1E2761"/>
                </a:solidFill>
                <a:latin typeface="Calibri" pitchFamily="34" charset="0"/>
                <a:ea typeface="Calibri" pitchFamily="34" charset="-122"/>
                <a:cs typeface="Calibri" pitchFamily="34" charset="-120"/>
              </a:rPr>
              <a:t>Slide 3: Overview</a:t>
            </a:r>
            <a:endParaRPr lang="en-US" sz="900" dirty="0"/>
          </a:p>
        </p:txBody>
      </p:sp>
      <p:sp>
        <p:nvSpPr>
          <p:cNvPr id="11" name="Shape 9"/>
          <p:cNvSpPr/>
          <p:nvPr/>
        </p:nvSpPr>
        <p:spPr>
          <a:xfrm>
            <a:off x="2743200" y="2011680"/>
            <a:ext cx="2011680" cy="365760"/>
          </a:xfrm>
          <a:prstGeom prst="rect">
            <a:avLst/>
          </a:prstGeom>
          <a:solidFill>
            <a:srgbClr val="FFF3CD"/>
          </a:solidFill>
          <a:ln w="12700">
            <a:solidFill>
              <a:srgbClr val="F0C36D"/>
            </a:solidFill>
            <a:prstDash val="solid"/>
          </a:ln>
        </p:spPr>
      </p:sp>
      <p:sp>
        <p:nvSpPr>
          <p:cNvPr id="12" name="Text 10"/>
          <p:cNvSpPr/>
          <p:nvPr/>
        </p:nvSpPr>
        <p:spPr>
          <a:xfrm>
            <a:off x="2798064" y="2011680"/>
            <a:ext cx="1901952" cy="365760"/>
          </a:xfrm>
          <a:prstGeom prst="rect">
            <a:avLst/>
          </a:prstGeom>
          <a:noFill/>
          <a:ln/>
        </p:spPr>
        <p:txBody>
          <a:bodyPr wrap="square" lIns="0" tIns="0" rIns="0" bIns="0" rtlCol="0" anchor="ctr"/>
          <a:lstStyle/>
          <a:p>
            <a:pPr indent="0" marL="0">
              <a:buNone/>
            </a:pPr>
            <a:r>
              <a:rPr lang="en-US" sz="850" i="1" dirty="0">
                <a:solidFill>
                  <a:srgbClr val="7A5C00"/>
                </a:solidFill>
                <a:latin typeface="Calibri" pitchFamily="34" charset="0"/>
                <a:ea typeface="Calibri" pitchFamily="34" charset="-122"/>
                <a:cs typeface="Calibri" pitchFamily="34" charset="-120"/>
              </a:rPr>
              <a:t>8 bullet points</a:t>
            </a:r>
            <a:endParaRPr lang="en-US" sz="850" dirty="0"/>
          </a:p>
        </p:txBody>
      </p:sp>
      <p:sp>
        <p:nvSpPr>
          <p:cNvPr id="13" name="Shape 11"/>
          <p:cNvSpPr/>
          <p:nvPr/>
        </p:nvSpPr>
        <p:spPr>
          <a:xfrm>
            <a:off x="4983480" y="960120"/>
            <a:ext cx="2011680" cy="1417320"/>
          </a:xfrm>
          <a:prstGeom prst="rect">
            <a:avLst/>
          </a:prstGeom>
          <a:solidFill>
            <a:srgbClr val="F8FAFB"/>
          </a:solidFill>
          <a:ln w="12700">
            <a:solidFill>
              <a:srgbClr val="E2E6EA"/>
            </a:solidFill>
            <a:prstDash val="solid"/>
          </a:ln>
        </p:spPr>
      </p:sp>
      <p:sp>
        <p:nvSpPr>
          <p:cNvPr id="14" name="Text 12"/>
          <p:cNvSpPr/>
          <p:nvPr/>
        </p:nvSpPr>
        <p:spPr>
          <a:xfrm>
            <a:off x="5056632" y="1033272"/>
            <a:ext cx="1865376" cy="320040"/>
          </a:xfrm>
          <a:prstGeom prst="rect">
            <a:avLst/>
          </a:prstGeom>
          <a:noFill/>
          <a:ln/>
        </p:spPr>
        <p:txBody>
          <a:bodyPr wrap="square" lIns="0" tIns="0" rIns="0" bIns="0" rtlCol="0" anchor="ctr"/>
          <a:lstStyle/>
          <a:p>
            <a:pPr indent="0" marL="0">
              <a:buNone/>
            </a:pPr>
            <a:r>
              <a:rPr lang="en-US" sz="900" b="1" dirty="0">
                <a:solidFill>
                  <a:srgbClr val="1E2761"/>
                </a:solidFill>
                <a:latin typeface="Calibri" pitchFamily="34" charset="0"/>
                <a:ea typeface="Calibri" pitchFamily="34" charset="-122"/>
                <a:cs typeface="Calibri" pitchFamily="34" charset="-120"/>
              </a:rPr>
              <a:t>Slide 4: Revenue</a:t>
            </a:r>
            <a:endParaRPr lang="en-US" sz="900" dirty="0"/>
          </a:p>
        </p:txBody>
      </p:sp>
      <p:sp>
        <p:nvSpPr>
          <p:cNvPr id="15" name="Shape 13"/>
          <p:cNvSpPr/>
          <p:nvPr/>
        </p:nvSpPr>
        <p:spPr>
          <a:xfrm>
            <a:off x="4983480" y="2011680"/>
            <a:ext cx="2011680" cy="365760"/>
          </a:xfrm>
          <a:prstGeom prst="rect">
            <a:avLst/>
          </a:prstGeom>
          <a:solidFill>
            <a:srgbClr val="FFF3CD"/>
          </a:solidFill>
          <a:ln w="12700">
            <a:solidFill>
              <a:srgbClr val="F0C36D"/>
            </a:solidFill>
            <a:prstDash val="solid"/>
          </a:ln>
        </p:spPr>
      </p:sp>
      <p:sp>
        <p:nvSpPr>
          <p:cNvPr id="16" name="Text 14"/>
          <p:cNvSpPr/>
          <p:nvPr/>
        </p:nvSpPr>
        <p:spPr>
          <a:xfrm>
            <a:off x="5038344" y="2011680"/>
            <a:ext cx="1901952" cy="365760"/>
          </a:xfrm>
          <a:prstGeom prst="rect">
            <a:avLst/>
          </a:prstGeom>
          <a:noFill/>
          <a:ln/>
        </p:spPr>
        <p:txBody>
          <a:bodyPr wrap="square" lIns="0" tIns="0" rIns="0" bIns="0" rtlCol="0" anchor="ctr"/>
          <a:lstStyle/>
          <a:p>
            <a:pPr indent="0" marL="0">
              <a:buNone/>
            </a:pPr>
            <a:r>
              <a:rPr lang="en-US" sz="850" i="1" dirty="0">
                <a:solidFill>
                  <a:srgbClr val="7A5C00"/>
                </a:solidFill>
                <a:latin typeface="Calibri" pitchFamily="34" charset="0"/>
                <a:ea typeface="Calibri" pitchFamily="34" charset="-122"/>
                <a:cs typeface="Calibri" pitchFamily="34" charset="-120"/>
              </a:rPr>
              <a:t>7-segment pie chart</a:t>
            </a:r>
            <a:endParaRPr lang="en-US" sz="850" dirty="0"/>
          </a:p>
        </p:txBody>
      </p:sp>
      <p:sp>
        <p:nvSpPr>
          <p:cNvPr id="17" name="Shape 15"/>
          <p:cNvSpPr/>
          <p:nvPr/>
        </p:nvSpPr>
        <p:spPr>
          <a:xfrm>
            <a:off x="7223760" y="960120"/>
            <a:ext cx="2011680" cy="1417320"/>
          </a:xfrm>
          <a:prstGeom prst="rect">
            <a:avLst/>
          </a:prstGeom>
          <a:solidFill>
            <a:srgbClr val="F8FAFB"/>
          </a:solidFill>
          <a:ln w="12700">
            <a:solidFill>
              <a:srgbClr val="E2E6EA"/>
            </a:solidFill>
            <a:prstDash val="solid"/>
          </a:ln>
        </p:spPr>
      </p:sp>
      <p:sp>
        <p:nvSpPr>
          <p:cNvPr id="18" name="Text 16"/>
          <p:cNvSpPr/>
          <p:nvPr/>
        </p:nvSpPr>
        <p:spPr>
          <a:xfrm>
            <a:off x="7296912" y="1033272"/>
            <a:ext cx="1865376" cy="320040"/>
          </a:xfrm>
          <a:prstGeom prst="rect">
            <a:avLst/>
          </a:prstGeom>
          <a:noFill/>
          <a:ln/>
        </p:spPr>
        <p:txBody>
          <a:bodyPr wrap="square" lIns="0" tIns="0" rIns="0" bIns="0" rtlCol="0" anchor="ctr"/>
          <a:lstStyle/>
          <a:p>
            <a:pPr indent="0" marL="0">
              <a:buNone/>
            </a:pPr>
            <a:r>
              <a:rPr lang="en-US" sz="900" b="1" dirty="0">
                <a:solidFill>
                  <a:srgbClr val="1E2761"/>
                </a:solidFill>
                <a:latin typeface="Calibri" pitchFamily="34" charset="0"/>
                <a:ea typeface="Calibri" pitchFamily="34" charset="-122"/>
                <a:cs typeface="Calibri" pitchFamily="34" charset="-120"/>
              </a:rPr>
              <a:t>Slide 11: Decisions</a:t>
            </a:r>
            <a:endParaRPr lang="en-US" sz="900" dirty="0"/>
          </a:p>
        </p:txBody>
      </p:sp>
      <p:sp>
        <p:nvSpPr>
          <p:cNvPr id="19" name="Shape 17"/>
          <p:cNvSpPr/>
          <p:nvPr/>
        </p:nvSpPr>
        <p:spPr>
          <a:xfrm>
            <a:off x="7223760" y="2011680"/>
            <a:ext cx="2011680" cy="365760"/>
          </a:xfrm>
          <a:prstGeom prst="rect">
            <a:avLst/>
          </a:prstGeom>
          <a:solidFill>
            <a:srgbClr val="FFF3CD"/>
          </a:solidFill>
          <a:ln w="12700">
            <a:solidFill>
              <a:srgbClr val="F0C36D"/>
            </a:solidFill>
            <a:prstDash val="solid"/>
          </a:ln>
        </p:spPr>
      </p:sp>
      <p:sp>
        <p:nvSpPr>
          <p:cNvPr id="20" name="Text 18"/>
          <p:cNvSpPr/>
          <p:nvPr/>
        </p:nvSpPr>
        <p:spPr>
          <a:xfrm>
            <a:off x="7278624" y="2011680"/>
            <a:ext cx="1901952" cy="365760"/>
          </a:xfrm>
          <a:prstGeom prst="rect">
            <a:avLst/>
          </a:prstGeom>
          <a:noFill/>
          <a:ln/>
        </p:spPr>
        <p:txBody>
          <a:bodyPr wrap="square" lIns="0" tIns="0" rIns="0" bIns="0" rtlCol="0" anchor="ctr"/>
          <a:lstStyle/>
          <a:p>
            <a:pPr indent="0" marL="0">
              <a:buNone/>
            </a:pPr>
            <a:r>
              <a:rPr lang="en-US" sz="850" i="1" dirty="0">
                <a:solidFill>
                  <a:srgbClr val="7A5C00"/>
                </a:solidFill>
                <a:latin typeface="Calibri" pitchFamily="34" charset="0"/>
                <a:ea typeface="Calibri" pitchFamily="34" charset="-122"/>
                <a:cs typeface="Calibri" pitchFamily="34" charset="-120"/>
              </a:rPr>
              <a:t>Ask buried in bullet 4</a:t>
            </a:r>
            <a:endParaRPr lang="en-US" sz="850" dirty="0"/>
          </a:p>
        </p:txBody>
      </p:sp>
      <p:sp>
        <p:nvSpPr>
          <p:cNvPr id="21" name="Text 19"/>
          <p:cNvSpPr/>
          <p:nvPr/>
        </p:nvSpPr>
        <p:spPr>
          <a:xfrm>
            <a:off x="502920" y="2560320"/>
            <a:ext cx="8138160" cy="45720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Open the deck now. Spend 3 minutes scrolling through it. Note anything that feels wrong.</a:t>
            </a:r>
            <a:endParaRPr lang="en-US" sz="1300" dirty="0"/>
          </a:p>
        </p:txBody>
      </p:sp>
      <p:sp>
        <p:nvSpPr>
          <p:cNvPr id="22" name="Shape 20"/>
          <p:cNvSpPr/>
          <p:nvPr/>
        </p:nvSpPr>
        <p:spPr>
          <a:xfrm>
            <a:off x="502920" y="3154680"/>
            <a:ext cx="8138160" cy="512064"/>
          </a:xfrm>
          <a:prstGeom prst="rect">
            <a:avLst/>
          </a:prstGeom>
          <a:solidFill>
            <a:srgbClr val="E8F5F7"/>
          </a:solidFill>
          <a:ln w="12700">
            <a:solidFill>
              <a:srgbClr val="028090"/>
            </a:solidFill>
            <a:prstDash val="solid"/>
          </a:ln>
        </p:spPr>
      </p:sp>
      <p:sp>
        <p:nvSpPr>
          <p:cNvPr id="23" name="Text 21"/>
          <p:cNvSpPr/>
          <p:nvPr/>
        </p:nvSpPr>
        <p:spPr>
          <a:xfrm>
            <a:off x="685800" y="3154680"/>
            <a:ext cx="7772400" cy="512064"/>
          </a:xfrm>
          <a:prstGeom prst="rect">
            <a:avLst/>
          </a:prstGeom>
          <a:noFill/>
          <a:ln/>
        </p:spPr>
        <p:txBody>
          <a:bodyPr wrap="square" lIns="0" tIns="0" rIns="0" bIns="0" rtlCol="0" anchor="ctr"/>
          <a:lstStyle/>
          <a:p>
            <a:pPr indent="0" marL="0">
              <a:buNone/>
            </a:pPr>
            <a:r>
              <a:rPr lang="en-US" sz="1200" dirty="0">
                <a:solidFill>
                  <a:srgbClr val="1E2761"/>
                </a:solidFill>
                <a:latin typeface="Calibri" pitchFamily="34" charset="0"/>
                <a:ea typeface="Calibri" pitchFamily="34" charset="-122"/>
                <a:cs typeface="Calibri" pitchFamily="34" charset="-120"/>
              </a:rPr>
              <a:t>Download from the workshop site: Module 01 page</a:t>
            </a:r>
            <a:endParaRPr lang="en-US" sz="1200" dirty="0"/>
          </a:p>
        </p:txBody>
      </p:sp>
      <p:sp>
        <p:nvSpPr>
          <p:cNvPr id="24" name="Shape 22"/>
          <p:cNvSpPr/>
          <p:nvPr/>
        </p:nvSpPr>
        <p:spPr>
          <a:xfrm>
            <a:off x="502920" y="3794760"/>
            <a:ext cx="8138160" cy="658368"/>
          </a:xfrm>
          <a:prstGeom prst="rect">
            <a:avLst/>
          </a:prstGeom>
          <a:solidFill>
            <a:srgbClr val="F8FAFB"/>
          </a:solidFill>
          <a:ln w="12700">
            <a:solidFill>
              <a:srgbClr val="E2E6EA"/>
            </a:solidFill>
            <a:prstDash val="solid"/>
          </a:ln>
        </p:spPr>
      </p:sp>
      <p:sp>
        <p:nvSpPr>
          <p:cNvPr id="25" name="Text 23"/>
          <p:cNvSpPr/>
          <p:nvPr/>
        </p:nvSpPr>
        <p:spPr>
          <a:xfrm>
            <a:off x="1371600" y="3813048"/>
            <a:ext cx="1371600" cy="347472"/>
          </a:xfrm>
          <a:prstGeom prst="rect">
            <a:avLst/>
          </a:prstGeom>
          <a:noFill/>
          <a:ln/>
        </p:spPr>
        <p:txBody>
          <a:bodyPr wrap="square" lIns="0" tIns="0" rIns="0" bIns="0" rtlCol="0" anchor="ctr"/>
          <a:lstStyle/>
          <a:p>
            <a:pPr algn="ctr" indent="0" marL="0">
              <a:buNone/>
            </a:pPr>
            <a:r>
              <a:rPr lang="en-US" sz="2600" b="1" dirty="0">
                <a:solidFill>
                  <a:srgbClr val="028090"/>
                </a:solidFill>
                <a:latin typeface="Calibri" pitchFamily="34" charset="0"/>
                <a:ea typeface="Calibri" pitchFamily="34" charset="-122"/>
                <a:cs typeface="Calibri" pitchFamily="34" charset="-120"/>
              </a:rPr>
              <a:t>12</a:t>
            </a:r>
            <a:endParaRPr lang="en-US" sz="2600" dirty="0"/>
          </a:p>
        </p:txBody>
      </p:sp>
      <p:sp>
        <p:nvSpPr>
          <p:cNvPr id="26" name="Text 24"/>
          <p:cNvSpPr/>
          <p:nvPr/>
        </p:nvSpPr>
        <p:spPr>
          <a:xfrm>
            <a:off x="1371600" y="4160520"/>
            <a:ext cx="1371600" cy="256032"/>
          </a:xfrm>
          <a:prstGeom prst="rect">
            <a:avLst/>
          </a:prstGeom>
          <a:noFill/>
          <a:ln/>
        </p:spPr>
        <p:txBody>
          <a:bodyPr wrap="square" lIns="0" tIns="0" rIns="0" bIns="0"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slides</a:t>
            </a:r>
            <a:endParaRPr lang="en-US" sz="1000" dirty="0"/>
          </a:p>
        </p:txBody>
      </p:sp>
      <p:sp>
        <p:nvSpPr>
          <p:cNvPr id="27" name="Text 25"/>
          <p:cNvSpPr/>
          <p:nvPr/>
        </p:nvSpPr>
        <p:spPr>
          <a:xfrm>
            <a:off x="3931920" y="3813048"/>
            <a:ext cx="1371600" cy="347472"/>
          </a:xfrm>
          <a:prstGeom prst="rect">
            <a:avLst/>
          </a:prstGeom>
          <a:noFill/>
          <a:ln/>
        </p:spPr>
        <p:txBody>
          <a:bodyPr wrap="square" lIns="0" tIns="0" rIns="0" bIns="0" rtlCol="0" anchor="ctr"/>
          <a:lstStyle/>
          <a:p>
            <a:pPr algn="ctr" indent="0" marL="0">
              <a:buNone/>
            </a:pPr>
            <a:r>
              <a:rPr lang="en-US" sz="2600" b="1" dirty="0">
                <a:solidFill>
                  <a:srgbClr val="028090"/>
                </a:solidFill>
                <a:latin typeface="Calibri" pitchFamily="34" charset="0"/>
                <a:ea typeface="Calibri" pitchFamily="34" charset="-122"/>
                <a:cs typeface="Calibri" pitchFamily="34" charset="-120"/>
              </a:rPr>
              <a:t>5</a:t>
            </a:r>
            <a:endParaRPr lang="en-US" sz="2600" dirty="0"/>
          </a:p>
        </p:txBody>
      </p:sp>
      <p:sp>
        <p:nvSpPr>
          <p:cNvPr id="28" name="Text 26"/>
          <p:cNvSpPr/>
          <p:nvPr/>
        </p:nvSpPr>
        <p:spPr>
          <a:xfrm>
            <a:off x="3931920" y="4160520"/>
            <a:ext cx="1371600" cy="256032"/>
          </a:xfrm>
          <a:prstGeom prst="rect">
            <a:avLst/>
          </a:prstGeom>
          <a:noFill/>
          <a:ln/>
        </p:spPr>
        <p:txBody>
          <a:bodyPr wrap="square" lIns="0" tIns="0" rIns="0" bIns="0"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obvious problems</a:t>
            </a:r>
            <a:endParaRPr lang="en-US" sz="1000" dirty="0"/>
          </a:p>
        </p:txBody>
      </p:sp>
      <p:sp>
        <p:nvSpPr>
          <p:cNvPr id="29" name="Text 27"/>
          <p:cNvSpPr/>
          <p:nvPr/>
        </p:nvSpPr>
        <p:spPr>
          <a:xfrm>
            <a:off x="6492240" y="3813048"/>
            <a:ext cx="1371600" cy="347472"/>
          </a:xfrm>
          <a:prstGeom prst="rect">
            <a:avLst/>
          </a:prstGeom>
          <a:noFill/>
          <a:ln/>
        </p:spPr>
        <p:txBody>
          <a:bodyPr wrap="square" lIns="0" tIns="0" rIns="0" bIns="0" rtlCol="0" anchor="ctr"/>
          <a:lstStyle/>
          <a:p>
            <a:pPr algn="ctr" indent="0" marL="0">
              <a:buNone/>
            </a:pPr>
            <a:r>
              <a:rPr lang="en-US" sz="2600" b="1" dirty="0">
                <a:solidFill>
                  <a:srgbClr val="028090"/>
                </a:solidFill>
                <a:latin typeface="Calibri" pitchFamily="34" charset="0"/>
                <a:ea typeface="Calibri" pitchFamily="34" charset="-122"/>
                <a:cs typeface="Calibri" pitchFamily="34" charset="-120"/>
              </a:rPr>
              <a:t>7</a:t>
            </a:r>
            <a:endParaRPr lang="en-US" sz="2600" dirty="0"/>
          </a:p>
        </p:txBody>
      </p:sp>
      <p:sp>
        <p:nvSpPr>
          <p:cNvPr id="30" name="Text 28"/>
          <p:cNvSpPr/>
          <p:nvPr/>
        </p:nvSpPr>
        <p:spPr>
          <a:xfrm>
            <a:off x="6492240" y="4160520"/>
            <a:ext cx="1371600" cy="256032"/>
          </a:xfrm>
          <a:prstGeom prst="rect">
            <a:avLst/>
          </a:prstGeom>
          <a:noFill/>
          <a:ln/>
        </p:spPr>
        <p:txBody>
          <a:bodyPr wrap="square" lIns="0" tIns="0" rIns="0" bIns="0"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subtle problems</a:t>
            </a:r>
            <a:endParaRPr lang="en-US" sz="1000" dirty="0"/>
          </a:p>
        </p:txBody>
      </p:sp>
      <p:sp>
        <p:nvSpPr>
          <p:cNvPr id="31" name="Text 29"/>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8090"/>
          </a:solidFill>
          <a:ln w="12700">
            <a:solidFill>
              <a:srgbClr val="028090"/>
            </a:solidFill>
            <a:prstDash val="solid"/>
          </a:ln>
        </p:spPr>
      </p:sp>
      <p:sp>
        <p:nvSpPr>
          <p:cNvPr id="3" name="Text 1"/>
          <p:cNvSpPr/>
          <p:nvPr/>
        </p:nvSpPr>
        <p:spPr>
          <a:xfrm>
            <a:off x="548640" y="502920"/>
            <a:ext cx="7772400" cy="411480"/>
          </a:xfrm>
          <a:prstGeom prst="rect">
            <a:avLst/>
          </a:prstGeom>
          <a:noFill/>
          <a:ln/>
        </p:spPr>
        <p:txBody>
          <a:bodyPr wrap="square" lIns="0" tIns="0" rIns="0" bIns="0" rtlCol="0" anchor="ctr"/>
          <a:lstStyle/>
          <a:p>
            <a:pPr indent="0" marL="0">
              <a:buNone/>
            </a:pPr>
            <a:r>
              <a:rPr lang="en-US" sz="1300" dirty="0">
                <a:solidFill>
                  <a:srgbClr val="A0BFD8"/>
                </a:solidFill>
                <a:latin typeface="Calibri" pitchFamily="34" charset="0"/>
                <a:ea typeface="Calibri" pitchFamily="34" charset="-122"/>
                <a:cs typeface="Calibri" pitchFamily="34" charset="-120"/>
              </a:rPr>
              <a:t>Module 01 covered:</a:t>
            </a:r>
            <a:endParaRPr lang="en-US" sz="1300" dirty="0"/>
          </a:p>
        </p:txBody>
      </p:sp>
      <p:sp>
        <p:nvSpPr>
          <p:cNvPr id="4" name="Shape 2"/>
          <p:cNvSpPr/>
          <p:nvPr/>
        </p:nvSpPr>
        <p:spPr>
          <a:xfrm>
            <a:off x="548640" y="1005840"/>
            <a:ext cx="54864" cy="347472"/>
          </a:xfrm>
          <a:prstGeom prst="rect">
            <a:avLst/>
          </a:prstGeom>
          <a:solidFill>
            <a:srgbClr val="028090"/>
          </a:solidFill>
          <a:ln w="12700">
            <a:solidFill>
              <a:srgbClr val="028090"/>
            </a:solidFill>
            <a:prstDash val="solid"/>
          </a:ln>
        </p:spPr>
      </p:sp>
      <p:sp>
        <p:nvSpPr>
          <p:cNvPr id="5" name="Text 3"/>
          <p:cNvSpPr/>
          <p:nvPr/>
        </p:nvSpPr>
        <p:spPr>
          <a:xfrm>
            <a:off x="777240" y="1005840"/>
            <a:ext cx="740664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5 most common problems in corporate decks</a:t>
            </a:r>
            <a:endParaRPr lang="en-US" sz="1500" dirty="0"/>
          </a:p>
        </p:txBody>
      </p:sp>
      <p:sp>
        <p:nvSpPr>
          <p:cNvPr id="6" name="Shape 4"/>
          <p:cNvSpPr/>
          <p:nvPr/>
        </p:nvSpPr>
        <p:spPr>
          <a:xfrm>
            <a:off x="548640" y="1755648"/>
            <a:ext cx="54864" cy="347472"/>
          </a:xfrm>
          <a:prstGeom prst="rect">
            <a:avLst/>
          </a:prstGeom>
          <a:solidFill>
            <a:srgbClr val="028090"/>
          </a:solidFill>
          <a:ln w="12700">
            <a:solidFill>
              <a:srgbClr val="028090"/>
            </a:solidFill>
            <a:prstDash val="solid"/>
          </a:ln>
        </p:spPr>
      </p:sp>
      <p:sp>
        <p:nvSpPr>
          <p:cNvPr id="7" name="Text 5"/>
          <p:cNvSpPr/>
          <p:nvPr/>
        </p:nvSpPr>
        <p:spPr>
          <a:xfrm>
            <a:off x="777240" y="1755648"/>
            <a:ext cx="740664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Where AI helps and where the thinking stays with you</a:t>
            </a:r>
            <a:endParaRPr lang="en-US" sz="1500" dirty="0"/>
          </a:p>
        </p:txBody>
      </p:sp>
      <p:sp>
        <p:nvSpPr>
          <p:cNvPr id="8" name="Shape 6"/>
          <p:cNvSpPr/>
          <p:nvPr/>
        </p:nvSpPr>
        <p:spPr>
          <a:xfrm>
            <a:off x="548640" y="2505456"/>
            <a:ext cx="54864" cy="347472"/>
          </a:xfrm>
          <a:prstGeom prst="rect">
            <a:avLst/>
          </a:prstGeom>
          <a:solidFill>
            <a:srgbClr val="028090"/>
          </a:solidFill>
          <a:ln w="12700">
            <a:solidFill>
              <a:srgbClr val="028090"/>
            </a:solidFill>
            <a:prstDash val="solid"/>
          </a:ln>
        </p:spPr>
      </p:sp>
      <p:sp>
        <p:nvSpPr>
          <p:cNvPr id="9" name="Text 7"/>
          <p:cNvSpPr/>
          <p:nvPr/>
        </p:nvSpPr>
        <p:spPr>
          <a:xfrm>
            <a:off x="777240" y="2505456"/>
            <a:ext cx="740664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limitations of free AI tools for presentations</a:t>
            </a:r>
            <a:endParaRPr lang="en-US" sz="1500" dirty="0"/>
          </a:p>
        </p:txBody>
      </p:sp>
      <p:sp>
        <p:nvSpPr>
          <p:cNvPr id="10" name="Shape 8"/>
          <p:cNvSpPr/>
          <p:nvPr/>
        </p:nvSpPr>
        <p:spPr>
          <a:xfrm>
            <a:off x="548640" y="3255264"/>
            <a:ext cx="54864" cy="347472"/>
          </a:xfrm>
          <a:prstGeom prst="rect">
            <a:avLst/>
          </a:prstGeom>
          <a:solidFill>
            <a:srgbClr val="028090"/>
          </a:solidFill>
          <a:ln w="12700">
            <a:solidFill>
              <a:srgbClr val="028090"/>
            </a:solidFill>
            <a:prstDash val="solid"/>
          </a:ln>
        </p:spPr>
      </p:sp>
      <p:sp>
        <p:nvSpPr>
          <p:cNvPr id="11" name="Text 9"/>
          <p:cNvSpPr/>
          <p:nvPr/>
        </p:nvSpPr>
        <p:spPr>
          <a:xfrm>
            <a:off x="777240" y="3255264"/>
            <a:ext cx="740664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Your scenario: the Nusantara Capital before deck</a:t>
            </a:r>
            <a:endParaRPr lang="en-US" sz="1500" dirty="0"/>
          </a:p>
        </p:txBody>
      </p:sp>
      <p:sp>
        <p:nvSpPr>
          <p:cNvPr id="12" name="Shape 10"/>
          <p:cNvSpPr/>
          <p:nvPr/>
        </p:nvSpPr>
        <p:spPr>
          <a:xfrm>
            <a:off x="548640" y="4114800"/>
            <a:ext cx="7772400" cy="512064"/>
          </a:xfrm>
          <a:prstGeom prst="rect">
            <a:avLst/>
          </a:prstGeom>
          <a:solidFill>
            <a:srgbClr val="028090"/>
          </a:solidFill>
          <a:ln w="12700">
            <a:solidFill>
              <a:srgbClr val="028090"/>
            </a:solidFill>
            <a:prstDash val="solid"/>
          </a:ln>
        </p:spPr>
      </p:sp>
      <p:sp>
        <p:nvSpPr>
          <p:cNvPr id="13" name="Text 11"/>
          <p:cNvSpPr/>
          <p:nvPr/>
        </p:nvSpPr>
        <p:spPr>
          <a:xfrm>
            <a:off x="548640" y="4114800"/>
            <a:ext cx="7772400"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Next: Module 02 / Structuring a Clear Message Before Design</a:t>
            </a:r>
            <a:endParaRPr lang="en-US" sz="1200" dirty="0"/>
          </a:p>
        </p:txBody>
      </p:sp>
      <p:sp>
        <p:nvSpPr>
          <p:cNvPr id="14" name="Text 12"/>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10 /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01 - Rethinking Presentations in the Age of AI</dc:title>
  <dc:subject>PptxGenJS Presentation</dc:subject>
  <dc:creator>PptxGenJS</dc:creator>
  <cp:lastModifiedBy>PptxGenJS</cp:lastModifiedBy>
  <cp:revision>1</cp:revision>
  <dcterms:created xsi:type="dcterms:W3CDTF">2026-05-02T15:24:16Z</dcterms:created>
  <dcterms:modified xsi:type="dcterms:W3CDTF">2026-05-02T15:24:16Z</dcterms:modified>
</cp:coreProperties>
</file>