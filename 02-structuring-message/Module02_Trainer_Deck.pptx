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is about thinking before doing. Most participants will want to open PowerPoint immediately. Your job in the first two minutes is to slow that down.
Open with: "Before we touch any slides today, I want you to answer three questions. Most people never ask them. That is why most decks fail."
The 45 minutes covers: three questions, the SCR storyline structure, a brief intro to data storytelling, and a planning exercise that participants will use for the rest of the two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question out loud and give participants 10 seconds to think. Do not wait for hands — just ask directly: "Who wrote anything down before their last presentation? Who had a doc or a note with the audience and the goal?"
Usually 1 or 2 people out of a group of 12 will say yes.
Use the silence to make the point: "The reason most presentations fail is not design. It is that the person building them never answered the three questions we are about to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question using the Nusantara Capital example. The table is the key teaching tool here.
Point out that the "weak" answers are what most people write (if they write anything at all). They describe a topic, not an intent.
The "strong" answers change everything — the slide order, what gets cut, what gets emphasised, how the deck ends.
Ask: "What is the difference between 'show Q3 results' and 'get approval to move headcount'?" The answer: one is a presentation, one is a decision meeting. They need completely different decks.
Give participants 3 minutes to fill in their own three answers for the Nusantara Capital deck. Then compare in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pause point — let them read it before you speak.
The verb test is a practical rule participants can apply immediately: "If you cannot find the verb in your key message, it is not a message yet."
Common trap: "Our Q3 performance exceeded target" sounds like a message but it is still a report. Push further: "...and therefore what?" That follow-up usually surfaces the real message: we need approval, we need resources, we need a decision.
After this slide, give participants 2 minutes to write their own key message sentence for the Nusantara Capital deck. Then ask 2 or 3 people to read theirs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SCR structure simply: "Before you plan slides, plan beats. What does the audience need to know, in what order, to arrive at the right conclusion?"
The image on the left represents the three-block flow visually.
Key point to make: most corporate decks follow an agenda structure (context, data, data, data, summary) rather than a narrative structure. The difference is that an agenda structure informs while a narrative structure moves people toward a decision.
Ask participants to look at the before deck's current slide order and try to map it to SCR. It will not fit cleanly — and that is the point. The before deck has no complication and no resolution. It just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the SCR analysis concrete using the actual before deck participants have open.
Walk through it row by row. The most important rows are Key Message (missing entirely) and Resolution (buried in bullet 4 of slide 11).
Ask: "If you were the CEO and you had 8 minutes for this presentation, what would you need to know first?" The answer is always the complication and the resolution — not the background.
This is the moment participants usually have a genuine realisation. The before deck is not failing because of design. It is failing because it has no narrative.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 5 minutes maximum. Participants will go much deeper on data in Module 04.
The goal here is just to plant the three principles early so participants can start applying them immediately when they work on the before deck.
The most useful one to dwell on is principle 2 (insight in the title). Ask participants to open the before deck and look at slide 4 (Q3 Revenue Performance). Ask: "What is the point of this slide?" Nobody will be able to say. Then show them how a rewritten title changes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participants 8 minutes to fill in the template. They can do this on paper, in a notes app, or directly in a Word doc.
Tell them: "This is not a one-time exercise. This brief becomes your working reference for everything we do in Modules 03 through 08. If you get stuck on a slide later, come back to this and check whether what you are building still serves your key message."
Walk around the room while they work. The most common issue is the key message field — most people will still write a topic. If you see this, prompt them: "What do you need the CEO to do after this presentation?" That usually unlocks the real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after participants share their key message sentences.
When you hear a topic ("Q3 Performance Update", "Resource Planning"), show this slide and say: "This is the most common version of the mistake. It sounds like a message but it is still a label."
Then model the correction: "Take your topic and ask yourself: so what? Keep asking until you have a sentence that a person could agree or disagree with. That is a message."
Examples of the transformation:
- "Q3 Performance" becomes "We exceeded Q3 targets and need one decision to protect Q4"
- "Resource Planning" becomes "We are understaffed on two critical projects and need approval to reallocate"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2 to 3 participants to read their key message sentences out loud. Use the three criteria on screen to give feedback.
Keep feedback brief and constructive. The goal is not perfection — it is the habit of thinking in messages rather than topics.
If a sentence passes all three criteria, call it out: "That is a message. That is what the whole deck should be built around."
After the share-out, transition: "You now know what you are trying to say. Module 03 is where we go into PowerPoint and start making the slides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quickly, one sentence per point.
Remind participants to keep their working brief visible for the rest of the workshop. Everything from Module 03 onwards should be tested against the key message they just wrote.
Transition: "Now that you know what the deck needs to say, Module 03 is where we start fixing it inside PowerPoint. We will use AI to rewrite slide titles, trim content, and generate speaker notes. Open your before deck — we are going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28090"/>
          </a:solidFill>
          <a:ln w="12700">
            <a:solidFill>
              <a:srgbClr val="028090"/>
            </a:solidFill>
            <a:prstDash val="solid"/>
          </a:ln>
        </p:spPr>
      </p:sp>
      <p:sp>
        <p:nvSpPr>
          <p:cNvPr id="3" name="Text 1"/>
          <p:cNvSpPr/>
          <p:nvPr/>
        </p:nvSpPr>
        <p:spPr>
          <a:xfrm>
            <a:off x="548640" y="822960"/>
            <a:ext cx="7772400" cy="365760"/>
          </a:xfrm>
          <a:prstGeom prst="rect">
            <a:avLst/>
          </a:prstGeom>
          <a:noFill/>
          <a:ln/>
        </p:spPr>
        <p:txBody>
          <a:bodyPr wrap="square" lIns="0" tIns="0" rIns="0" bIns="0" rtlCol="0" anchor="ctr"/>
          <a:lstStyle/>
          <a:p>
            <a:pPr indent="0" marL="0">
              <a:buNone/>
            </a:pPr>
            <a:r>
              <a:rPr lang="en-US" sz="1100" b="1" spc="500" kern="0" dirty="0">
                <a:solidFill>
                  <a:srgbClr val="028090"/>
                </a:solidFill>
                <a:latin typeface="Calibri" pitchFamily="34" charset="0"/>
                <a:ea typeface="Calibri" pitchFamily="34" charset="-122"/>
                <a:cs typeface="Calibri" pitchFamily="34" charset="-120"/>
              </a:rPr>
              <a:t>MODULE 02</a:t>
            </a:r>
            <a:endParaRPr lang="en-US" sz="1100" dirty="0"/>
          </a:p>
        </p:txBody>
      </p:sp>
      <p:sp>
        <p:nvSpPr>
          <p:cNvPr id="4" name="Text 2"/>
          <p:cNvSpPr/>
          <p:nvPr/>
        </p:nvSpPr>
        <p:spPr>
          <a:xfrm>
            <a:off x="548640" y="1234440"/>
            <a:ext cx="5303520" cy="1828800"/>
          </a:xfrm>
          <a:prstGeom prst="rect">
            <a:avLst/>
          </a:prstGeom>
          <a:noFill/>
          <a:ln/>
        </p:spPr>
        <p:txBody>
          <a:bodyPr wrap="square" lIns="0" tIns="0" rIns="0" bIns="0" rtlCol="0" anchor="ctr"/>
          <a:lstStyle/>
          <a:p>
            <a:pPr indent="0" marL="0">
              <a:lnSpc>
                <a:spcPct val="115000"/>
              </a:lnSpc>
              <a:buNone/>
            </a:pPr>
            <a:r>
              <a:rPr lang="en-US" sz="3400" b="1" dirty="0">
                <a:solidFill>
                  <a:srgbClr val="FFFFFF"/>
                </a:solidFill>
                <a:latin typeface="Calibri" pitchFamily="34" charset="0"/>
                <a:ea typeface="Calibri" pitchFamily="34" charset="-122"/>
                <a:cs typeface="Calibri" pitchFamily="34" charset="-120"/>
              </a:rPr>
              <a:t>Structuring a Clear Message</a:t>
            </a:r>
            <a:endParaRPr lang="en-US" sz="3400" dirty="0"/>
          </a:p>
          <a:p>
            <a:pPr indent="0" marL="0">
              <a:lnSpc>
                <a:spcPct val="115000"/>
              </a:lnSpc>
              <a:buNone/>
            </a:pPr>
            <a:r>
              <a:rPr lang="en-US" sz="3400" b="1" dirty="0">
                <a:solidFill>
                  <a:srgbClr val="FFFFFF"/>
                </a:solidFill>
                <a:latin typeface="Calibri" pitchFamily="34" charset="0"/>
                <a:ea typeface="Calibri" pitchFamily="34" charset="-122"/>
                <a:cs typeface="Calibri" pitchFamily="34" charset="-120"/>
              </a:rPr>
              <a:t>Before Design</a:t>
            </a:r>
            <a:endParaRPr lang="en-US" sz="3400" dirty="0"/>
          </a:p>
        </p:txBody>
      </p:sp>
      <p:sp>
        <p:nvSpPr>
          <p:cNvPr id="5" name="Text 3"/>
          <p:cNvSpPr/>
          <p:nvPr/>
        </p:nvSpPr>
        <p:spPr>
          <a:xfrm>
            <a:off x="548640" y="3200400"/>
            <a:ext cx="5303520" cy="457200"/>
          </a:xfrm>
          <a:prstGeom prst="rect">
            <a:avLst/>
          </a:prstGeom>
          <a:noFill/>
          <a:ln/>
        </p:spPr>
        <p:txBody>
          <a:bodyPr wrap="square" lIns="0" tIns="0" rIns="0" bIns="0" rtlCol="0" anchor="ctr"/>
          <a:lstStyle/>
          <a:p>
            <a:pPr indent="0" marL="0">
              <a:buNone/>
            </a:pPr>
            <a:r>
              <a:rPr lang="en-US" sz="1400" dirty="0">
                <a:solidFill>
                  <a:srgbClr val="A0BFD8"/>
                </a:solidFill>
                <a:latin typeface="Calibri" pitchFamily="34" charset="0"/>
                <a:ea typeface="Calibri" pitchFamily="34" charset="-122"/>
                <a:cs typeface="Calibri" pitchFamily="34" charset="-120"/>
              </a:rPr>
              <a:t>Know what you are saying before you open a single slide.</a:t>
            </a:r>
            <a:endParaRPr lang="en-US" sz="1400" dirty="0"/>
          </a:p>
        </p:txBody>
      </p:sp>
      <p:sp>
        <p:nvSpPr>
          <p:cNvPr id="6" name="Shape 4"/>
          <p:cNvSpPr/>
          <p:nvPr/>
        </p:nvSpPr>
        <p:spPr>
          <a:xfrm>
            <a:off x="548640" y="3931920"/>
            <a:ext cx="1463040" cy="347472"/>
          </a:xfrm>
          <a:prstGeom prst="rect">
            <a:avLst/>
          </a:prstGeom>
          <a:solidFill>
            <a:srgbClr val="028090"/>
          </a:solidFill>
          <a:ln w="12700">
            <a:solidFill>
              <a:srgbClr val="028090"/>
            </a:solidFill>
            <a:prstDash val="solid"/>
          </a:ln>
        </p:spPr>
      </p:sp>
      <p:sp>
        <p:nvSpPr>
          <p:cNvPr id="7" name="Text 5"/>
          <p:cNvSpPr/>
          <p:nvPr/>
        </p:nvSpPr>
        <p:spPr>
          <a:xfrm>
            <a:off x="548640" y="3931920"/>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45 minutes</a:t>
            </a:r>
            <a:endParaRPr lang="en-US" sz="1000" dirty="0"/>
          </a:p>
        </p:txBody>
      </p:sp>
      <p:pic>
        <p:nvPicPr>
          <p:cNvPr id="8" name="Image 0" descr="preencoded.png">    </p:cNvPr>
          <p:cNvPicPr>
            <a:picLocks noChangeAspect="1"/>
          </p:cNvPicPr>
          <p:nvPr/>
        </p:nvPicPr>
        <p:blipFill>
          <a:blip r:embed="rId1"/>
          <a:srcRect l="0" r="0" t="0" b="0"/>
          <a:stretch/>
        </p:blipFill>
        <p:spPr>
          <a:xfrm>
            <a:off x="6035040" y="457200"/>
            <a:ext cx="2926080" cy="4206240"/>
          </a:xfrm>
          <a:prstGeom prst="rect">
            <a:avLst/>
          </a:prstGeom>
        </p:spPr>
      </p:pic>
      <p:sp>
        <p:nvSpPr>
          <p:cNvPr id="9" name="Shape 6"/>
          <p:cNvSpPr/>
          <p:nvPr/>
        </p:nvSpPr>
        <p:spPr>
          <a:xfrm>
            <a:off x="5669280" y="0"/>
            <a:ext cx="1097280" cy="5143500"/>
          </a:xfrm>
          <a:prstGeom prst="rect">
            <a:avLst/>
          </a:prstGeom>
          <a:solidFill>
            <a:srgbClr val="1E2761"/>
          </a:solidFill>
          <a:ln w="12700">
            <a:solidFill>
              <a:srgbClr val="1E2761">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sp>
      <p:sp>
        <p:nvSpPr>
          <p:cNvPr id="3" name="Text 1"/>
          <p:cNvSpPr/>
          <p:nvPr/>
        </p:nvSpPr>
        <p:spPr>
          <a:xfrm>
            <a:off x="640080" y="640080"/>
            <a:ext cx="5029200" cy="457200"/>
          </a:xfrm>
          <a:prstGeom prst="rect">
            <a:avLst/>
          </a:prstGeom>
          <a:noFill/>
          <a:ln/>
        </p:spPr>
        <p:txBody>
          <a:bodyPr wrap="square" lIns="0" tIns="0" rIns="0" bIns="0" rtlCol="0" anchor="ctr"/>
          <a:lstStyle/>
          <a:p>
            <a:pPr indent="0" marL="0">
              <a:buNone/>
            </a:pPr>
            <a:r>
              <a:rPr lang="en-US" sz="1500" dirty="0">
                <a:solidFill>
                  <a:srgbClr val="A0BFD8"/>
                </a:solidFill>
                <a:latin typeface="Calibri" pitchFamily="34" charset="0"/>
                <a:ea typeface="Calibri" pitchFamily="34" charset="-122"/>
                <a:cs typeface="Calibri" pitchFamily="34" charset="-120"/>
              </a:rPr>
              <a:t>Before your last presentation...</a:t>
            </a:r>
            <a:endParaRPr lang="en-US" sz="1500" dirty="0"/>
          </a:p>
        </p:txBody>
      </p:sp>
      <p:sp>
        <p:nvSpPr>
          <p:cNvPr id="4" name="Text 2"/>
          <p:cNvSpPr/>
          <p:nvPr/>
        </p:nvSpPr>
        <p:spPr>
          <a:xfrm>
            <a:off x="640080" y="1188720"/>
            <a:ext cx="5120640" cy="1828800"/>
          </a:xfrm>
          <a:prstGeom prst="rect">
            <a:avLst/>
          </a:prstGeom>
          <a:noFill/>
          <a:ln/>
        </p:spPr>
        <p:txBody>
          <a:bodyPr wrap="square" lIns="0" tIns="0" rIns="0" bIns="0" rtlCol="0" anchor="ctr"/>
          <a:lstStyle/>
          <a:p>
            <a:pPr indent="0" marL="0">
              <a:lnSpc>
                <a:spcPct val="120000"/>
              </a:lnSpc>
              <a:buNone/>
            </a:pPr>
            <a:r>
              <a:rPr lang="en-US" sz="2200" b="1" dirty="0">
                <a:solidFill>
                  <a:srgbClr val="FFFFFF"/>
                </a:solidFill>
                <a:latin typeface="Calibri" pitchFamily="34" charset="0"/>
                <a:ea typeface="Calibri" pitchFamily="34" charset="-122"/>
                <a:cs typeface="Calibri" pitchFamily="34" charset="-120"/>
              </a:rPr>
              <a:t>Did you write down who the audience was and what you needed them to do?</a:t>
            </a:r>
            <a:endParaRPr lang="en-US" sz="2200" dirty="0"/>
          </a:p>
        </p:txBody>
      </p:sp>
      <p:sp>
        <p:nvSpPr>
          <p:cNvPr id="5" name="Text 3"/>
          <p:cNvSpPr/>
          <p:nvPr/>
        </p:nvSpPr>
        <p:spPr>
          <a:xfrm>
            <a:off x="640080" y="3200400"/>
            <a:ext cx="5029200" cy="822960"/>
          </a:xfrm>
          <a:prstGeom prst="rect">
            <a:avLst/>
          </a:prstGeom>
          <a:noFill/>
          <a:ln/>
        </p:spPr>
        <p:txBody>
          <a:bodyPr wrap="square" lIns="0" tIns="0" rIns="0" bIns="0" rtlCol="0" anchor="ctr"/>
          <a:lstStyle/>
          <a:p>
            <a:pPr indent="0" marL="0">
              <a:lnSpc>
                <a:spcPct val="140000"/>
              </a:lnSpc>
              <a:buNone/>
            </a:pPr>
            <a:r>
              <a:rPr lang="en-US" sz="1400" dirty="0">
                <a:solidFill>
                  <a:srgbClr val="028090"/>
                </a:solidFill>
                <a:latin typeface="Calibri" pitchFamily="34" charset="0"/>
                <a:ea typeface="Calibri" pitchFamily="34" charset="-122"/>
                <a:cs typeface="Calibri" pitchFamily="34" charset="-120"/>
              </a:rPr>
              <a:t>Most people say no.</a:t>
            </a:r>
            <a:endParaRPr lang="en-US" sz="1400" dirty="0"/>
          </a:p>
          <a:p>
            <a:pPr indent="0" marL="0">
              <a:lnSpc>
                <a:spcPct val="140000"/>
              </a:lnSpc>
              <a:buNone/>
            </a:pPr>
            <a:r>
              <a:rPr lang="en-US" sz="1400" dirty="0">
                <a:solidFill>
                  <a:srgbClr val="028090"/>
                </a:solidFill>
                <a:latin typeface="Calibri" pitchFamily="34" charset="0"/>
                <a:ea typeface="Calibri" pitchFamily="34" charset="-122"/>
                <a:cs typeface="Calibri" pitchFamily="34" charset="-120"/>
              </a:rPr>
              <a:t>That is where most presentations go wrong.</a:t>
            </a:r>
            <a:endParaRPr lang="en-US" sz="1400" dirty="0"/>
          </a:p>
        </p:txBody>
      </p:sp>
      <p:pic>
        <p:nvPicPr>
          <p:cNvPr id="6" name="Image 0" descr="preencoded.png">    </p:cNvPr>
          <p:cNvPicPr>
            <a:picLocks noChangeAspect="1"/>
          </p:cNvPicPr>
          <p:nvPr/>
        </p:nvPicPr>
        <p:blipFill>
          <a:blip r:embed="rId1"/>
          <a:srcRect l="0" r="0" t="0" b="0"/>
          <a:stretch/>
        </p:blipFill>
        <p:spPr>
          <a:xfrm>
            <a:off x="6126480" y="274320"/>
            <a:ext cx="2834640" cy="4572000"/>
          </a:xfrm>
          <a:prstGeom prst="rect">
            <a:avLst/>
          </a:prstGeom>
        </p:spPr>
      </p:pic>
      <p:sp>
        <p:nvSpPr>
          <p:cNvPr id="7" name="Shape 4"/>
          <p:cNvSpPr/>
          <p:nvPr/>
        </p:nvSpPr>
        <p:spPr>
          <a:xfrm>
            <a:off x="5760720" y="0"/>
            <a:ext cx="914400" cy="5143500"/>
          </a:xfrm>
          <a:prstGeom prst="rect">
            <a:avLst/>
          </a:prstGeom>
          <a:solidFill>
            <a:srgbClr val="1E2761"/>
          </a:solidFill>
          <a:ln w="12700">
            <a:solidFill>
              <a:srgbClr val="1E2761"/>
            </a:solidFill>
            <a:prstDash val="solid"/>
          </a:ln>
        </p:spPr>
      </p:sp>
      <p:sp>
        <p:nvSpPr>
          <p:cNvPr id="8" name="Text 5"/>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2 / 11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sp>
      <p:sp>
        <p:nvSpPr>
          <p:cNvPr id="3" name="Text 1"/>
          <p:cNvSpPr/>
          <p:nvPr/>
        </p:nvSpPr>
        <p:spPr>
          <a:xfrm>
            <a:off x="502920" y="201168"/>
            <a:ext cx="8138160" cy="502920"/>
          </a:xfrm>
          <a:prstGeom prst="rect">
            <a:avLst/>
          </a:prstGeom>
          <a:noFill/>
          <a:ln/>
        </p:spPr>
        <p:txBody>
          <a:bodyPr wrap="square" lIns="0" tIns="0" rIns="0" bIns="0"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Three questions to answer before opening PowerPoint</a:t>
            </a:r>
            <a:endParaRPr lang="en-US" sz="2200" dirty="0"/>
          </a:p>
        </p:txBody>
      </p:sp>
      <p:sp>
        <p:nvSpPr>
          <p:cNvPr id="4" name="Shape 2"/>
          <p:cNvSpPr/>
          <p:nvPr/>
        </p:nvSpPr>
        <p:spPr>
          <a:xfrm>
            <a:off x="502920" y="749808"/>
            <a:ext cx="8138160" cy="22860"/>
          </a:xfrm>
          <a:prstGeom prst="rect">
            <a:avLst/>
          </a:prstGeom>
          <a:solidFill>
            <a:srgbClr val="E2E6EA"/>
          </a:solidFill>
          <a:ln w="12700">
            <a:solidFill>
              <a:srgbClr val="E2E6EA"/>
            </a:solidFill>
            <a:prstDash val="solid"/>
          </a:ln>
        </p:spPr>
      </p:sp>
      <p:sp>
        <p:nvSpPr>
          <p:cNvPr id="5" name="Shape 3"/>
          <p:cNvSpPr/>
          <p:nvPr/>
        </p:nvSpPr>
        <p:spPr>
          <a:xfrm>
            <a:off x="502920" y="914400"/>
            <a:ext cx="8138160" cy="1234440"/>
          </a:xfrm>
          <a:prstGeom prst="rect">
            <a:avLst/>
          </a:prstGeom>
          <a:solidFill>
            <a:srgbClr val="F8FAFB"/>
          </a:solidFill>
          <a:ln w="12700">
            <a:solidFill>
              <a:srgbClr val="E2E6EA"/>
            </a:solidFill>
            <a:prstDash val="solid"/>
          </a:ln>
        </p:spPr>
      </p:sp>
      <p:sp>
        <p:nvSpPr>
          <p:cNvPr id="6" name="Shape 4"/>
          <p:cNvSpPr/>
          <p:nvPr/>
        </p:nvSpPr>
        <p:spPr>
          <a:xfrm>
            <a:off x="502920" y="914400"/>
            <a:ext cx="457200" cy="1234440"/>
          </a:xfrm>
          <a:prstGeom prst="rect">
            <a:avLst/>
          </a:prstGeom>
          <a:solidFill>
            <a:srgbClr val="1E2761"/>
          </a:solidFill>
          <a:ln w="12700">
            <a:solidFill>
              <a:srgbClr val="1E2761"/>
            </a:solidFill>
            <a:prstDash val="solid"/>
          </a:ln>
        </p:spPr>
      </p:sp>
      <p:sp>
        <p:nvSpPr>
          <p:cNvPr id="7" name="Text 5"/>
          <p:cNvSpPr/>
          <p:nvPr/>
        </p:nvSpPr>
        <p:spPr>
          <a:xfrm>
            <a:off x="502920" y="914400"/>
            <a:ext cx="457200" cy="12344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8" name="Text 6"/>
          <p:cNvSpPr/>
          <p:nvPr/>
        </p:nvSpPr>
        <p:spPr>
          <a:xfrm>
            <a:off x="1051560" y="1005840"/>
            <a:ext cx="320040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Who is the audience?</a:t>
            </a:r>
            <a:endParaRPr lang="en-US" sz="1300" dirty="0"/>
          </a:p>
        </p:txBody>
      </p:sp>
      <p:sp>
        <p:nvSpPr>
          <p:cNvPr id="9" name="Text 7"/>
          <p:cNvSpPr/>
          <p:nvPr/>
        </p:nvSpPr>
        <p:spPr>
          <a:xfrm>
            <a:off x="1051560" y="1389888"/>
            <a:ext cx="548640" cy="256032"/>
          </a:xfrm>
          <a:prstGeom prst="rect">
            <a:avLst/>
          </a:prstGeom>
          <a:noFill/>
          <a:ln/>
        </p:spPr>
        <p:txBody>
          <a:bodyPr wrap="square" lIns="0" tIns="0" rIns="0" bIns="0" rtlCol="0" anchor="ctr"/>
          <a:lstStyle/>
          <a:p>
            <a:pPr indent="0" marL="0">
              <a:buNone/>
            </a:pPr>
            <a:r>
              <a:rPr lang="en-US" sz="900" b="1" dirty="0">
                <a:solidFill>
                  <a:srgbClr val="C0392B"/>
                </a:solidFill>
                <a:latin typeface="Calibri" pitchFamily="34" charset="0"/>
                <a:ea typeface="Calibri" pitchFamily="34" charset="-122"/>
                <a:cs typeface="Calibri" pitchFamily="34" charset="-120"/>
              </a:rPr>
              <a:t>Weak:</a:t>
            </a:r>
            <a:endParaRPr lang="en-US" sz="900" dirty="0"/>
          </a:p>
        </p:txBody>
      </p:sp>
      <p:sp>
        <p:nvSpPr>
          <p:cNvPr id="10" name="Text 8"/>
          <p:cNvSpPr/>
          <p:nvPr/>
        </p:nvSpPr>
        <p:spPr>
          <a:xfrm>
            <a:off x="1600200" y="1389888"/>
            <a:ext cx="2560320" cy="256032"/>
          </a:xfrm>
          <a:prstGeom prst="rect">
            <a:avLst/>
          </a:prstGeom>
          <a:noFill/>
          <a:ln/>
        </p:spPr>
        <p:txBody>
          <a:bodyPr wrap="square" lIns="0" tIns="0" rIns="0" bIns="0" rtlCol="0" anchor="ctr"/>
          <a:lstStyle/>
          <a:p>
            <a:pPr indent="0" marL="0">
              <a:buNone/>
            </a:pPr>
            <a:r>
              <a:rPr lang="en-US" sz="1000" i="1" dirty="0">
                <a:solidFill>
                  <a:srgbClr val="4A5568"/>
                </a:solidFill>
                <a:latin typeface="Calibri" pitchFamily="34" charset="0"/>
                <a:ea typeface="Calibri" pitchFamily="34" charset="-122"/>
                <a:cs typeface="Calibri" pitchFamily="34" charset="-120"/>
              </a:rPr>
              <a:t>Senior leadership</a:t>
            </a:r>
            <a:endParaRPr lang="en-US" sz="1000" dirty="0"/>
          </a:p>
        </p:txBody>
      </p:sp>
      <p:sp>
        <p:nvSpPr>
          <p:cNvPr id="11" name="Text 9"/>
          <p:cNvSpPr/>
          <p:nvPr/>
        </p:nvSpPr>
        <p:spPr>
          <a:xfrm>
            <a:off x="1051560" y="1719072"/>
            <a:ext cx="594360" cy="256032"/>
          </a:xfrm>
          <a:prstGeom prst="rect">
            <a:avLst/>
          </a:prstGeom>
          <a:noFill/>
          <a:ln/>
        </p:spPr>
        <p:txBody>
          <a:bodyPr wrap="square" lIns="0" tIns="0" rIns="0" bIns="0" rtlCol="0" anchor="ctr"/>
          <a:lstStyle/>
          <a:p>
            <a:pPr indent="0" marL="0">
              <a:buNone/>
            </a:pPr>
            <a:r>
              <a:rPr lang="en-US" sz="900" b="1" dirty="0">
                <a:solidFill>
                  <a:srgbClr val="27AE60"/>
                </a:solidFill>
                <a:latin typeface="Calibri" pitchFamily="34" charset="0"/>
                <a:ea typeface="Calibri" pitchFamily="34" charset="-122"/>
                <a:cs typeface="Calibri" pitchFamily="34" charset="-120"/>
              </a:rPr>
              <a:t>Strong:</a:t>
            </a:r>
            <a:endParaRPr lang="en-US" sz="900" dirty="0"/>
          </a:p>
        </p:txBody>
      </p:sp>
      <p:sp>
        <p:nvSpPr>
          <p:cNvPr id="12" name="Text 10"/>
          <p:cNvSpPr/>
          <p:nvPr/>
        </p:nvSpPr>
        <p:spPr>
          <a:xfrm>
            <a:off x="1645920" y="1719072"/>
            <a:ext cx="6858000" cy="256032"/>
          </a:xfrm>
          <a:prstGeom prst="rect">
            <a:avLst/>
          </a:prstGeom>
          <a:noFill/>
          <a:ln/>
        </p:spPr>
        <p:txBody>
          <a:bodyPr wrap="square" lIns="0" tIns="0" rIns="0" bIns="0" rtlCol="0" anchor="ctr"/>
          <a:lstStyle/>
          <a:p>
            <a:pPr indent="0" marL="0">
              <a:buNone/>
            </a:pPr>
            <a:r>
              <a:rPr lang="en-US" sz="1000" dirty="0">
                <a:solidFill>
                  <a:srgbClr val="1A1A2E"/>
                </a:solidFill>
                <a:latin typeface="Calibri" pitchFamily="34" charset="0"/>
                <a:ea typeface="Calibri" pitchFamily="34" charset="-122"/>
                <a:cs typeface="Calibri" pitchFamily="34" charset="-120"/>
              </a:rPr>
              <a:t>CEO and two division heads who need to decide on Q4 resource allocation by end of month</a:t>
            </a:r>
            <a:endParaRPr lang="en-US" sz="1000" dirty="0"/>
          </a:p>
        </p:txBody>
      </p:sp>
      <p:sp>
        <p:nvSpPr>
          <p:cNvPr id="13" name="Shape 11"/>
          <p:cNvSpPr/>
          <p:nvPr/>
        </p:nvSpPr>
        <p:spPr>
          <a:xfrm>
            <a:off x="502920" y="2286000"/>
            <a:ext cx="8138160" cy="1234440"/>
          </a:xfrm>
          <a:prstGeom prst="rect">
            <a:avLst/>
          </a:prstGeom>
          <a:solidFill>
            <a:srgbClr val="FFFFFF"/>
          </a:solidFill>
          <a:ln w="12700">
            <a:solidFill>
              <a:srgbClr val="E2E6EA"/>
            </a:solidFill>
            <a:prstDash val="solid"/>
          </a:ln>
        </p:spPr>
      </p:sp>
      <p:sp>
        <p:nvSpPr>
          <p:cNvPr id="14" name="Shape 12"/>
          <p:cNvSpPr/>
          <p:nvPr/>
        </p:nvSpPr>
        <p:spPr>
          <a:xfrm>
            <a:off x="502920" y="2286000"/>
            <a:ext cx="457200" cy="1234440"/>
          </a:xfrm>
          <a:prstGeom prst="rect">
            <a:avLst/>
          </a:prstGeom>
          <a:solidFill>
            <a:srgbClr val="1E2761"/>
          </a:solidFill>
          <a:ln w="12700">
            <a:solidFill>
              <a:srgbClr val="1E2761"/>
            </a:solidFill>
            <a:prstDash val="solid"/>
          </a:ln>
        </p:spPr>
      </p:sp>
      <p:sp>
        <p:nvSpPr>
          <p:cNvPr id="15" name="Text 13"/>
          <p:cNvSpPr/>
          <p:nvPr/>
        </p:nvSpPr>
        <p:spPr>
          <a:xfrm>
            <a:off x="502920" y="2286000"/>
            <a:ext cx="457200" cy="12344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6" name="Text 14"/>
          <p:cNvSpPr/>
          <p:nvPr/>
        </p:nvSpPr>
        <p:spPr>
          <a:xfrm>
            <a:off x="1051560" y="2377440"/>
            <a:ext cx="320040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What is the purpose?</a:t>
            </a:r>
            <a:endParaRPr lang="en-US" sz="1300" dirty="0"/>
          </a:p>
        </p:txBody>
      </p:sp>
      <p:sp>
        <p:nvSpPr>
          <p:cNvPr id="17" name="Text 15"/>
          <p:cNvSpPr/>
          <p:nvPr/>
        </p:nvSpPr>
        <p:spPr>
          <a:xfrm>
            <a:off x="1051560" y="2761488"/>
            <a:ext cx="548640" cy="256032"/>
          </a:xfrm>
          <a:prstGeom prst="rect">
            <a:avLst/>
          </a:prstGeom>
          <a:noFill/>
          <a:ln/>
        </p:spPr>
        <p:txBody>
          <a:bodyPr wrap="square" lIns="0" tIns="0" rIns="0" bIns="0" rtlCol="0" anchor="ctr"/>
          <a:lstStyle/>
          <a:p>
            <a:pPr indent="0" marL="0">
              <a:buNone/>
            </a:pPr>
            <a:r>
              <a:rPr lang="en-US" sz="900" b="1" dirty="0">
                <a:solidFill>
                  <a:srgbClr val="C0392B"/>
                </a:solidFill>
                <a:latin typeface="Calibri" pitchFamily="34" charset="0"/>
                <a:ea typeface="Calibri" pitchFamily="34" charset="-122"/>
                <a:cs typeface="Calibri" pitchFamily="34" charset="-120"/>
              </a:rPr>
              <a:t>Weak:</a:t>
            </a:r>
            <a:endParaRPr lang="en-US" sz="900" dirty="0"/>
          </a:p>
        </p:txBody>
      </p:sp>
      <p:sp>
        <p:nvSpPr>
          <p:cNvPr id="18" name="Text 16"/>
          <p:cNvSpPr/>
          <p:nvPr/>
        </p:nvSpPr>
        <p:spPr>
          <a:xfrm>
            <a:off x="1600200" y="2761488"/>
            <a:ext cx="2560320" cy="256032"/>
          </a:xfrm>
          <a:prstGeom prst="rect">
            <a:avLst/>
          </a:prstGeom>
          <a:noFill/>
          <a:ln/>
        </p:spPr>
        <p:txBody>
          <a:bodyPr wrap="square" lIns="0" tIns="0" rIns="0" bIns="0" rtlCol="0" anchor="ctr"/>
          <a:lstStyle/>
          <a:p>
            <a:pPr indent="0" marL="0">
              <a:buNone/>
            </a:pPr>
            <a:r>
              <a:rPr lang="en-US" sz="1000" i="1" dirty="0">
                <a:solidFill>
                  <a:srgbClr val="4A5568"/>
                </a:solidFill>
                <a:latin typeface="Calibri" pitchFamily="34" charset="0"/>
                <a:ea typeface="Calibri" pitchFamily="34" charset="-122"/>
                <a:cs typeface="Calibri" pitchFamily="34" charset="-120"/>
              </a:rPr>
              <a:t>Show Q3 results</a:t>
            </a:r>
            <a:endParaRPr lang="en-US" sz="1000" dirty="0"/>
          </a:p>
        </p:txBody>
      </p:sp>
      <p:sp>
        <p:nvSpPr>
          <p:cNvPr id="19" name="Text 17"/>
          <p:cNvSpPr/>
          <p:nvPr/>
        </p:nvSpPr>
        <p:spPr>
          <a:xfrm>
            <a:off x="1051560" y="3090672"/>
            <a:ext cx="594360" cy="256032"/>
          </a:xfrm>
          <a:prstGeom prst="rect">
            <a:avLst/>
          </a:prstGeom>
          <a:noFill/>
          <a:ln/>
        </p:spPr>
        <p:txBody>
          <a:bodyPr wrap="square" lIns="0" tIns="0" rIns="0" bIns="0" rtlCol="0" anchor="ctr"/>
          <a:lstStyle/>
          <a:p>
            <a:pPr indent="0" marL="0">
              <a:buNone/>
            </a:pPr>
            <a:r>
              <a:rPr lang="en-US" sz="900" b="1" dirty="0">
                <a:solidFill>
                  <a:srgbClr val="27AE60"/>
                </a:solidFill>
                <a:latin typeface="Calibri" pitchFamily="34" charset="0"/>
                <a:ea typeface="Calibri" pitchFamily="34" charset="-122"/>
                <a:cs typeface="Calibri" pitchFamily="34" charset="-120"/>
              </a:rPr>
              <a:t>Strong:</a:t>
            </a:r>
            <a:endParaRPr lang="en-US" sz="900" dirty="0"/>
          </a:p>
        </p:txBody>
      </p:sp>
      <p:sp>
        <p:nvSpPr>
          <p:cNvPr id="20" name="Text 18"/>
          <p:cNvSpPr/>
          <p:nvPr/>
        </p:nvSpPr>
        <p:spPr>
          <a:xfrm>
            <a:off x="1645920" y="3090672"/>
            <a:ext cx="6858000" cy="256032"/>
          </a:xfrm>
          <a:prstGeom prst="rect">
            <a:avLst/>
          </a:prstGeom>
          <a:noFill/>
          <a:ln/>
        </p:spPr>
        <p:txBody>
          <a:bodyPr wrap="square" lIns="0" tIns="0" rIns="0" bIns="0" rtlCol="0" anchor="ctr"/>
          <a:lstStyle/>
          <a:p>
            <a:pPr indent="0" marL="0">
              <a:buNone/>
            </a:pPr>
            <a:r>
              <a:rPr lang="en-US" sz="1000" dirty="0">
                <a:solidFill>
                  <a:srgbClr val="1A1A2E"/>
                </a:solidFill>
                <a:latin typeface="Calibri" pitchFamily="34" charset="0"/>
                <a:ea typeface="Calibri" pitchFamily="34" charset="-122"/>
                <a:cs typeface="Calibri" pitchFamily="34" charset="-120"/>
              </a:rPr>
              <a:t>Get approval to move two headcount from Project A to Project B</a:t>
            </a:r>
            <a:endParaRPr lang="en-US" sz="1000" dirty="0"/>
          </a:p>
        </p:txBody>
      </p:sp>
      <p:sp>
        <p:nvSpPr>
          <p:cNvPr id="21" name="Shape 19"/>
          <p:cNvSpPr/>
          <p:nvPr/>
        </p:nvSpPr>
        <p:spPr>
          <a:xfrm>
            <a:off x="502920" y="3657600"/>
            <a:ext cx="8138160" cy="1234440"/>
          </a:xfrm>
          <a:prstGeom prst="rect">
            <a:avLst/>
          </a:prstGeom>
          <a:solidFill>
            <a:srgbClr val="F8FAFB"/>
          </a:solidFill>
          <a:ln w="12700">
            <a:solidFill>
              <a:srgbClr val="E2E6EA"/>
            </a:solidFill>
            <a:prstDash val="solid"/>
          </a:ln>
        </p:spPr>
      </p:sp>
      <p:sp>
        <p:nvSpPr>
          <p:cNvPr id="22" name="Shape 20"/>
          <p:cNvSpPr/>
          <p:nvPr/>
        </p:nvSpPr>
        <p:spPr>
          <a:xfrm>
            <a:off x="502920" y="3657600"/>
            <a:ext cx="457200" cy="1234440"/>
          </a:xfrm>
          <a:prstGeom prst="rect">
            <a:avLst/>
          </a:prstGeom>
          <a:solidFill>
            <a:srgbClr val="1E2761"/>
          </a:solidFill>
          <a:ln w="12700">
            <a:solidFill>
              <a:srgbClr val="1E2761"/>
            </a:solidFill>
            <a:prstDash val="solid"/>
          </a:ln>
        </p:spPr>
      </p:sp>
      <p:sp>
        <p:nvSpPr>
          <p:cNvPr id="23" name="Text 21"/>
          <p:cNvSpPr/>
          <p:nvPr/>
        </p:nvSpPr>
        <p:spPr>
          <a:xfrm>
            <a:off x="502920" y="3657600"/>
            <a:ext cx="457200" cy="12344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24" name="Text 22"/>
          <p:cNvSpPr/>
          <p:nvPr/>
        </p:nvSpPr>
        <p:spPr>
          <a:xfrm>
            <a:off x="1051560" y="3749040"/>
            <a:ext cx="320040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What is the key message?</a:t>
            </a:r>
            <a:endParaRPr lang="en-US" sz="1300" dirty="0"/>
          </a:p>
        </p:txBody>
      </p:sp>
      <p:sp>
        <p:nvSpPr>
          <p:cNvPr id="25" name="Text 23"/>
          <p:cNvSpPr/>
          <p:nvPr/>
        </p:nvSpPr>
        <p:spPr>
          <a:xfrm>
            <a:off x="1051560" y="4133088"/>
            <a:ext cx="548640" cy="256032"/>
          </a:xfrm>
          <a:prstGeom prst="rect">
            <a:avLst/>
          </a:prstGeom>
          <a:noFill/>
          <a:ln/>
        </p:spPr>
        <p:txBody>
          <a:bodyPr wrap="square" lIns="0" tIns="0" rIns="0" bIns="0" rtlCol="0" anchor="ctr"/>
          <a:lstStyle/>
          <a:p>
            <a:pPr indent="0" marL="0">
              <a:buNone/>
            </a:pPr>
            <a:r>
              <a:rPr lang="en-US" sz="900" b="1" dirty="0">
                <a:solidFill>
                  <a:srgbClr val="C0392B"/>
                </a:solidFill>
                <a:latin typeface="Calibri" pitchFamily="34" charset="0"/>
                <a:ea typeface="Calibri" pitchFamily="34" charset="-122"/>
                <a:cs typeface="Calibri" pitchFamily="34" charset="-120"/>
              </a:rPr>
              <a:t>Weak:</a:t>
            </a:r>
            <a:endParaRPr lang="en-US" sz="900" dirty="0"/>
          </a:p>
        </p:txBody>
      </p:sp>
      <p:sp>
        <p:nvSpPr>
          <p:cNvPr id="26" name="Text 24"/>
          <p:cNvSpPr/>
          <p:nvPr/>
        </p:nvSpPr>
        <p:spPr>
          <a:xfrm>
            <a:off x="1600200" y="4133088"/>
            <a:ext cx="2560320" cy="256032"/>
          </a:xfrm>
          <a:prstGeom prst="rect">
            <a:avLst/>
          </a:prstGeom>
          <a:noFill/>
          <a:ln/>
        </p:spPr>
        <p:txBody>
          <a:bodyPr wrap="square" lIns="0" tIns="0" rIns="0" bIns="0" rtlCol="0" anchor="ctr"/>
          <a:lstStyle/>
          <a:p>
            <a:pPr indent="0" marL="0">
              <a:buNone/>
            </a:pPr>
            <a:r>
              <a:rPr lang="en-US" sz="1000" i="1" dirty="0">
                <a:solidFill>
                  <a:srgbClr val="4A5568"/>
                </a:solidFill>
                <a:latin typeface="Calibri" pitchFamily="34" charset="0"/>
                <a:ea typeface="Calibri" pitchFamily="34" charset="-122"/>
                <a:cs typeface="Calibri" pitchFamily="34" charset="-120"/>
              </a:rPr>
              <a:t>We had a good quarter</a:t>
            </a:r>
            <a:endParaRPr lang="en-US" sz="1000" dirty="0"/>
          </a:p>
        </p:txBody>
      </p:sp>
      <p:sp>
        <p:nvSpPr>
          <p:cNvPr id="27" name="Text 25"/>
          <p:cNvSpPr/>
          <p:nvPr/>
        </p:nvSpPr>
        <p:spPr>
          <a:xfrm>
            <a:off x="1051560" y="4462272"/>
            <a:ext cx="594360" cy="256032"/>
          </a:xfrm>
          <a:prstGeom prst="rect">
            <a:avLst/>
          </a:prstGeom>
          <a:noFill/>
          <a:ln/>
        </p:spPr>
        <p:txBody>
          <a:bodyPr wrap="square" lIns="0" tIns="0" rIns="0" bIns="0" rtlCol="0" anchor="ctr"/>
          <a:lstStyle/>
          <a:p>
            <a:pPr indent="0" marL="0">
              <a:buNone/>
            </a:pPr>
            <a:r>
              <a:rPr lang="en-US" sz="900" b="1" dirty="0">
                <a:solidFill>
                  <a:srgbClr val="27AE60"/>
                </a:solidFill>
                <a:latin typeface="Calibri" pitchFamily="34" charset="0"/>
                <a:ea typeface="Calibri" pitchFamily="34" charset="-122"/>
                <a:cs typeface="Calibri" pitchFamily="34" charset="-120"/>
              </a:rPr>
              <a:t>Strong:</a:t>
            </a:r>
            <a:endParaRPr lang="en-US" sz="900" dirty="0"/>
          </a:p>
        </p:txBody>
      </p:sp>
      <p:sp>
        <p:nvSpPr>
          <p:cNvPr id="28" name="Text 26"/>
          <p:cNvSpPr/>
          <p:nvPr/>
        </p:nvSpPr>
        <p:spPr>
          <a:xfrm>
            <a:off x="1645920" y="4462272"/>
            <a:ext cx="6858000" cy="256032"/>
          </a:xfrm>
          <a:prstGeom prst="rect">
            <a:avLst/>
          </a:prstGeom>
          <a:noFill/>
          <a:ln/>
        </p:spPr>
        <p:txBody>
          <a:bodyPr wrap="square" lIns="0" tIns="0" rIns="0" bIns="0" rtlCol="0" anchor="ctr"/>
          <a:lstStyle/>
          <a:p>
            <a:pPr indent="0" marL="0">
              <a:buNone/>
            </a:pPr>
            <a:r>
              <a:rPr lang="en-US" sz="1000" dirty="0">
                <a:solidFill>
                  <a:srgbClr val="1A1A2E"/>
                </a:solidFill>
                <a:latin typeface="Calibri" pitchFamily="34" charset="0"/>
                <a:ea typeface="Calibri" pitchFamily="34" charset="-122"/>
                <a:cs typeface="Calibri" pitchFamily="34" charset="-120"/>
              </a:rPr>
              <a:t>We exceeded revenue targets and need one decision to maintain that in Q4</a:t>
            </a:r>
            <a:endParaRPr lang="en-US" sz="1000" dirty="0"/>
          </a:p>
        </p:txBody>
      </p:sp>
      <p:sp>
        <p:nvSpPr>
          <p:cNvPr id="29" name="Text 27"/>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3 / 11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8090"/>
        </a:solidFill>
      </p:bgPr>
    </p:bg>
    <p:spTree>
      <p:nvGrpSpPr>
        <p:cNvPr id="1" name=""/>
        <p:cNvGrpSpPr/>
        <p:nvPr/>
      </p:nvGrpSpPr>
      <p:grpSpPr>
        <a:xfrm>
          <a:off x="0" y="0"/>
          <a:ext cx="0" cy="0"/>
          <a:chOff x="0" y="0"/>
          <a:chExt cx="0" cy="0"/>
        </a:xfrm>
      </p:grpSpPr>
      <p:sp>
        <p:nvSpPr>
          <p:cNvPr id="2" name="Text 0"/>
          <p:cNvSpPr/>
          <p:nvPr/>
        </p:nvSpPr>
        <p:spPr>
          <a:xfrm>
            <a:off x="731520" y="822960"/>
            <a:ext cx="7680960" cy="1645920"/>
          </a:xfrm>
          <a:prstGeom prst="rect">
            <a:avLst/>
          </a:prstGeom>
          <a:noFill/>
          <a:ln/>
        </p:spPr>
        <p:txBody>
          <a:bodyPr wrap="square" lIns="0" tIns="0" rIns="0" bIns="0" rtlCol="0" anchor="ctr"/>
          <a:lstStyle/>
          <a:p>
            <a:pPr algn="ctr" indent="0" marL="0">
              <a:lnSpc>
                <a:spcPct val="120000"/>
              </a:lnSpc>
              <a:buNone/>
            </a:pPr>
            <a:r>
              <a:rPr lang="en-US" sz="3200" b="1" dirty="0">
                <a:solidFill>
                  <a:srgbClr val="FFFFFF"/>
                </a:solidFill>
                <a:latin typeface="Calibri" pitchFamily="34" charset="0"/>
                <a:ea typeface="Calibri" pitchFamily="34" charset="-122"/>
                <a:cs typeface="Calibri" pitchFamily="34" charset="-120"/>
              </a:rPr>
              <a:t>A key message is a sentence</a:t>
            </a:r>
            <a:endParaRPr lang="en-US" sz="3200" dirty="0"/>
          </a:p>
          <a:p>
            <a:pPr algn="ctr" indent="0" marL="0">
              <a:lnSpc>
                <a:spcPct val="120000"/>
              </a:lnSpc>
              <a:buNone/>
            </a:pPr>
            <a:r>
              <a:rPr lang="en-US" sz="3200" b="1" dirty="0">
                <a:solidFill>
                  <a:srgbClr val="FFFFFF"/>
                </a:solidFill>
                <a:latin typeface="Calibri" pitchFamily="34" charset="0"/>
                <a:ea typeface="Calibri" pitchFamily="34" charset="-122"/>
                <a:cs typeface="Calibri" pitchFamily="34" charset="-120"/>
              </a:rPr>
              <a:t>with a verb and a point.</a:t>
            </a:r>
            <a:endParaRPr lang="en-US" sz="3200" dirty="0"/>
          </a:p>
        </p:txBody>
      </p:sp>
      <p:sp>
        <p:nvSpPr>
          <p:cNvPr id="3" name="Shape 1"/>
          <p:cNvSpPr/>
          <p:nvPr/>
        </p:nvSpPr>
        <p:spPr>
          <a:xfrm>
            <a:off x="731520" y="2651760"/>
            <a:ext cx="3566160" cy="1280160"/>
          </a:xfrm>
          <a:prstGeom prst="rect">
            <a:avLst/>
          </a:prstGeom>
          <a:solidFill>
            <a:srgbClr val="C0392B">
              <a:alpha val="70000"/>
            </a:srgbClr>
          </a:solidFill>
          <a:ln w="12700">
            <a:solidFill>
              <a:srgbClr val="FFFFFF">
                <a:alpha val="30000"/>
              </a:srgbClr>
            </a:solidFill>
            <a:prstDash val="solid"/>
          </a:ln>
        </p:spPr>
      </p:sp>
      <p:sp>
        <p:nvSpPr>
          <p:cNvPr id="4" name="Text 2"/>
          <p:cNvSpPr/>
          <p:nvPr/>
        </p:nvSpPr>
        <p:spPr>
          <a:xfrm>
            <a:off x="822960" y="2697480"/>
            <a:ext cx="3383280" cy="320040"/>
          </a:xfrm>
          <a:prstGeom prst="rect">
            <a:avLst/>
          </a:prstGeom>
          <a:noFill/>
          <a:ln/>
        </p:spPr>
        <p:txBody>
          <a:bodyPr wrap="square" lIns="0" tIns="0" rIns="0" bIns="0" rtlCol="0" anchor="ctr"/>
          <a:lstStyle/>
          <a:p>
            <a:pPr indent="0" marL="0">
              <a:buNone/>
            </a:pPr>
            <a:r>
              <a:rPr lang="en-US" sz="1000" b="1" dirty="0">
                <a:solidFill>
                  <a:srgbClr val="FFD0CC"/>
                </a:solidFill>
                <a:latin typeface="Calibri" pitchFamily="34" charset="0"/>
                <a:ea typeface="Calibri" pitchFamily="34" charset="-122"/>
                <a:cs typeface="Calibri" pitchFamily="34" charset="-120"/>
              </a:rPr>
              <a:t>Topic (not a message)</a:t>
            </a:r>
            <a:endParaRPr lang="en-US" sz="1000" dirty="0"/>
          </a:p>
        </p:txBody>
      </p:sp>
      <p:sp>
        <p:nvSpPr>
          <p:cNvPr id="5" name="Text 3"/>
          <p:cNvSpPr/>
          <p:nvPr/>
        </p:nvSpPr>
        <p:spPr>
          <a:xfrm>
            <a:off x="822960" y="3063240"/>
            <a:ext cx="3383280" cy="6400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Q3 Performance</a:t>
            </a:r>
            <a:endParaRPr lang="en-US" sz="1800" dirty="0"/>
          </a:p>
        </p:txBody>
      </p:sp>
      <p:sp>
        <p:nvSpPr>
          <p:cNvPr id="6" name="Shape 4"/>
          <p:cNvSpPr/>
          <p:nvPr/>
        </p:nvSpPr>
        <p:spPr>
          <a:xfrm>
            <a:off x="4846320" y="2651760"/>
            <a:ext cx="3566160" cy="1280160"/>
          </a:xfrm>
          <a:prstGeom prst="rect">
            <a:avLst/>
          </a:prstGeom>
          <a:solidFill>
            <a:srgbClr val="145A32">
              <a:alpha val="70000"/>
            </a:srgbClr>
          </a:solidFill>
          <a:ln w="12700">
            <a:solidFill>
              <a:srgbClr val="FFFFFF">
                <a:alpha val="30000"/>
              </a:srgbClr>
            </a:solidFill>
            <a:prstDash val="solid"/>
          </a:ln>
        </p:spPr>
      </p:sp>
      <p:sp>
        <p:nvSpPr>
          <p:cNvPr id="7" name="Text 5"/>
          <p:cNvSpPr/>
          <p:nvPr/>
        </p:nvSpPr>
        <p:spPr>
          <a:xfrm>
            <a:off x="4937760" y="2697480"/>
            <a:ext cx="3383280" cy="320040"/>
          </a:xfrm>
          <a:prstGeom prst="rect">
            <a:avLst/>
          </a:prstGeom>
          <a:noFill/>
          <a:ln/>
        </p:spPr>
        <p:txBody>
          <a:bodyPr wrap="square" lIns="0" tIns="0" rIns="0" bIns="0" rtlCol="0" anchor="ctr"/>
          <a:lstStyle/>
          <a:p>
            <a:pPr indent="0" marL="0">
              <a:buNone/>
            </a:pPr>
            <a:r>
              <a:rPr lang="en-US" sz="1000" b="1" dirty="0">
                <a:solidFill>
                  <a:srgbClr val="C8F7C5"/>
                </a:solidFill>
                <a:latin typeface="Calibri" pitchFamily="34" charset="0"/>
                <a:ea typeface="Calibri" pitchFamily="34" charset="-122"/>
                <a:cs typeface="Calibri" pitchFamily="34" charset="-120"/>
              </a:rPr>
              <a:t>Message (sentence with a point)</a:t>
            </a:r>
            <a:endParaRPr lang="en-US" sz="1000" dirty="0"/>
          </a:p>
        </p:txBody>
      </p:sp>
      <p:sp>
        <p:nvSpPr>
          <p:cNvPr id="8" name="Text 6"/>
          <p:cNvSpPr/>
          <p:nvPr/>
        </p:nvSpPr>
        <p:spPr>
          <a:xfrm>
            <a:off x="4937760" y="3063240"/>
            <a:ext cx="3383280" cy="731520"/>
          </a:xfrm>
          <a:prstGeom prst="rect">
            <a:avLst/>
          </a:prstGeom>
          <a:noFill/>
          <a:ln/>
        </p:spPr>
        <p:txBody>
          <a:bodyPr wrap="square" lIns="0" tIns="0" rIns="0" bIns="0" rtlCol="0" anchor="ctr"/>
          <a:lstStyle/>
          <a:p>
            <a:pPr indent="0" marL="0">
              <a:lnSpc>
                <a:spcPct val="120000"/>
              </a:lnSpc>
              <a:buNone/>
            </a:pPr>
            <a:r>
              <a:rPr lang="en-US" sz="1600" b="1" dirty="0">
                <a:solidFill>
                  <a:srgbClr val="FFFFFF"/>
                </a:solidFill>
                <a:latin typeface="Calibri" pitchFamily="34" charset="0"/>
                <a:ea typeface="Calibri" pitchFamily="34" charset="-122"/>
                <a:cs typeface="Calibri" pitchFamily="34" charset="-120"/>
              </a:rPr>
              <a:t>We hit revenue and need one decision for Q4.</a:t>
            </a:r>
            <a:endParaRPr lang="en-US" sz="1600" dirty="0"/>
          </a:p>
        </p:txBody>
      </p:sp>
      <p:sp>
        <p:nvSpPr>
          <p:cNvPr id="9" name="Text 7"/>
          <p:cNvSpPr/>
          <p:nvPr/>
        </p:nvSpPr>
        <p:spPr>
          <a:xfrm>
            <a:off x="1371600" y="4160520"/>
            <a:ext cx="6400800" cy="365760"/>
          </a:xfrm>
          <a:prstGeom prst="rect">
            <a:avLst/>
          </a:prstGeom>
          <a:noFill/>
          <a:ln/>
        </p:spPr>
        <p:txBody>
          <a:bodyPr wrap="square" lIns="0" tIns="0" rIns="0" bIns="0" rtlCol="0" anchor="ctr"/>
          <a:lstStyle/>
          <a:p>
            <a:pPr algn="ctr" indent="0" marL="0">
              <a:buNone/>
            </a:pPr>
            <a:r>
              <a:rPr lang="en-US" sz="1200" i="1" dirty="0">
                <a:solidFill>
                  <a:srgbClr val="D0EEF2"/>
                </a:solidFill>
                <a:latin typeface="Calibri" pitchFamily="34" charset="0"/>
                <a:ea typeface="Calibri" pitchFamily="34" charset="-122"/>
                <a:cs typeface="Calibri" pitchFamily="34" charset="-120"/>
              </a:rPr>
              <a:t>If it does not have a verb, it is a topic, not a message.</a:t>
            </a:r>
            <a:endParaRPr lang="en-US" sz="1200" dirty="0"/>
          </a:p>
        </p:txBody>
      </p:sp>
      <p:sp>
        <p:nvSpPr>
          <p:cNvPr id="10" name="Text 8"/>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4 / 11</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sp>
      <p:sp>
        <p:nvSpPr>
          <p:cNvPr id="3" name="Text 1"/>
          <p:cNvSpPr/>
          <p:nvPr/>
        </p:nvSpPr>
        <p:spPr>
          <a:xfrm>
            <a:off x="502920" y="201168"/>
            <a:ext cx="8138160" cy="502920"/>
          </a:xfrm>
          <a:prstGeom prst="rect">
            <a:avLst/>
          </a:prstGeom>
          <a:noFill/>
          <a:ln/>
        </p:spPr>
        <p:txBody>
          <a:bodyPr wrap="square" lIns="0" tIns="0" rIns="0" bIns="0"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Plan the narrative arc before you plan the slides</a:t>
            </a:r>
            <a:endParaRPr lang="en-US" sz="2200" dirty="0"/>
          </a:p>
        </p:txBody>
      </p:sp>
      <p:sp>
        <p:nvSpPr>
          <p:cNvPr id="4" name="Shape 2"/>
          <p:cNvSpPr/>
          <p:nvPr/>
        </p:nvSpPr>
        <p:spPr>
          <a:xfrm>
            <a:off x="502920" y="749808"/>
            <a:ext cx="8138160" cy="22860"/>
          </a:xfrm>
          <a:prstGeom prst="rect">
            <a:avLst/>
          </a:prstGeom>
          <a:solidFill>
            <a:srgbClr val="E2E6EA"/>
          </a:solidFill>
          <a:ln w="12700">
            <a:solidFill>
              <a:srgbClr val="E2E6EA"/>
            </a:solidFill>
            <a:prstDash val="solid"/>
          </a:ln>
        </p:spPr>
      </p:sp>
      <p:pic>
        <p:nvPicPr>
          <p:cNvPr id="5" name="Image 0" descr="preencoded.png">    </p:cNvPr>
          <p:cNvPicPr>
            <a:picLocks noChangeAspect="1"/>
          </p:cNvPicPr>
          <p:nvPr/>
        </p:nvPicPr>
        <p:blipFill>
          <a:blip r:embed="rId1"/>
          <a:srcRect l="0" r="0" t="0" b="0"/>
          <a:stretch/>
        </p:blipFill>
        <p:spPr>
          <a:xfrm>
            <a:off x="502920" y="914400"/>
            <a:ext cx="3657600" cy="3931920"/>
          </a:xfrm>
          <a:prstGeom prst="rect">
            <a:avLst/>
          </a:prstGeom>
        </p:spPr>
      </p:pic>
      <p:sp>
        <p:nvSpPr>
          <p:cNvPr id="6" name="Shape 3"/>
          <p:cNvSpPr/>
          <p:nvPr/>
        </p:nvSpPr>
        <p:spPr>
          <a:xfrm>
            <a:off x="4343400" y="914400"/>
            <a:ext cx="1188720" cy="658368"/>
          </a:xfrm>
          <a:prstGeom prst="rect">
            <a:avLst/>
          </a:prstGeom>
          <a:solidFill>
            <a:srgbClr val="1E2761"/>
          </a:solidFill>
          <a:ln w="12700">
            <a:solidFill>
              <a:srgbClr val="1E2761"/>
            </a:solidFill>
            <a:prstDash val="solid"/>
          </a:ln>
        </p:spPr>
      </p:sp>
      <p:sp>
        <p:nvSpPr>
          <p:cNvPr id="7" name="Text 4"/>
          <p:cNvSpPr/>
          <p:nvPr/>
        </p:nvSpPr>
        <p:spPr>
          <a:xfrm>
            <a:off x="4343400" y="914400"/>
            <a:ext cx="118872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Situation</a:t>
            </a:r>
            <a:endParaRPr lang="en-US" sz="1000" dirty="0"/>
          </a:p>
        </p:txBody>
      </p:sp>
      <p:sp>
        <p:nvSpPr>
          <p:cNvPr id="8" name="Shape 5"/>
          <p:cNvSpPr/>
          <p:nvPr/>
        </p:nvSpPr>
        <p:spPr>
          <a:xfrm>
            <a:off x="5596128" y="914400"/>
            <a:ext cx="3044952" cy="658368"/>
          </a:xfrm>
          <a:prstGeom prst="rect">
            <a:avLst/>
          </a:prstGeom>
          <a:solidFill>
            <a:srgbClr val="F8FAFB"/>
          </a:solidFill>
          <a:ln w="12700">
            <a:solidFill>
              <a:srgbClr val="E2E6EA"/>
            </a:solidFill>
            <a:prstDash val="solid"/>
          </a:ln>
        </p:spPr>
      </p:sp>
      <p:sp>
        <p:nvSpPr>
          <p:cNvPr id="9" name="Text 6"/>
          <p:cNvSpPr/>
          <p:nvPr/>
        </p:nvSpPr>
        <p:spPr>
          <a:xfrm>
            <a:off x="5669280" y="969264"/>
            <a:ext cx="2907792" cy="548640"/>
          </a:xfrm>
          <a:prstGeom prst="rect">
            <a:avLst/>
          </a:prstGeom>
          <a:noFill/>
          <a:ln/>
        </p:spPr>
        <p:txBody>
          <a:bodyPr wrap="square" lIns="0" tIns="0" rIns="0" bIns="0" rtlCol="0" anchor="t"/>
          <a:lstStyle/>
          <a:p>
            <a:pPr indent="0" marL="0">
              <a:buNone/>
            </a:pPr>
            <a:r>
              <a:rPr lang="en-US" sz="1000" dirty="0">
                <a:solidFill>
                  <a:srgbClr val="1A1A2E"/>
                </a:solidFill>
                <a:latin typeface="Calibri" pitchFamily="34" charset="0"/>
                <a:ea typeface="Calibri" pitchFamily="34" charset="-122"/>
                <a:cs typeface="Calibri" pitchFamily="34" charset="-120"/>
              </a:rPr>
              <a:t>What context does the audience need? Keep it short — they already know most of it.</a:t>
            </a:r>
            <a:endParaRPr lang="en-US" sz="1000" dirty="0"/>
          </a:p>
        </p:txBody>
      </p:sp>
      <p:sp>
        <p:nvSpPr>
          <p:cNvPr id="10" name="Shape 7"/>
          <p:cNvSpPr/>
          <p:nvPr/>
        </p:nvSpPr>
        <p:spPr>
          <a:xfrm>
            <a:off x="4343400" y="1700784"/>
            <a:ext cx="1188720" cy="658368"/>
          </a:xfrm>
          <a:prstGeom prst="rect">
            <a:avLst/>
          </a:prstGeom>
          <a:solidFill>
            <a:srgbClr val="C0392B"/>
          </a:solidFill>
          <a:ln w="12700">
            <a:solidFill>
              <a:srgbClr val="C0392B"/>
            </a:solidFill>
            <a:prstDash val="solid"/>
          </a:ln>
        </p:spPr>
      </p:sp>
      <p:sp>
        <p:nvSpPr>
          <p:cNvPr id="11" name="Text 8"/>
          <p:cNvSpPr/>
          <p:nvPr/>
        </p:nvSpPr>
        <p:spPr>
          <a:xfrm>
            <a:off x="4343400" y="1700784"/>
            <a:ext cx="118872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Complication</a:t>
            </a:r>
            <a:endParaRPr lang="en-US" sz="1000" dirty="0"/>
          </a:p>
        </p:txBody>
      </p:sp>
      <p:sp>
        <p:nvSpPr>
          <p:cNvPr id="12" name="Shape 9"/>
          <p:cNvSpPr/>
          <p:nvPr/>
        </p:nvSpPr>
        <p:spPr>
          <a:xfrm>
            <a:off x="5596128" y="1700784"/>
            <a:ext cx="3044952" cy="658368"/>
          </a:xfrm>
          <a:prstGeom prst="rect">
            <a:avLst/>
          </a:prstGeom>
          <a:solidFill>
            <a:srgbClr val="FFFFFF"/>
          </a:solidFill>
          <a:ln w="12700">
            <a:solidFill>
              <a:srgbClr val="E2E6EA"/>
            </a:solidFill>
            <a:prstDash val="solid"/>
          </a:ln>
        </p:spPr>
      </p:sp>
      <p:sp>
        <p:nvSpPr>
          <p:cNvPr id="13" name="Text 10"/>
          <p:cNvSpPr/>
          <p:nvPr/>
        </p:nvSpPr>
        <p:spPr>
          <a:xfrm>
            <a:off x="5669280" y="1755648"/>
            <a:ext cx="2907792" cy="548640"/>
          </a:xfrm>
          <a:prstGeom prst="rect">
            <a:avLst/>
          </a:prstGeom>
          <a:noFill/>
          <a:ln/>
        </p:spPr>
        <p:txBody>
          <a:bodyPr wrap="square" lIns="0" tIns="0" rIns="0" bIns="0" rtlCol="0" anchor="t"/>
          <a:lstStyle/>
          <a:p>
            <a:pPr indent="0" marL="0">
              <a:buNone/>
            </a:pPr>
            <a:r>
              <a:rPr lang="en-US" sz="1000" dirty="0">
                <a:solidFill>
                  <a:srgbClr val="1A1A2E"/>
                </a:solidFill>
                <a:latin typeface="Calibri" pitchFamily="34" charset="0"/>
                <a:ea typeface="Calibri" pitchFamily="34" charset="-122"/>
                <a:cs typeface="Calibri" pitchFamily="34" charset="-120"/>
              </a:rPr>
              <a:t>What is the problem, tension, or decision that needs to be made?</a:t>
            </a:r>
            <a:endParaRPr lang="en-US" sz="1000" dirty="0"/>
          </a:p>
        </p:txBody>
      </p:sp>
      <p:sp>
        <p:nvSpPr>
          <p:cNvPr id="14" name="Shape 11"/>
          <p:cNvSpPr/>
          <p:nvPr/>
        </p:nvSpPr>
        <p:spPr>
          <a:xfrm>
            <a:off x="4343400" y="2487168"/>
            <a:ext cx="1188720" cy="658368"/>
          </a:xfrm>
          <a:prstGeom prst="rect">
            <a:avLst/>
          </a:prstGeom>
          <a:solidFill>
            <a:srgbClr val="028090"/>
          </a:solidFill>
          <a:ln w="12700">
            <a:solidFill>
              <a:srgbClr val="028090"/>
            </a:solidFill>
            <a:prstDash val="solid"/>
          </a:ln>
        </p:spPr>
      </p:sp>
      <p:sp>
        <p:nvSpPr>
          <p:cNvPr id="15" name="Text 12"/>
          <p:cNvSpPr/>
          <p:nvPr/>
        </p:nvSpPr>
        <p:spPr>
          <a:xfrm>
            <a:off x="4343400" y="2487168"/>
            <a:ext cx="118872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Message</a:t>
            </a:r>
            <a:endParaRPr lang="en-US" sz="1000" dirty="0"/>
          </a:p>
        </p:txBody>
      </p:sp>
      <p:sp>
        <p:nvSpPr>
          <p:cNvPr id="16" name="Shape 13"/>
          <p:cNvSpPr/>
          <p:nvPr/>
        </p:nvSpPr>
        <p:spPr>
          <a:xfrm>
            <a:off x="5596128" y="2487168"/>
            <a:ext cx="3044952" cy="658368"/>
          </a:xfrm>
          <a:prstGeom prst="rect">
            <a:avLst/>
          </a:prstGeom>
          <a:solidFill>
            <a:srgbClr val="F8FAFB"/>
          </a:solidFill>
          <a:ln w="12700">
            <a:solidFill>
              <a:srgbClr val="E2E6EA"/>
            </a:solidFill>
            <a:prstDash val="solid"/>
          </a:ln>
        </p:spPr>
      </p:sp>
      <p:sp>
        <p:nvSpPr>
          <p:cNvPr id="17" name="Text 14"/>
          <p:cNvSpPr/>
          <p:nvPr/>
        </p:nvSpPr>
        <p:spPr>
          <a:xfrm>
            <a:off x="5669280" y="2542032"/>
            <a:ext cx="2907792" cy="548640"/>
          </a:xfrm>
          <a:prstGeom prst="rect">
            <a:avLst/>
          </a:prstGeom>
          <a:noFill/>
          <a:ln/>
        </p:spPr>
        <p:txBody>
          <a:bodyPr wrap="square" lIns="0" tIns="0" rIns="0" bIns="0" rtlCol="0" anchor="t"/>
          <a:lstStyle/>
          <a:p>
            <a:pPr indent="0" marL="0">
              <a:buNone/>
            </a:pPr>
            <a:r>
              <a:rPr lang="en-US" sz="1000" dirty="0">
                <a:solidFill>
                  <a:srgbClr val="1A1A2E"/>
                </a:solidFill>
                <a:latin typeface="Calibri" pitchFamily="34" charset="0"/>
                <a:ea typeface="Calibri" pitchFamily="34" charset="-122"/>
                <a:cs typeface="Calibri" pitchFamily="34" charset="-120"/>
              </a:rPr>
              <a:t>What is the single thing they need to know or do? State it directly.</a:t>
            </a:r>
            <a:endParaRPr lang="en-US" sz="1000" dirty="0"/>
          </a:p>
        </p:txBody>
      </p:sp>
      <p:sp>
        <p:nvSpPr>
          <p:cNvPr id="18" name="Shape 15"/>
          <p:cNvSpPr/>
          <p:nvPr/>
        </p:nvSpPr>
        <p:spPr>
          <a:xfrm>
            <a:off x="4343400" y="3273552"/>
            <a:ext cx="1188720" cy="658368"/>
          </a:xfrm>
          <a:prstGeom prst="rect">
            <a:avLst/>
          </a:prstGeom>
          <a:solidFill>
            <a:srgbClr val="2471A3"/>
          </a:solidFill>
          <a:ln w="12700">
            <a:solidFill>
              <a:srgbClr val="2471A3"/>
            </a:solidFill>
            <a:prstDash val="solid"/>
          </a:ln>
        </p:spPr>
      </p:sp>
      <p:sp>
        <p:nvSpPr>
          <p:cNvPr id="19" name="Text 16"/>
          <p:cNvSpPr/>
          <p:nvPr/>
        </p:nvSpPr>
        <p:spPr>
          <a:xfrm>
            <a:off x="4343400" y="3273552"/>
            <a:ext cx="118872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Evidence</a:t>
            </a:r>
            <a:endParaRPr lang="en-US" sz="1000" dirty="0"/>
          </a:p>
        </p:txBody>
      </p:sp>
      <p:sp>
        <p:nvSpPr>
          <p:cNvPr id="20" name="Shape 17"/>
          <p:cNvSpPr/>
          <p:nvPr/>
        </p:nvSpPr>
        <p:spPr>
          <a:xfrm>
            <a:off x="5596128" y="3273552"/>
            <a:ext cx="3044952" cy="658368"/>
          </a:xfrm>
          <a:prstGeom prst="rect">
            <a:avLst/>
          </a:prstGeom>
          <a:solidFill>
            <a:srgbClr val="FFFFFF"/>
          </a:solidFill>
          <a:ln w="12700">
            <a:solidFill>
              <a:srgbClr val="E2E6EA"/>
            </a:solidFill>
            <a:prstDash val="solid"/>
          </a:ln>
        </p:spPr>
      </p:sp>
      <p:sp>
        <p:nvSpPr>
          <p:cNvPr id="21" name="Text 18"/>
          <p:cNvSpPr/>
          <p:nvPr/>
        </p:nvSpPr>
        <p:spPr>
          <a:xfrm>
            <a:off x="5669280" y="3328416"/>
            <a:ext cx="2907792" cy="548640"/>
          </a:xfrm>
          <a:prstGeom prst="rect">
            <a:avLst/>
          </a:prstGeom>
          <a:noFill/>
          <a:ln/>
        </p:spPr>
        <p:txBody>
          <a:bodyPr wrap="square" lIns="0" tIns="0" rIns="0" bIns="0" rtlCol="0" anchor="t"/>
          <a:lstStyle/>
          <a:p>
            <a:pPr indent="0" marL="0">
              <a:buNone/>
            </a:pPr>
            <a:r>
              <a:rPr lang="en-US" sz="1000" dirty="0">
                <a:solidFill>
                  <a:srgbClr val="1A1A2E"/>
                </a:solidFill>
                <a:latin typeface="Calibri" pitchFamily="34" charset="0"/>
                <a:ea typeface="Calibri" pitchFamily="34" charset="-122"/>
                <a:cs typeface="Calibri" pitchFamily="34" charset="-120"/>
              </a:rPr>
              <a:t>What data or reasoning supports your message? (Your data slides go here.)</a:t>
            </a:r>
            <a:endParaRPr lang="en-US" sz="1000" dirty="0"/>
          </a:p>
        </p:txBody>
      </p:sp>
      <p:sp>
        <p:nvSpPr>
          <p:cNvPr id="22" name="Shape 19"/>
          <p:cNvSpPr/>
          <p:nvPr/>
        </p:nvSpPr>
        <p:spPr>
          <a:xfrm>
            <a:off x="4343400" y="4059936"/>
            <a:ext cx="1188720" cy="658368"/>
          </a:xfrm>
          <a:prstGeom prst="rect">
            <a:avLst/>
          </a:prstGeom>
          <a:solidFill>
            <a:srgbClr val="1E8449"/>
          </a:solidFill>
          <a:ln w="12700">
            <a:solidFill>
              <a:srgbClr val="1E8449"/>
            </a:solidFill>
            <a:prstDash val="solid"/>
          </a:ln>
        </p:spPr>
      </p:sp>
      <p:sp>
        <p:nvSpPr>
          <p:cNvPr id="23" name="Text 20"/>
          <p:cNvSpPr/>
          <p:nvPr/>
        </p:nvSpPr>
        <p:spPr>
          <a:xfrm>
            <a:off x="4343400" y="4059936"/>
            <a:ext cx="118872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Resolution</a:t>
            </a:r>
            <a:endParaRPr lang="en-US" sz="1000" dirty="0"/>
          </a:p>
        </p:txBody>
      </p:sp>
      <p:sp>
        <p:nvSpPr>
          <p:cNvPr id="24" name="Shape 21"/>
          <p:cNvSpPr/>
          <p:nvPr/>
        </p:nvSpPr>
        <p:spPr>
          <a:xfrm>
            <a:off x="5596128" y="4059936"/>
            <a:ext cx="3044952" cy="658368"/>
          </a:xfrm>
          <a:prstGeom prst="rect">
            <a:avLst/>
          </a:prstGeom>
          <a:solidFill>
            <a:srgbClr val="F8FAFB"/>
          </a:solidFill>
          <a:ln w="12700">
            <a:solidFill>
              <a:srgbClr val="E2E6EA"/>
            </a:solidFill>
            <a:prstDash val="solid"/>
          </a:ln>
        </p:spPr>
      </p:sp>
      <p:sp>
        <p:nvSpPr>
          <p:cNvPr id="25" name="Text 22"/>
          <p:cNvSpPr/>
          <p:nvPr/>
        </p:nvSpPr>
        <p:spPr>
          <a:xfrm>
            <a:off x="5669280" y="4114800"/>
            <a:ext cx="2907792" cy="548640"/>
          </a:xfrm>
          <a:prstGeom prst="rect">
            <a:avLst/>
          </a:prstGeom>
          <a:noFill/>
          <a:ln/>
        </p:spPr>
        <p:txBody>
          <a:bodyPr wrap="square" lIns="0" tIns="0" rIns="0" bIns="0" rtlCol="0" anchor="t"/>
          <a:lstStyle/>
          <a:p>
            <a:pPr indent="0" marL="0">
              <a:buNone/>
            </a:pPr>
            <a:r>
              <a:rPr lang="en-US" sz="1000" dirty="0">
                <a:solidFill>
                  <a:srgbClr val="1A1A2E"/>
                </a:solidFill>
                <a:latin typeface="Calibri" pitchFamily="34" charset="0"/>
                <a:ea typeface="Calibri" pitchFamily="34" charset="-122"/>
                <a:cs typeface="Calibri" pitchFamily="34" charset="-120"/>
              </a:rPr>
              <a:t>What do you need from this audience, right now?</a:t>
            </a:r>
            <a:endParaRPr lang="en-US" sz="1000" dirty="0"/>
          </a:p>
        </p:txBody>
      </p:sp>
      <p:sp>
        <p:nvSpPr>
          <p:cNvPr id="26" name="Text 23"/>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5 / 11</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sp>
      <p:sp>
        <p:nvSpPr>
          <p:cNvPr id="3" name="Text 1"/>
          <p:cNvSpPr/>
          <p:nvPr/>
        </p:nvSpPr>
        <p:spPr>
          <a:xfrm>
            <a:off x="502920" y="201168"/>
            <a:ext cx="8138160" cy="502920"/>
          </a:xfrm>
          <a:prstGeom prst="rect">
            <a:avLst/>
          </a:prstGeom>
          <a:noFill/>
          <a:ln/>
        </p:spPr>
        <p:txBody>
          <a:bodyPr wrap="square" lIns="0" tIns="0" rIns="0" bIns="0"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Applying SCR to the Nusantara Capital before deck</a:t>
            </a:r>
            <a:endParaRPr lang="en-US" sz="2200" dirty="0"/>
          </a:p>
        </p:txBody>
      </p:sp>
      <p:sp>
        <p:nvSpPr>
          <p:cNvPr id="4" name="Shape 2"/>
          <p:cNvSpPr/>
          <p:nvPr/>
        </p:nvSpPr>
        <p:spPr>
          <a:xfrm>
            <a:off x="502920" y="749808"/>
            <a:ext cx="8138160" cy="22860"/>
          </a:xfrm>
          <a:prstGeom prst="rect">
            <a:avLst/>
          </a:prstGeom>
          <a:solidFill>
            <a:srgbClr val="E2E6EA"/>
          </a:solidFill>
          <a:ln w="12700">
            <a:solidFill>
              <a:srgbClr val="E2E6EA"/>
            </a:solidFill>
            <a:prstDash val="solid"/>
          </a:ln>
        </p:spPr>
      </p:sp>
      <p:sp>
        <p:nvSpPr>
          <p:cNvPr id="5" name="Shape 3"/>
          <p:cNvSpPr/>
          <p:nvPr/>
        </p:nvSpPr>
        <p:spPr>
          <a:xfrm>
            <a:off x="502920" y="896112"/>
            <a:ext cx="8138160" cy="347472"/>
          </a:xfrm>
          <a:prstGeom prst="rect">
            <a:avLst/>
          </a:prstGeom>
          <a:solidFill>
            <a:srgbClr val="1E2761"/>
          </a:solidFill>
          <a:ln w="12700">
            <a:solidFill>
              <a:srgbClr val="1E2761"/>
            </a:solidFill>
            <a:prstDash val="solid"/>
          </a:ln>
        </p:spPr>
      </p:sp>
      <p:sp>
        <p:nvSpPr>
          <p:cNvPr id="6" name="Text 4"/>
          <p:cNvSpPr/>
          <p:nvPr/>
        </p:nvSpPr>
        <p:spPr>
          <a:xfrm>
            <a:off x="594360" y="896112"/>
            <a:ext cx="1188720" cy="34747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Beat</a:t>
            </a:r>
            <a:endParaRPr lang="en-US" sz="1000" dirty="0"/>
          </a:p>
        </p:txBody>
      </p:sp>
      <p:sp>
        <p:nvSpPr>
          <p:cNvPr id="7" name="Text 5"/>
          <p:cNvSpPr/>
          <p:nvPr/>
        </p:nvSpPr>
        <p:spPr>
          <a:xfrm>
            <a:off x="1920240" y="896112"/>
            <a:ext cx="2926080" cy="34747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 the before deck does</a:t>
            </a:r>
            <a:endParaRPr lang="en-US" sz="1000" dirty="0"/>
          </a:p>
        </p:txBody>
      </p:sp>
      <p:sp>
        <p:nvSpPr>
          <p:cNvPr id="8" name="Text 6"/>
          <p:cNvSpPr/>
          <p:nvPr/>
        </p:nvSpPr>
        <p:spPr>
          <a:xfrm>
            <a:off x="4983480" y="896112"/>
            <a:ext cx="3566160" cy="34747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The problem</a:t>
            </a:r>
            <a:endParaRPr lang="en-US" sz="1000" dirty="0"/>
          </a:p>
        </p:txBody>
      </p:sp>
      <p:sp>
        <p:nvSpPr>
          <p:cNvPr id="9" name="Shape 7"/>
          <p:cNvSpPr/>
          <p:nvPr/>
        </p:nvSpPr>
        <p:spPr>
          <a:xfrm>
            <a:off x="502920" y="1261872"/>
            <a:ext cx="8138160" cy="676656"/>
          </a:xfrm>
          <a:prstGeom prst="rect">
            <a:avLst/>
          </a:prstGeom>
          <a:solidFill>
            <a:srgbClr val="F8FAFB"/>
          </a:solidFill>
          <a:ln w="12700">
            <a:solidFill>
              <a:srgbClr val="E2E6EA"/>
            </a:solidFill>
            <a:prstDash val="solid"/>
          </a:ln>
        </p:spPr>
      </p:sp>
      <p:sp>
        <p:nvSpPr>
          <p:cNvPr id="10" name="Shape 8"/>
          <p:cNvSpPr/>
          <p:nvPr/>
        </p:nvSpPr>
        <p:spPr>
          <a:xfrm>
            <a:off x="502920" y="1261872"/>
            <a:ext cx="1325880" cy="676656"/>
          </a:xfrm>
          <a:prstGeom prst="rect">
            <a:avLst/>
          </a:prstGeom>
          <a:solidFill>
            <a:srgbClr val="1E2761"/>
          </a:solidFill>
          <a:ln w="12700">
            <a:solidFill>
              <a:srgbClr val="1E2761"/>
            </a:solidFill>
            <a:prstDash val="solid"/>
          </a:ln>
        </p:spPr>
      </p:sp>
      <p:sp>
        <p:nvSpPr>
          <p:cNvPr id="11" name="Text 9"/>
          <p:cNvSpPr/>
          <p:nvPr/>
        </p:nvSpPr>
        <p:spPr>
          <a:xfrm>
            <a:off x="502920" y="1261872"/>
            <a:ext cx="1325880" cy="6766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Situation</a:t>
            </a:r>
            <a:endParaRPr lang="en-US" sz="1000" dirty="0"/>
          </a:p>
        </p:txBody>
      </p:sp>
      <p:sp>
        <p:nvSpPr>
          <p:cNvPr id="12" name="Text 10"/>
          <p:cNvSpPr/>
          <p:nvPr/>
        </p:nvSpPr>
        <p:spPr>
          <a:xfrm>
            <a:off x="1920240" y="1316736"/>
            <a:ext cx="2926080" cy="566928"/>
          </a:xfrm>
          <a:prstGeom prst="rect">
            <a:avLst/>
          </a:prstGeom>
          <a:noFill/>
          <a:ln/>
        </p:spPr>
        <p:txBody>
          <a:bodyPr wrap="square" lIns="0" tIns="0" rIns="0" bIns="0" rtlCol="0" anchor="t"/>
          <a:lstStyle/>
          <a:p>
            <a:pPr indent="0" marL="0">
              <a:buNone/>
            </a:pPr>
            <a:r>
              <a:rPr lang="en-US" sz="1000" dirty="0">
                <a:solidFill>
                  <a:srgbClr val="1A1A2E"/>
                </a:solidFill>
                <a:latin typeface="Calibri" pitchFamily="34" charset="0"/>
                <a:ea typeface="Calibri" pitchFamily="34" charset="-122"/>
                <a:cs typeface="Calibri" pitchFamily="34" charset="-120"/>
              </a:rPr>
              <a:t>Slides 1 to 3 (overview, agenda, dept background)</a:t>
            </a:r>
            <a:endParaRPr lang="en-US" sz="1000" dirty="0"/>
          </a:p>
        </p:txBody>
      </p:sp>
      <p:sp>
        <p:nvSpPr>
          <p:cNvPr id="13" name="Text 11"/>
          <p:cNvSpPr/>
          <p:nvPr/>
        </p:nvSpPr>
        <p:spPr>
          <a:xfrm>
            <a:off x="4983480" y="1316736"/>
            <a:ext cx="3566160" cy="566928"/>
          </a:xfrm>
          <a:prstGeom prst="rect">
            <a:avLst/>
          </a:prstGeom>
          <a:noFill/>
          <a:ln/>
        </p:spPr>
        <p:txBody>
          <a:bodyPr wrap="square" lIns="0" tIns="0" rIns="0" bIns="0" rtlCol="0" anchor="t"/>
          <a:lstStyle/>
          <a:p>
            <a:pPr indent="0" marL="0">
              <a:buNone/>
            </a:pPr>
            <a:r>
              <a:rPr lang="en-US" sz="1000" i="1" dirty="0">
                <a:solidFill>
                  <a:srgbClr val="C0392B"/>
                </a:solidFill>
                <a:latin typeface="Calibri" pitchFamily="34" charset="0"/>
                <a:ea typeface="Calibri" pitchFamily="34" charset="-122"/>
                <a:cs typeface="Calibri" pitchFamily="34" charset="-120"/>
              </a:rPr>
              <a:t>Too long — audience already knows the context</a:t>
            </a:r>
            <a:endParaRPr lang="en-US" sz="1000" dirty="0"/>
          </a:p>
        </p:txBody>
      </p:sp>
      <p:sp>
        <p:nvSpPr>
          <p:cNvPr id="14" name="Shape 12"/>
          <p:cNvSpPr/>
          <p:nvPr/>
        </p:nvSpPr>
        <p:spPr>
          <a:xfrm>
            <a:off x="502920" y="1993392"/>
            <a:ext cx="8138160" cy="676656"/>
          </a:xfrm>
          <a:prstGeom prst="rect">
            <a:avLst/>
          </a:prstGeom>
          <a:solidFill>
            <a:srgbClr val="FFFFFF"/>
          </a:solidFill>
          <a:ln w="12700">
            <a:solidFill>
              <a:srgbClr val="E2E6EA"/>
            </a:solidFill>
            <a:prstDash val="solid"/>
          </a:ln>
        </p:spPr>
      </p:sp>
      <p:sp>
        <p:nvSpPr>
          <p:cNvPr id="15" name="Shape 13"/>
          <p:cNvSpPr/>
          <p:nvPr/>
        </p:nvSpPr>
        <p:spPr>
          <a:xfrm>
            <a:off x="502920" y="1993392"/>
            <a:ext cx="1325880" cy="676656"/>
          </a:xfrm>
          <a:prstGeom prst="rect">
            <a:avLst/>
          </a:prstGeom>
          <a:solidFill>
            <a:srgbClr val="C0392B"/>
          </a:solidFill>
          <a:ln w="12700">
            <a:solidFill>
              <a:srgbClr val="C0392B"/>
            </a:solidFill>
            <a:prstDash val="solid"/>
          </a:ln>
        </p:spPr>
      </p:sp>
      <p:sp>
        <p:nvSpPr>
          <p:cNvPr id="16" name="Text 14"/>
          <p:cNvSpPr/>
          <p:nvPr/>
        </p:nvSpPr>
        <p:spPr>
          <a:xfrm>
            <a:off x="502920" y="1993392"/>
            <a:ext cx="1325880" cy="6766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Complication</a:t>
            </a:r>
            <a:endParaRPr lang="en-US" sz="1000" dirty="0"/>
          </a:p>
        </p:txBody>
      </p:sp>
      <p:sp>
        <p:nvSpPr>
          <p:cNvPr id="17" name="Text 15"/>
          <p:cNvSpPr/>
          <p:nvPr/>
        </p:nvSpPr>
        <p:spPr>
          <a:xfrm>
            <a:off x="1920240" y="2048256"/>
            <a:ext cx="2926080" cy="566928"/>
          </a:xfrm>
          <a:prstGeom prst="rect">
            <a:avLst/>
          </a:prstGeom>
          <a:noFill/>
          <a:ln/>
        </p:spPr>
        <p:txBody>
          <a:bodyPr wrap="square" lIns="0" tIns="0" rIns="0" bIns="0" rtlCol="0" anchor="t"/>
          <a:lstStyle/>
          <a:p>
            <a:pPr indent="0" marL="0">
              <a:buNone/>
            </a:pPr>
            <a:r>
              <a:rPr lang="en-US" sz="1000" dirty="0">
                <a:solidFill>
                  <a:srgbClr val="1A1A2E"/>
                </a:solidFill>
                <a:latin typeface="Calibri" pitchFamily="34" charset="0"/>
                <a:ea typeface="Calibri" pitchFamily="34" charset="-122"/>
                <a:cs typeface="Calibri" pitchFamily="34" charset="-120"/>
              </a:rPr>
              <a:t>Buried in slides 9 and 11 (risks, decisions)</a:t>
            </a:r>
            <a:endParaRPr lang="en-US" sz="1000" dirty="0"/>
          </a:p>
        </p:txBody>
      </p:sp>
      <p:sp>
        <p:nvSpPr>
          <p:cNvPr id="18" name="Text 16"/>
          <p:cNvSpPr/>
          <p:nvPr/>
        </p:nvSpPr>
        <p:spPr>
          <a:xfrm>
            <a:off x="4983480" y="2048256"/>
            <a:ext cx="3566160" cy="566928"/>
          </a:xfrm>
          <a:prstGeom prst="rect">
            <a:avLst/>
          </a:prstGeom>
          <a:noFill/>
          <a:ln/>
        </p:spPr>
        <p:txBody>
          <a:bodyPr wrap="square" lIns="0" tIns="0" rIns="0" bIns="0" rtlCol="0" anchor="t"/>
          <a:lstStyle/>
          <a:p>
            <a:pPr indent="0" marL="0">
              <a:buNone/>
            </a:pPr>
            <a:r>
              <a:rPr lang="en-US" sz="1000" i="1" dirty="0">
                <a:solidFill>
                  <a:srgbClr val="C0392B"/>
                </a:solidFill>
                <a:latin typeface="Calibri" pitchFamily="34" charset="0"/>
                <a:ea typeface="Calibri" pitchFamily="34" charset="-122"/>
                <a:cs typeface="Calibri" pitchFamily="34" charset="-120"/>
              </a:rPr>
              <a:t>The problem is never clearly stated up front</a:t>
            </a:r>
            <a:endParaRPr lang="en-US" sz="1000" dirty="0"/>
          </a:p>
        </p:txBody>
      </p:sp>
      <p:sp>
        <p:nvSpPr>
          <p:cNvPr id="19" name="Shape 17"/>
          <p:cNvSpPr/>
          <p:nvPr/>
        </p:nvSpPr>
        <p:spPr>
          <a:xfrm>
            <a:off x="502920" y="2724912"/>
            <a:ext cx="8138160" cy="676656"/>
          </a:xfrm>
          <a:prstGeom prst="rect">
            <a:avLst/>
          </a:prstGeom>
          <a:solidFill>
            <a:srgbClr val="F8FAFB"/>
          </a:solidFill>
          <a:ln w="12700">
            <a:solidFill>
              <a:srgbClr val="E2E6EA"/>
            </a:solidFill>
            <a:prstDash val="solid"/>
          </a:ln>
        </p:spPr>
      </p:sp>
      <p:sp>
        <p:nvSpPr>
          <p:cNvPr id="20" name="Shape 18"/>
          <p:cNvSpPr/>
          <p:nvPr/>
        </p:nvSpPr>
        <p:spPr>
          <a:xfrm>
            <a:off x="502920" y="2724912"/>
            <a:ext cx="1325880" cy="676656"/>
          </a:xfrm>
          <a:prstGeom prst="rect">
            <a:avLst/>
          </a:prstGeom>
          <a:solidFill>
            <a:srgbClr val="028090"/>
          </a:solidFill>
          <a:ln w="12700">
            <a:solidFill>
              <a:srgbClr val="028090"/>
            </a:solidFill>
            <a:prstDash val="solid"/>
          </a:ln>
        </p:spPr>
      </p:sp>
      <p:sp>
        <p:nvSpPr>
          <p:cNvPr id="21" name="Text 19"/>
          <p:cNvSpPr/>
          <p:nvPr/>
        </p:nvSpPr>
        <p:spPr>
          <a:xfrm>
            <a:off x="502920" y="2724912"/>
            <a:ext cx="1325880" cy="6766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Message</a:t>
            </a:r>
            <a:endParaRPr lang="en-US" sz="1000" dirty="0"/>
          </a:p>
        </p:txBody>
      </p:sp>
      <p:sp>
        <p:nvSpPr>
          <p:cNvPr id="22" name="Text 20"/>
          <p:cNvSpPr/>
          <p:nvPr/>
        </p:nvSpPr>
        <p:spPr>
          <a:xfrm>
            <a:off x="1920240" y="2779776"/>
            <a:ext cx="2926080" cy="566928"/>
          </a:xfrm>
          <a:prstGeom prst="rect">
            <a:avLst/>
          </a:prstGeom>
          <a:noFill/>
          <a:ln/>
        </p:spPr>
        <p:txBody>
          <a:bodyPr wrap="square" lIns="0" tIns="0" rIns="0" bIns="0" rtlCol="0" anchor="t"/>
          <a:lstStyle/>
          <a:p>
            <a:pPr indent="0" marL="0">
              <a:buNone/>
            </a:pPr>
            <a:r>
              <a:rPr lang="en-US" sz="1000" dirty="0">
                <a:solidFill>
                  <a:srgbClr val="1A1A2E"/>
                </a:solidFill>
                <a:latin typeface="Calibri" pitchFamily="34" charset="0"/>
                <a:ea typeface="Calibri" pitchFamily="34" charset="-122"/>
                <a:cs typeface="Calibri" pitchFamily="34" charset="-120"/>
              </a:rPr>
              <a:t>Missing entirely</a:t>
            </a:r>
            <a:endParaRPr lang="en-US" sz="1000" dirty="0"/>
          </a:p>
        </p:txBody>
      </p:sp>
      <p:sp>
        <p:nvSpPr>
          <p:cNvPr id="23" name="Text 21"/>
          <p:cNvSpPr/>
          <p:nvPr/>
        </p:nvSpPr>
        <p:spPr>
          <a:xfrm>
            <a:off x="4983480" y="2779776"/>
            <a:ext cx="3566160" cy="566928"/>
          </a:xfrm>
          <a:prstGeom prst="rect">
            <a:avLst/>
          </a:prstGeom>
          <a:noFill/>
          <a:ln/>
        </p:spPr>
        <p:txBody>
          <a:bodyPr wrap="square" lIns="0" tIns="0" rIns="0" bIns="0" rtlCol="0" anchor="t"/>
          <a:lstStyle/>
          <a:p>
            <a:pPr indent="0" marL="0">
              <a:buNone/>
            </a:pPr>
            <a:r>
              <a:rPr lang="en-US" sz="1000" i="1" dirty="0">
                <a:solidFill>
                  <a:srgbClr val="C0392B"/>
                </a:solidFill>
                <a:latin typeface="Calibri" pitchFamily="34" charset="0"/>
                <a:ea typeface="Calibri" pitchFamily="34" charset="-122"/>
                <a:cs typeface="Calibri" pitchFamily="34" charset="-120"/>
              </a:rPr>
              <a:t>There is no moment where the deck makes its point</a:t>
            </a:r>
            <a:endParaRPr lang="en-US" sz="1000" dirty="0"/>
          </a:p>
        </p:txBody>
      </p:sp>
      <p:sp>
        <p:nvSpPr>
          <p:cNvPr id="24" name="Shape 22"/>
          <p:cNvSpPr/>
          <p:nvPr/>
        </p:nvSpPr>
        <p:spPr>
          <a:xfrm>
            <a:off x="502920" y="3456432"/>
            <a:ext cx="8138160" cy="676656"/>
          </a:xfrm>
          <a:prstGeom prst="rect">
            <a:avLst/>
          </a:prstGeom>
          <a:solidFill>
            <a:srgbClr val="FFFFFF"/>
          </a:solidFill>
          <a:ln w="12700">
            <a:solidFill>
              <a:srgbClr val="E2E6EA"/>
            </a:solidFill>
            <a:prstDash val="solid"/>
          </a:ln>
        </p:spPr>
      </p:sp>
      <p:sp>
        <p:nvSpPr>
          <p:cNvPr id="25" name="Shape 23"/>
          <p:cNvSpPr/>
          <p:nvPr/>
        </p:nvSpPr>
        <p:spPr>
          <a:xfrm>
            <a:off x="502920" y="3456432"/>
            <a:ext cx="1325880" cy="676656"/>
          </a:xfrm>
          <a:prstGeom prst="rect">
            <a:avLst/>
          </a:prstGeom>
          <a:solidFill>
            <a:srgbClr val="2471A3"/>
          </a:solidFill>
          <a:ln w="12700">
            <a:solidFill>
              <a:srgbClr val="2471A3"/>
            </a:solidFill>
            <a:prstDash val="solid"/>
          </a:ln>
        </p:spPr>
      </p:sp>
      <p:sp>
        <p:nvSpPr>
          <p:cNvPr id="26" name="Text 24"/>
          <p:cNvSpPr/>
          <p:nvPr/>
        </p:nvSpPr>
        <p:spPr>
          <a:xfrm>
            <a:off x="502920" y="3456432"/>
            <a:ext cx="1325880" cy="6766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Evidence</a:t>
            </a:r>
            <a:endParaRPr lang="en-US" sz="1000" dirty="0"/>
          </a:p>
        </p:txBody>
      </p:sp>
      <p:sp>
        <p:nvSpPr>
          <p:cNvPr id="27" name="Text 25"/>
          <p:cNvSpPr/>
          <p:nvPr/>
        </p:nvSpPr>
        <p:spPr>
          <a:xfrm>
            <a:off x="1920240" y="3511296"/>
            <a:ext cx="2926080" cy="566928"/>
          </a:xfrm>
          <a:prstGeom prst="rect">
            <a:avLst/>
          </a:prstGeom>
          <a:noFill/>
          <a:ln/>
        </p:spPr>
        <p:txBody>
          <a:bodyPr wrap="square" lIns="0" tIns="0" rIns="0" bIns="0" rtlCol="0" anchor="t"/>
          <a:lstStyle/>
          <a:p>
            <a:pPr indent="0" marL="0">
              <a:buNone/>
            </a:pPr>
            <a:r>
              <a:rPr lang="en-US" sz="1000" dirty="0">
                <a:solidFill>
                  <a:srgbClr val="1A1A2E"/>
                </a:solidFill>
                <a:latin typeface="Calibri" pitchFamily="34" charset="0"/>
                <a:ea typeface="Calibri" pitchFamily="34" charset="-122"/>
                <a:cs typeface="Calibri" pitchFamily="34" charset="-120"/>
              </a:rPr>
              <a:t>Slides 4 to 8 (revenue, projects, budget)</a:t>
            </a:r>
            <a:endParaRPr lang="en-US" sz="1000" dirty="0"/>
          </a:p>
        </p:txBody>
      </p:sp>
      <p:sp>
        <p:nvSpPr>
          <p:cNvPr id="28" name="Text 26"/>
          <p:cNvSpPr/>
          <p:nvPr/>
        </p:nvSpPr>
        <p:spPr>
          <a:xfrm>
            <a:off x="4983480" y="3511296"/>
            <a:ext cx="3566160" cy="566928"/>
          </a:xfrm>
          <a:prstGeom prst="rect">
            <a:avLst/>
          </a:prstGeom>
          <a:noFill/>
          <a:ln/>
        </p:spPr>
        <p:txBody>
          <a:bodyPr wrap="square" lIns="0" tIns="0" rIns="0" bIns="0" rtlCol="0" anchor="t"/>
          <a:lstStyle/>
          <a:p>
            <a:pPr indent="0" marL="0">
              <a:buNone/>
            </a:pPr>
            <a:r>
              <a:rPr lang="en-US" sz="1000" i="1" dirty="0">
                <a:solidFill>
                  <a:srgbClr val="C0392B"/>
                </a:solidFill>
                <a:latin typeface="Calibri" pitchFamily="34" charset="0"/>
                <a:ea typeface="Calibri" pitchFamily="34" charset="-122"/>
                <a:cs typeface="Calibri" pitchFamily="34" charset="-120"/>
              </a:rPr>
              <a:t>Data is presented but not connected to an argument</a:t>
            </a:r>
            <a:endParaRPr lang="en-US" sz="1000" dirty="0"/>
          </a:p>
        </p:txBody>
      </p:sp>
      <p:sp>
        <p:nvSpPr>
          <p:cNvPr id="29" name="Shape 27"/>
          <p:cNvSpPr/>
          <p:nvPr/>
        </p:nvSpPr>
        <p:spPr>
          <a:xfrm>
            <a:off x="502920" y="4187952"/>
            <a:ext cx="8138160" cy="676656"/>
          </a:xfrm>
          <a:prstGeom prst="rect">
            <a:avLst/>
          </a:prstGeom>
          <a:solidFill>
            <a:srgbClr val="F8FAFB"/>
          </a:solidFill>
          <a:ln w="12700">
            <a:solidFill>
              <a:srgbClr val="E2E6EA"/>
            </a:solidFill>
            <a:prstDash val="solid"/>
          </a:ln>
        </p:spPr>
      </p:sp>
      <p:sp>
        <p:nvSpPr>
          <p:cNvPr id="30" name="Shape 28"/>
          <p:cNvSpPr/>
          <p:nvPr/>
        </p:nvSpPr>
        <p:spPr>
          <a:xfrm>
            <a:off x="502920" y="4187952"/>
            <a:ext cx="1325880" cy="676656"/>
          </a:xfrm>
          <a:prstGeom prst="rect">
            <a:avLst/>
          </a:prstGeom>
          <a:solidFill>
            <a:srgbClr val="1E8449"/>
          </a:solidFill>
          <a:ln w="12700">
            <a:solidFill>
              <a:srgbClr val="1E8449"/>
            </a:solidFill>
            <a:prstDash val="solid"/>
          </a:ln>
        </p:spPr>
      </p:sp>
      <p:sp>
        <p:nvSpPr>
          <p:cNvPr id="31" name="Text 29"/>
          <p:cNvSpPr/>
          <p:nvPr/>
        </p:nvSpPr>
        <p:spPr>
          <a:xfrm>
            <a:off x="502920" y="4187952"/>
            <a:ext cx="1325880" cy="6766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Resolution</a:t>
            </a:r>
            <a:endParaRPr lang="en-US" sz="1000" dirty="0"/>
          </a:p>
        </p:txBody>
      </p:sp>
      <p:sp>
        <p:nvSpPr>
          <p:cNvPr id="32" name="Text 30"/>
          <p:cNvSpPr/>
          <p:nvPr/>
        </p:nvSpPr>
        <p:spPr>
          <a:xfrm>
            <a:off x="1920240" y="4242816"/>
            <a:ext cx="2926080" cy="566928"/>
          </a:xfrm>
          <a:prstGeom prst="rect">
            <a:avLst/>
          </a:prstGeom>
          <a:noFill/>
          <a:ln/>
        </p:spPr>
        <p:txBody>
          <a:bodyPr wrap="square" lIns="0" tIns="0" rIns="0" bIns="0" rtlCol="0" anchor="t"/>
          <a:lstStyle/>
          <a:p>
            <a:pPr indent="0" marL="0">
              <a:buNone/>
            </a:pPr>
            <a:r>
              <a:rPr lang="en-US" sz="1000" dirty="0">
                <a:solidFill>
                  <a:srgbClr val="1A1A2E"/>
                </a:solidFill>
                <a:latin typeface="Calibri" pitchFamily="34" charset="0"/>
                <a:ea typeface="Calibri" pitchFamily="34" charset="-122"/>
                <a:cs typeface="Calibri" pitchFamily="34" charset="-120"/>
              </a:rPr>
              <a:t>Slide 11, bullet point 4 of 6</a:t>
            </a:r>
            <a:endParaRPr lang="en-US" sz="1000" dirty="0"/>
          </a:p>
        </p:txBody>
      </p:sp>
      <p:sp>
        <p:nvSpPr>
          <p:cNvPr id="33" name="Text 31"/>
          <p:cNvSpPr/>
          <p:nvPr/>
        </p:nvSpPr>
        <p:spPr>
          <a:xfrm>
            <a:off x="4983480" y="4242816"/>
            <a:ext cx="3566160" cy="566928"/>
          </a:xfrm>
          <a:prstGeom prst="rect">
            <a:avLst/>
          </a:prstGeom>
          <a:noFill/>
          <a:ln/>
        </p:spPr>
        <p:txBody>
          <a:bodyPr wrap="square" lIns="0" tIns="0" rIns="0" bIns="0" rtlCol="0" anchor="t"/>
          <a:lstStyle/>
          <a:p>
            <a:pPr indent="0" marL="0">
              <a:buNone/>
            </a:pPr>
            <a:r>
              <a:rPr lang="en-US" sz="1000" i="1" dirty="0">
                <a:solidFill>
                  <a:srgbClr val="C0392B"/>
                </a:solidFill>
                <a:latin typeface="Calibri" pitchFamily="34" charset="0"/>
                <a:ea typeface="Calibri" pitchFamily="34" charset="-122"/>
                <a:cs typeface="Calibri" pitchFamily="34" charset="-120"/>
              </a:rPr>
              <a:t>The actual ask is buried and hard to find</a:t>
            </a:r>
            <a:endParaRPr lang="en-US" sz="1000" dirty="0"/>
          </a:p>
        </p:txBody>
      </p:sp>
      <p:sp>
        <p:nvSpPr>
          <p:cNvPr id="34" name="Text 32"/>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6 / 11</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sp>
      <p:sp>
        <p:nvSpPr>
          <p:cNvPr id="3" name="Text 1"/>
          <p:cNvSpPr/>
          <p:nvPr/>
        </p:nvSpPr>
        <p:spPr>
          <a:xfrm>
            <a:off x="502920" y="201168"/>
            <a:ext cx="8138160" cy="502920"/>
          </a:xfrm>
          <a:prstGeom prst="rect">
            <a:avLst/>
          </a:prstGeom>
          <a:noFill/>
          <a:ln/>
        </p:spPr>
        <p:txBody>
          <a:bodyPr wrap="square" lIns="0" tIns="0" rIns="0" bIns="0"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Data storytelling: three principles to apply right now</a:t>
            </a:r>
            <a:endParaRPr lang="en-US" sz="2200" dirty="0"/>
          </a:p>
        </p:txBody>
      </p:sp>
      <p:sp>
        <p:nvSpPr>
          <p:cNvPr id="4" name="Shape 2"/>
          <p:cNvSpPr/>
          <p:nvPr/>
        </p:nvSpPr>
        <p:spPr>
          <a:xfrm>
            <a:off x="502920" y="749808"/>
            <a:ext cx="8138160" cy="22860"/>
          </a:xfrm>
          <a:prstGeom prst="rect">
            <a:avLst/>
          </a:prstGeom>
          <a:solidFill>
            <a:srgbClr val="E2E6EA"/>
          </a:solidFill>
          <a:ln w="12700">
            <a:solidFill>
              <a:srgbClr val="E2E6EA"/>
            </a:solidFill>
            <a:prstDash val="solid"/>
          </a:ln>
        </p:spPr>
      </p:sp>
      <p:sp>
        <p:nvSpPr>
          <p:cNvPr id="5" name="Shape 3"/>
          <p:cNvSpPr/>
          <p:nvPr/>
        </p:nvSpPr>
        <p:spPr>
          <a:xfrm>
            <a:off x="502920" y="1207008"/>
            <a:ext cx="402336" cy="402336"/>
          </a:xfrm>
          <a:prstGeom prst="ellipse">
            <a:avLst/>
          </a:prstGeom>
          <a:solidFill>
            <a:srgbClr val="1E2761"/>
          </a:solidFill>
          <a:ln w="12700">
            <a:solidFill>
              <a:srgbClr val="1E2761"/>
            </a:solidFill>
            <a:prstDash val="solid"/>
          </a:ln>
        </p:spPr>
      </p:sp>
      <p:sp>
        <p:nvSpPr>
          <p:cNvPr id="6" name="Text 4"/>
          <p:cNvSpPr/>
          <p:nvPr/>
        </p:nvSpPr>
        <p:spPr>
          <a:xfrm>
            <a:off x="502920" y="120700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51560" y="932688"/>
            <a:ext cx="7589520" cy="34747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One point per chart</a:t>
            </a:r>
            <a:endParaRPr lang="en-US" sz="1300" dirty="0"/>
          </a:p>
        </p:txBody>
      </p:sp>
      <p:sp>
        <p:nvSpPr>
          <p:cNvPr id="8" name="Text 6"/>
          <p:cNvSpPr/>
          <p:nvPr/>
        </p:nvSpPr>
        <p:spPr>
          <a:xfrm>
            <a:off x="1051560" y="1280160"/>
            <a:ext cx="7589520" cy="347472"/>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Every chart should answer exactly one question. If you need two questions answered, use two charts.</a:t>
            </a:r>
            <a:endParaRPr lang="en-US" sz="1100" dirty="0"/>
          </a:p>
        </p:txBody>
      </p:sp>
      <p:sp>
        <p:nvSpPr>
          <p:cNvPr id="9" name="Text 7"/>
          <p:cNvSpPr/>
          <p:nvPr/>
        </p:nvSpPr>
        <p:spPr>
          <a:xfrm>
            <a:off x="1051560" y="1682496"/>
            <a:ext cx="594360" cy="256032"/>
          </a:xfrm>
          <a:prstGeom prst="rect">
            <a:avLst/>
          </a:prstGeom>
          <a:noFill/>
          <a:ln/>
        </p:spPr>
        <p:txBody>
          <a:bodyPr wrap="square" lIns="0" tIns="0" rIns="0" bIns="0" rtlCol="0" anchor="ctr"/>
          <a:lstStyle/>
          <a:p>
            <a:pPr indent="0" marL="0">
              <a:buNone/>
            </a:pPr>
            <a:r>
              <a:rPr lang="en-US" sz="900" b="1" dirty="0">
                <a:solidFill>
                  <a:srgbClr val="C0392B"/>
                </a:solidFill>
                <a:latin typeface="Calibri" pitchFamily="34" charset="0"/>
                <a:ea typeface="Calibri" pitchFamily="34" charset="-122"/>
                <a:cs typeface="Calibri" pitchFamily="34" charset="-120"/>
              </a:rPr>
              <a:t>Before:</a:t>
            </a:r>
            <a:endParaRPr lang="en-US" sz="900" dirty="0"/>
          </a:p>
        </p:txBody>
      </p:sp>
      <p:sp>
        <p:nvSpPr>
          <p:cNvPr id="10" name="Text 8"/>
          <p:cNvSpPr/>
          <p:nvPr/>
        </p:nvSpPr>
        <p:spPr>
          <a:xfrm>
            <a:off x="1645920" y="1682496"/>
            <a:ext cx="2743200" cy="256032"/>
          </a:xfrm>
          <a:prstGeom prst="rect">
            <a:avLst/>
          </a:prstGeom>
          <a:noFill/>
          <a:ln/>
        </p:spPr>
        <p:txBody>
          <a:bodyPr wrap="square" lIns="0" tIns="0" rIns="0" bIns="0" rtlCol="0" anchor="ctr"/>
          <a:lstStyle/>
          <a:p>
            <a:pPr indent="0" marL="0">
              <a:buNone/>
            </a:pPr>
            <a:r>
              <a:rPr lang="en-US" sz="1000" i="1" dirty="0">
                <a:solidFill>
                  <a:srgbClr val="4A5568"/>
                </a:solidFill>
                <a:latin typeface="Calibri" pitchFamily="34" charset="0"/>
                <a:ea typeface="Calibri" pitchFamily="34" charset="-122"/>
                <a:cs typeface="Calibri" pitchFamily="34" charset="-120"/>
              </a:rPr>
              <a:t>Pie chart: 7 segments, no label</a:t>
            </a:r>
            <a:endParaRPr lang="en-US" sz="1000" dirty="0"/>
          </a:p>
        </p:txBody>
      </p:sp>
      <p:sp>
        <p:nvSpPr>
          <p:cNvPr id="11" name="Text 9"/>
          <p:cNvSpPr/>
          <p:nvPr/>
        </p:nvSpPr>
        <p:spPr>
          <a:xfrm>
            <a:off x="4663440" y="1682496"/>
            <a:ext cx="502920" cy="256032"/>
          </a:xfrm>
          <a:prstGeom prst="rect">
            <a:avLst/>
          </a:prstGeom>
          <a:noFill/>
          <a:ln/>
        </p:spPr>
        <p:txBody>
          <a:bodyPr wrap="square" lIns="0" tIns="0" rIns="0" bIns="0" rtlCol="0" anchor="ctr"/>
          <a:lstStyle/>
          <a:p>
            <a:pPr indent="0" marL="0">
              <a:buNone/>
            </a:pPr>
            <a:r>
              <a:rPr lang="en-US" sz="900" b="1" dirty="0">
                <a:solidFill>
                  <a:srgbClr val="27AE60"/>
                </a:solidFill>
                <a:latin typeface="Calibri" pitchFamily="34" charset="0"/>
                <a:ea typeface="Calibri" pitchFamily="34" charset="-122"/>
                <a:cs typeface="Calibri" pitchFamily="34" charset="-120"/>
              </a:rPr>
              <a:t>After:</a:t>
            </a:r>
            <a:endParaRPr lang="en-US" sz="900" dirty="0"/>
          </a:p>
        </p:txBody>
      </p:sp>
      <p:sp>
        <p:nvSpPr>
          <p:cNvPr id="12" name="Text 10"/>
          <p:cNvSpPr/>
          <p:nvPr/>
        </p:nvSpPr>
        <p:spPr>
          <a:xfrm>
            <a:off x="5166360" y="1682496"/>
            <a:ext cx="3474720" cy="256032"/>
          </a:xfrm>
          <a:prstGeom prst="rect">
            <a:avLst/>
          </a:prstGeom>
          <a:noFill/>
          <a:ln/>
        </p:spPr>
        <p:txBody>
          <a:bodyPr wrap="square" lIns="0" tIns="0" rIns="0" bIns="0" rtlCol="0" anchor="ctr"/>
          <a:lstStyle/>
          <a:p>
            <a:pPr indent="0" marL="0">
              <a:buNone/>
            </a:pPr>
            <a:r>
              <a:rPr lang="en-US" sz="1000" dirty="0">
                <a:solidFill>
                  <a:srgbClr val="1A1A2E"/>
                </a:solidFill>
                <a:latin typeface="Calibri" pitchFamily="34" charset="0"/>
                <a:ea typeface="Calibri" pitchFamily="34" charset="-122"/>
                <a:cs typeface="Calibri" pitchFamily="34" charset="-120"/>
              </a:rPr>
              <a:t>Bar chart: Asset Mgmt leads at 22%</a:t>
            </a:r>
            <a:endParaRPr lang="en-US" sz="1000" dirty="0"/>
          </a:p>
        </p:txBody>
      </p:sp>
      <p:sp>
        <p:nvSpPr>
          <p:cNvPr id="13" name="Shape 11"/>
          <p:cNvSpPr/>
          <p:nvPr/>
        </p:nvSpPr>
        <p:spPr>
          <a:xfrm>
            <a:off x="502920" y="2212848"/>
            <a:ext cx="8138160" cy="16459"/>
          </a:xfrm>
          <a:prstGeom prst="rect">
            <a:avLst/>
          </a:prstGeom>
          <a:solidFill>
            <a:srgbClr val="E2E6EA"/>
          </a:solidFill>
          <a:ln w="12700">
            <a:solidFill>
              <a:srgbClr val="E2E6EA"/>
            </a:solidFill>
            <a:prstDash val="solid"/>
          </a:ln>
        </p:spPr>
      </p:sp>
      <p:sp>
        <p:nvSpPr>
          <p:cNvPr id="14" name="Shape 12"/>
          <p:cNvSpPr/>
          <p:nvPr/>
        </p:nvSpPr>
        <p:spPr>
          <a:xfrm>
            <a:off x="502920" y="2578608"/>
            <a:ext cx="402336" cy="402336"/>
          </a:xfrm>
          <a:prstGeom prst="ellipse">
            <a:avLst/>
          </a:prstGeom>
          <a:solidFill>
            <a:srgbClr val="1E2761"/>
          </a:solidFill>
          <a:ln w="12700">
            <a:solidFill>
              <a:srgbClr val="1E2761"/>
            </a:solidFill>
            <a:prstDash val="solid"/>
          </a:ln>
        </p:spPr>
      </p:sp>
      <p:sp>
        <p:nvSpPr>
          <p:cNvPr id="15" name="Text 13"/>
          <p:cNvSpPr/>
          <p:nvPr/>
        </p:nvSpPr>
        <p:spPr>
          <a:xfrm>
            <a:off x="502920" y="257860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p:nvPr/>
        </p:nvSpPr>
        <p:spPr>
          <a:xfrm>
            <a:off x="1051560" y="2304288"/>
            <a:ext cx="7589520" cy="34747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 insight goes in the title</a:t>
            </a:r>
            <a:endParaRPr lang="en-US" sz="1300" dirty="0"/>
          </a:p>
        </p:txBody>
      </p:sp>
      <p:sp>
        <p:nvSpPr>
          <p:cNvPr id="17" name="Text 15"/>
          <p:cNvSpPr/>
          <p:nvPr/>
        </p:nvSpPr>
        <p:spPr>
          <a:xfrm>
            <a:off x="1051560" y="2651760"/>
            <a:ext cx="7589520" cy="347472"/>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Instead of labelling the data, state what it means.</a:t>
            </a:r>
            <a:endParaRPr lang="en-US" sz="1100" dirty="0"/>
          </a:p>
        </p:txBody>
      </p:sp>
      <p:sp>
        <p:nvSpPr>
          <p:cNvPr id="18" name="Text 16"/>
          <p:cNvSpPr/>
          <p:nvPr/>
        </p:nvSpPr>
        <p:spPr>
          <a:xfrm>
            <a:off x="1051560" y="3054096"/>
            <a:ext cx="594360" cy="256032"/>
          </a:xfrm>
          <a:prstGeom prst="rect">
            <a:avLst/>
          </a:prstGeom>
          <a:noFill/>
          <a:ln/>
        </p:spPr>
        <p:txBody>
          <a:bodyPr wrap="square" lIns="0" tIns="0" rIns="0" bIns="0" rtlCol="0" anchor="ctr"/>
          <a:lstStyle/>
          <a:p>
            <a:pPr indent="0" marL="0">
              <a:buNone/>
            </a:pPr>
            <a:r>
              <a:rPr lang="en-US" sz="900" b="1" dirty="0">
                <a:solidFill>
                  <a:srgbClr val="C0392B"/>
                </a:solidFill>
                <a:latin typeface="Calibri" pitchFamily="34" charset="0"/>
                <a:ea typeface="Calibri" pitchFamily="34" charset="-122"/>
                <a:cs typeface="Calibri" pitchFamily="34" charset="-120"/>
              </a:rPr>
              <a:t>Before:</a:t>
            </a:r>
            <a:endParaRPr lang="en-US" sz="900" dirty="0"/>
          </a:p>
        </p:txBody>
      </p:sp>
      <p:sp>
        <p:nvSpPr>
          <p:cNvPr id="19" name="Text 17"/>
          <p:cNvSpPr/>
          <p:nvPr/>
        </p:nvSpPr>
        <p:spPr>
          <a:xfrm>
            <a:off x="1645920" y="3054096"/>
            <a:ext cx="2743200" cy="256032"/>
          </a:xfrm>
          <a:prstGeom prst="rect">
            <a:avLst/>
          </a:prstGeom>
          <a:noFill/>
          <a:ln/>
        </p:spPr>
        <p:txBody>
          <a:bodyPr wrap="square" lIns="0" tIns="0" rIns="0" bIns="0" rtlCol="0" anchor="ctr"/>
          <a:lstStyle/>
          <a:p>
            <a:pPr indent="0" marL="0">
              <a:buNone/>
            </a:pPr>
            <a:r>
              <a:rPr lang="en-US" sz="1000" i="1" dirty="0">
                <a:solidFill>
                  <a:srgbClr val="4A5568"/>
                </a:solidFill>
                <a:latin typeface="Calibri" pitchFamily="34" charset="0"/>
                <a:ea typeface="Calibri" pitchFamily="34" charset="-122"/>
                <a:cs typeface="Calibri" pitchFamily="34" charset="-120"/>
              </a:rPr>
              <a:t>Revenue by Quarter</a:t>
            </a:r>
            <a:endParaRPr lang="en-US" sz="1000" dirty="0"/>
          </a:p>
        </p:txBody>
      </p:sp>
      <p:sp>
        <p:nvSpPr>
          <p:cNvPr id="20" name="Text 18"/>
          <p:cNvSpPr/>
          <p:nvPr/>
        </p:nvSpPr>
        <p:spPr>
          <a:xfrm>
            <a:off x="4663440" y="3054096"/>
            <a:ext cx="502920" cy="256032"/>
          </a:xfrm>
          <a:prstGeom prst="rect">
            <a:avLst/>
          </a:prstGeom>
          <a:noFill/>
          <a:ln/>
        </p:spPr>
        <p:txBody>
          <a:bodyPr wrap="square" lIns="0" tIns="0" rIns="0" bIns="0" rtlCol="0" anchor="ctr"/>
          <a:lstStyle/>
          <a:p>
            <a:pPr indent="0" marL="0">
              <a:buNone/>
            </a:pPr>
            <a:r>
              <a:rPr lang="en-US" sz="900" b="1" dirty="0">
                <a:solidFill>
                  <a:srgbClr val="27AE60"/>
                </a:solidFill>
                <a:latin typeface="Calibri" pitchFamily="34" charset="0"/>
                <a:ea typeface="Calibri" pitchFamily="34" charset="-122"/>
                <a:cs typeface="Calibri" pitchFamily="34" charset="-120"/>
              </a:rPr>
              <a:t>After:</a:t>
            </a:r>
            <a:endParaRPr lang="en-US" sz="900" dirty="0"/>
          </a:p>
        </p:txBody>
      </p:sp>
      <p:sp>
        <p:nvSpPr>
          <p:cNvPr id="21" name="Text 19"/>
          <p:cNvSpPr/>
          <p:nvPr/>
        </p:nvSpPr>
        <p:spPr>
          <a:xfrm>
            <a:off x="5166360" y="3054096"/>
            <a:ext cx="3474720" cy="256032"/>
          </a:xfrm>
          <a:prstGeom prst="rect">
            <a:avLst/>
          </a:prstGeom>
          <a:noFill/>
          <a:ln/>
        </p:spPr>
        <p:txBody>
          <a:bodyPr wrap="square" lIns="0" tIns="0" rIns="0" bIns="0" rtlCol="0" anchor="ctr"/>
          <a:lstStyle/>
          <a:p>
            <a:pPr indent="0" marL="0">
              <a:buNone/>
            </a:pPr>
            <a:r>
              <a:rPr lang="en-US" sz="1000" dirty="0">
                <a:solidFill>
                  <a:srgbClr val="1A1A2E"/>
                </a:solidFill>
                <a:latin typeface="Calibri" pitchFamily="34" charset="0"/>
                <a:ea typeface="Calibri" pitchFamily="34" charset="-122"/>
                <a:cs typeface="Calibri" pitchFamily="34" charset="-120"/>
              </a:rPr>
              <a:t>Revenue exceeded target for the second quarter running</a:t>
            </a:r>
            <a:endParaRPr lang="en-US" sz="1000" dirty="0"/>
          </a:p>
        </p:txBody>
      </p:sp>
      <p:sp>
        <p:nvSpPr>
          <p:cNvPr id="22" name="Shape 20"/>
          <p:cNvSpPr/>
          <p:nvPr/>
        </p:nvSpPr>
        <p:spPr>
          <a:xfrm>
            <a:off x="502920" y="3584448"/>
            <a:ext cx="8138160" cy="16459"/>
          </a:xfrm>
          <a:prstGeom prst="rect">
            <a:avLst/>
          </a:prstGeom>
          <a:solidFill>
            <a:srgbClr val="E2E6EA"/>
          </a:solidFill>
          <a:ln w="12700">
            <a:solidFill>
              <a:srgbClr val="E2E6EA"/>
            </a:solidFill>
            <a:prstDash val="solid"/>
          </a:ln>
        </p:spPr>
      </p:sp>
      <p:sp>
        <p:nvSpPr>
          <p:cNvPr id="23" name="Shape 21"/>
          <p:cNvSpPr/>
          <p:nvPr/>
        </p:nvSpPr>
        <p:spPr>
          <a:xfrm>
            <a:off x="502920" y="3950208"/>
            <a:ext cx="402336" cy="402336"/>
          </a:xfrm>
          <a:prstGeom prst="ellipse">
            <a:avLst/>
          </a:prstGeom>
          <a:solidFill>
            <a:srgbClr val="1E2761"/>
          </a:solidFill>
          <a:ln w="12700">
            <a:solidFill>
              <a:srgbClr val="1E2761"/>
            </a:solidFill>
            <a:prstDash val="solid"/>
          </a:ln>
        </p:spPr>
      </p:sp>
      <p:sp>
        <p:nvSpPr>
          <p:cNvPr id="24" name="Text 22"/>
          <p:cNvSpPr/>
          <p:nvPr/>
        </p:nvSpPr>
        <p:spPr>
          <a:xfrm>
            <a:off x="502920" y="395020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1051560" y="3675888"/>
            <a:ext cx="7589520" cy="34747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Context makes numbers meaningful</a:t>
            </a:r>
            <a:endParaRPr lang="en-US" sz="1300" dirty="0"/>
          </a:p>
        </p:txBody>
      </p:sp>
      <p:sp>
        <p:nvSpPr>
          <p:cNvPr id="26" name="Text 24"/>
          <p:cNvSpPr/>
          <p:nvPr/>
        </p:nvSpPr>
        <p:spPr>
          <a:xfrm>
            <a:off x="1051560" y="4023360"/>
            <a:ext cx="7589520" cy="347472"/>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A number without a reference point is just a number.</a:t>
            </a:r>
            <a:endParaRPr lang="en-US" sz="1100" dirty="0"/>
          </a:p>
        </p:txBody>
      </p:sp>
      <p:sp>
        <p:nvSpPr>
          <p:cNvPr id="27" name="Text 25"/>
          <p:cNvSpPr/>
          <p:nvPr/>
        </p:nvSpPr>
        <p:spPr>
          <a:xfrm>
            <a:off x="1051560" y="4425696"/>
            <a:ext cx="594360" cy="256032"/>
          </a:xfrm>
          <a:prstGeom prst="rect">
            <a:avLst/>
          </a:prstGeom>
          <a:noFill/>
          <a:ln/>
        </p:spPr>
        <p:txBody>
          <a:bodyPr wrap="square" lIns="0" tIns="0" rIns="0" bIns="0" rtlCol="0" anchor="ctr"/>
          <a:lstStyle/>
          <a:p>
            <a:pPr indent="0" marL="0">
              <a:buNone/>
            </a:pPr>
            <a:r>
              <a:rPr lang="en-US" sz="900" b="1" dirty="0">
                <a:solidFill>
                  <a:srgbClr val="C0392B"/>
                </a:solidFill>
                <a:latin typeface="Calibri" pitchFamily="34" charset="0"/>
                <a:ea typeface="Calibri" pitchFamily="34" charset="-122"/>
                <a:cs typeface="Calibri" pitchFamily="34" charset="-120"/>
              </a:rPr>
              <a:t>Before:</a:t>
            </a:r>
            <a:endParaRPr lang="en-US" sz="900" dirty="0"/>
          </a:p>
        </p:txBody>
      </p:sp>
      <p:sp>
        <p:nvSpPr>
          <p:cNvPr id="28" name="Text 26"/>
          <p:cNvSpPr/>
          <p:nvPr/>
        </p:nvSpPr>
        <p:spPr>
          <a:xfrm>
            <a:off x="1645920" y="4425696"/>
            <a:ext cx="2743200" cy="256032"/>
          </a:xfrm>
          <a:prstGeom prst="rect">
            <a:avLst/>
          </a:prstGeom>
          <a:noFill/>
          <a:ln/>
        </p:spPr>
        <p:txBody>
          <a:bodyPr wrap="square" lIns="0" tIns="0" rIns="0" bIns="0" rtlCol="0" anchor="ctr"/>
          <a:lstStyle/>
          <a:p>
            <a:pPr indent="0" marL="0">
              <a:buNone/>
            </a:pPr>
            <a:r>
              <a:rPr lang="en-US" sz="1000" i="1" dirty="0">
                <a:solidFill>
                  <a:srgbClr val="4A5568"/>
                </a:solidFill>
                <a:latin typeface="Calibri" pitchFamily="34" charset="0"/>
                <a:ea typeface="Calibri" pitchFamily="34" charset="-122"/>
                <a:cs typeface="Calibri" pitchFamily="34" charset="-120"/>
              </a:rPr>
              <a:t>RM 4.2M revenue</a:t>
            </a:r>
            <a:endParaRPr lang="en-US" sz="1000" dirty="0"/>
          </a:p>
        </p:txBody>
      </p:sp>
      <p:sp>
        <p:nvSpPr>
          <p:cNvPr id="29" name="Text 27"/>
          <p:cNvSpPr/>
          <p:nvPr/>
        </p:nvSpPr>
        <p:spPr>
          <a:xfrm>
            <a:off x="4663440" y="4425696"/>
            <a:ext cx="502920" cy="256032"/>
          </a:xfrm>
          <a:prstGeom prst="rect">
            <a:avLst/>
          </a:prstGeom>
          <a:noFill/>
          <a:ln/>
        </p:spPr>
        <p:txBody>
          <a:bodyPr wrap="square" lIns="0" tIns="0" rIns="0" bIns="0" rtlCol="0" anchor="ctr"/>
          <a:lstStyle/>
          <a:p>
            <a:pPr indent="0" marL="0">
              <a:buNone/>
            </a:pPr>
            <a:r>
              <a:rPr lang="en-US" sz="900" b="1" dirty="0">
                <a:solidFill>
                  <a:srgbClr val="27AE60"/>
                </a:solidFill>
                <a:latin typeface="Calibri" pitchFamily="34" charset="0"/>
                <a:ea typeface="Calibri" pitchFamily="34" charset="-122"/>
                <a:cs typeface="Calibri" pitchFamily="34" charset="-120"/>
              </a:rPr>
              <a:t>After:</a:t>
            </a:r>
            <a:endParaRPr lang="en-US" sz="900" dirty="0"/>
          </a:p>
        </p:txBody>
      </p:sp>
      <p:sp>
        <p:nvSpPr>
          <p:cNvPr id="30" name="Text 28"/>
          <p:cNvSpPr/>
          <p:nvPr/>
        </p:nvSpPr>
        <p:spPr>
          <a:xfrm>
            <a:off x="5166360" y="4425696"/>
            <a:ext cx="3474720" cy="256032"/>
          </a:xfrm>
          <a:prstGeom prst="rect">
            <a:avLst/>
          </a:prstGeom>
          <a:noFill/>
          <a:ln/>
        </p:spPr>
        <p:txBody>
          <a:bodyPr wrap="square" lIns="0" tIns="0" rIns="0" bIns="0" rtlCol="0" anchor="ctr"/>
          <a:lstStyle/>
          <a:p>
            <a:pPr indent="0" marL="0">
              <a:buNone/>
            </a:pPr>
            <a:r>
              <a:rPr lang="en-US" sz="1000" dirty="0">
                <a:solidFill>
                  <a:srgbClr val="1A1A2E"/>
                </a:solidFill>
                <a:latin typeface="Calibri" pitchFamily="34" charset="0"/>
                <a:ea typeface="Calibri" pitchFamily="34" charset="-122"/>
                <a:cs typeface="Calibri" pitchFamily="34" charset="-120"/>
              </a:rPr>
              <a:t>RM 4.2M — 10% above target, best Q3 in 4 years</a:t>
            </a:r>
            <a:endParaRPr lang="en-US" sz="1000" dirty="0"/>
          </a:p>
        </p:txBody>
      </p:sp>
      <p:sp>
        <p:nvSpPr>
          <p:cNvPr id="31" name="Text 29"/>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7 / 11</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sp>
      <p:sp>
        <p:nvSpPr>
          <p:cNvPr id="3" name="Text 1"/>
          <p:cNvSpPr/>
          <p:nvPr/>
        </p:nvSpPr>
        <p:spPr>
          <a:xfrm>
            <a:off x="502920" y="201168"/>
            <a:ext cx="8138160" cy="502920"/>
          </a:xfrm>
          <a:prstGeom prst="rect">
            <a:avLst/>
          </a:prstGeom>
          <a:noFill/>
          <a:ln/>
        </p:spPr>
        <p:txBody>
          <a:bodyPr wrap="square" lIns="0" tIns="0" rIns="0" bIns="0"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Your working brief for the next two days</a:t>
            </a:r>
            <a:endParaRPr lang="en-US" sz="2200" dirty="0"/>
          </a:p>
        </p:txBody>
      </p:sp>
      <p:sp>
        <p:nvSpPr>
          <p:cNvPr id="4" name="Shape 2"/>
          <p:cNvSpPr/>
          <p:nvPr/>
        </p:nvSpPr>
        <p:spPr>
          <a:xfrm>
            <a:off x="502920" y="749808"/>
            <a:ext cx="8138160" cy="22860"/>
          </a:xfrm>
          <a:prstGeom prst="rect">
            <a:avLst/>
          </a:prstGeom>
          <a:solidFill>
            <a:srgbClr val="E2E6EA"/>
          </a:solidFill>
          <a:ln w="12700">
            <a:solidFill>
              <a:srgbClr val="E2E6EA"/>
            </a:solidFill>
            <a:prstDash val="solid"/>
          </a:ln>
        </p:spPr>
      </p:sp>
      <p:pic>
        <p:nvPicPr>
          <p:cNvPr id="5" name="Image 0" descr="preencoded.png">    </p:cNvPr>
          <p:cNvPicPr>
            <a:picLocks noChangeAspect="1"/>
          </p:cNvPicPr>
          <p:nvPr/>
        </p:nvPicPr>
        <p:blipFill>
          <a:blip r:embed="rId1"/>
          <a:srcRect l="0" r="0" t="0" b="0"/>
          <a:stretch/>
        </p:blipFill>
        <p:spPr>
          <a:xfrm>
            <a:off x="502920" y="914400"/>
            <a:ext cx="3200400" cy="3931920"/>
          </a:xfrm>
          <a:prstGeom prst="rect">
            <a:avLst/>
          </a:prstGeom>
        </p:spPr>
      </p:pic>
      <p:sp>
        <p:nvSpPr>
          <p:cNvPr id="6" name="Shape 3"/>
          <p:cNvSpPr/>
          <p:nvPr/>
        </p:nvSpPr>
        <p:spPr>
          <a:xfrm>
            <a:off x="3886200" y="960120"/>
            <a:ext cx="4754880" cy="859536"/>
          </a:xfrm>
          <a:prstGeom prst="rect">
            <a:avLst/>
          </a:prstGeom>
          <a:solidFill>
            <a:srgbClr val="F8FAFB"/>
          </a:solidFill>
          <a:ln w="12700">
            <a:solidFill>
              <a:srgbClr val="E2E6EA"/>
            </a:solidFill>
            <a:prstDash val="solid"/>
          </a:ln>
        </p:spPr>
      </p:sp>
      <p:sp>
        <p:nvSpPr>
          <p:cNvPr id="7" name="Shape 4"/>
          <p:cNvSpPr/>
          <p:nvPr/>
        </p:nvSpPr>
        <p:spPr>
          <a:xfrm>
            <a:off x="3886200" y="960120"/>
            <a:ext cx="1280160" cy="859536"/>
          </a:xfrm>
          <a:prstGeom prst="rect">
            <a:avLst/>
          </a:prstGeom>
          <a:solidFill>
            <a:srgbClr val="028090"/>
          </a:solidFill>
          <a:ln w="12700">
            <a:solidFill>
              <a:srgbClr val="028090"/>
            </a:solidFill>
            <a:prstDash val="solid"/>
          </a:ln>
        </p:spPr>
      </p:sp>
      <p:sp>
        <p:nvSpPr>
          <p:cNvPr id="8" name="Text 5"/>
          <p:cNvSpPr/>
          <p:nvPr/>
        </p:nvSpPr>
        <p:spPr>
          <a:xfrm>
            <a:off x="3886200" y="960120"/>
            <a:ext cx="1280160" cy="85953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AUDIENCE</a:t>
            </a:r>
            <a:endParaRPr lang="en-US" sz="900" dirty="0"/>
          </a:p>
        </p:txBody>
      </p:sp>
      <p:sp>
        <p:nvSpPr>
          <p:cNvPr id="9" name="Text 6"/>
          <p:cNvSpPr/>
          <p:nvPr/>
        </p:nvSpPr>
        <p:spPr>
          <a:xfrm>
            <a:off x="5257800" y="1051560"/>
            <a:ext cx="3291840" cy="676656"/>
          </a:xfrm>
          <a:prstGeom prst="rect">
            <a:avLst/>
          </a:prstGeom>
          <a:noFill/>
          <a:ln/>
        </p:spPr>
        <p:txBody>
          <a:bodyPr wrap="square" lIns="0" tIns="0" rIns="0" bIns="0" rtlCol="0" anchor="t"/>
          <a:lstStyle/>
          <a:p>
            <a:pPr indent="0" marL="0">
              <a:buNone/>
            </a:pPr>
            <a:r>
              <a:rPr lang="en-US" sz="1000" i="1" dirty="0">
                <a:solidFill>
                  <a:srgbClr val="AAAAAA"/>
                </a:solidFill>
                <a:latin typeface="Calibri" pitchFamily="34" charset="0"/>
                <a:ea typeface="Calibri" pitchFamily="34" charset="-122"/>
                <a:cs typeface="Calibri" pitchFamily="34" charset="-120"/>
              </a:rPr>
              <a:t>Who will be in the room? What do they care about?</a:t>
            </a:r>
            <a:endParaRPr lang="en-US" sz="1000" dirty="0"/>
          </a:p>
        </p:txBody>
      </p:sp>
      <p:sp>
        <p:nvSpPr>
          <p:cNvPr id="10" name="Shape 7"/>
          <p:cNvSpPr/>
          <p:nvPr/>
        </p:nvSpPr>
        <p:spPr>
          <a:xfrm>
            <a:off x="3886200" y="1929384"/>
            <a:ext cx="4754880" cy="859536"/>
          </a:xfrm>
          <a:prstGeom prst="rect">
            <a:avLst/>
          </a:prstGeom>
          <a:solidFill>
            <a:srgbClr val="FFFFFF"/>
          </a:solidFill>
          <a:ln w="12700">
            <a:solidFill>
              <a:srgbClr val="E2E6EA"/>
            </a:solidFill>
            <a:prstDash val="solid"/>
          </a:ln>
        </p:spPr>
      </p:sp>
      <p:sp>
        <p:nvSpPr>
          <p:cNvPr id="11" name="Shape 8"/>
          <p:cNvSpPr/>
          <p:nvPr/>
        </p:nvSpPr>
        <p:spPr>
          <a:xfrm>
            <a:off x="3886200" y="1929384"/>
            <a:ext cx="1280160" cy="859536"/>
          </a:xfrm>
          <a:prstGeom prst="rect">
            <a:avLst/>
          </a:prstGeom>
          <a:solidFill>
            <a:srgbClr val="028090"/>
          </a:solidFill>
          <a:ln w="12700">
            <a:solidFill>
              <a:srgbClr val="028090"/>
            </a:solidFill>
            <a:prstDash val="solid"/>
          </a:ln>
        </p:spPr>
      </p:sp>
      <p:sp>
        <p:nvSpPr>
          <p:cNvPr id="12" name="Text 9"/>
          <p:cNvSpPr/>
          <p:nvPr/>
        </p:nvSpPr>
        <p:spPr>
          <a:xfrm>
            <a:off x="3886200" y="1929384"/>
            <a:ext cx="1280160" cy="85953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PURPOSE</a:t>
            </a:r>
            <a:endParaRPr lang="en-US" sz="900" dirty="0"/>
          </a:p>
        </p:txBody>
      </p:sp>
      <p:sp>
        <p:nvSpPr>
          <p:cNvPr id="13" name="Text 10"/>
          <p:cNvSpPr/>
          <p:nvPr/>
        </p:nvSpPr>
        <p:spPr>
          <a:xfrm>
            <a:off x="5257800" y="2020824"/>
            <a:ext cx="3291840" cy="676656"/>
          </a:xfrm>
          <a:prstGeom prst="rect">
            <a:avLst/>
          </a:prstGeom>
          <a:noFill/>
          <a:ln/>
        </p:spPr>
        <p:txBody>
          <a:bodyPr wrap="square" lIns="0" tIns="0" rIns="0" bIns="0" rtlCol="0" anchor="t"/>
          <a:lstStyle/>
          <a:p>
            <a:pPr indent="0" marL="0">
              <a:buNone/>
            </a:pPr>
            <a:r>
              <a:rPr lang="en-US" sz="1000" i="1" dirty="0">
                <a:solidFill>
                  <a:srgbClr val="AAAAAA"/>
                </a:solidFill>
                <a:latin typeface="Calibri" pitchFamily="34" charset="0"/>
                <a:ea typeface="Calibri" pitchFamily="34" charset="-122"/>
                <a:cs typeface="Calibri" pitchFamily="34" charset="-120"/>
              </a:rPr>
              <a:t>Inform / Persuade / Request a decision / Report progress</a:t>
            </a:r>
            <a:endParaRPr lang="en-US" sz="1000" dirty="0"/>
          </a:p>
        </p:txBody>
      </p:sp>
      <p:sp>
        <p:nvSpPr>
          <p:cNvPr id="14" name="Shape 11"/>
          <p:cNvSpPr/>
          <p:nvPr/>
        </p:nvSpPr>
        <p:spPr>
          <a:xfrm>
            <a:off x="3886200" y="2898648"/>
            <a:ext cx="4754880" cy="859536"/>
          </a:xfrm>
          <a:prstGeom prst="rect">
            <a:avLst/>
          </a:prstGeom>
          <a:solidFill>
            <a:srgbClr val="F8FAFB"/>
          </a:solidFill>
          <a:ln w="12700">
            <a:solidFill>
              <a:srgbClr val="E2E6EA"/>
            </a:solidFill>
            <a:prstDash val="solid"/>
          </a:ln>
        </p:spPr>
      </p:sp>
      <p:sp>
        <p:nvSpPr>
          <p:cNvPr id="15" name="Shape 12"/>
          <p:cNvSpPr/>
          <p:nvPr/>
        </p:nvSpPr>
        <p:spPr>
          <a:xfrm>
            <a:off x="3886200" y="2898648"/>
            <a:ext cx="1280160" cy="859536"/>
          </a:xfrm>
          <a:prstGeom prst="rect">
            <a:avLst/>
          </a:prstGeom>
          <a:solidFill>
            <a:srgbClr val="028090"/>
          </a:solidFill>
          <a:ln w="12700">
            <a:solidFill>
              <a:srgbClr val="028090"/>
            </a:solidFill>
            <a:prstDash val="solid"/>
          </a:ln>
        </p:spPr>
      </p:sp>
      <p:sp>
        <p:nvSpPr>
          <p:cNvPr id="16" name="Text 13"/>
          <p:cNvSpPr/>
          <p:nvPr/>
        </p:nvSpPr>
        <p:spPr>
          <a:xfrm>
            <a:off x="3886200" y="2898648"/>
            <a:ext cx="1280160" cy="85953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KEY MESSAGE</a:t>
            </a:r>
            <a:endParaRPr lang="en-US" sz="900" dirty="0"/>
          </a:p>
        </p:txBody>
      </p:sp>
      <p:sp>
        <p:nvSpPr>
          <p:cNvPr id="17" name="Text 14"/>
          <p:cNvSpPr/>
          <p:nvPr/>
        </p:nvSpPr>
        <p:spPr>
          <a:xfrm>
            <a:off x="5257800" y="2990088"/>
            <a:ext cx="3291840" cy="676656"/>
          </a:xfrm>
          <a:prstGeom prst="rect">
            <a:avLst/>
          </a:prstGeom>
          <a:noFill/>
          <a:ln/>
        </p:spPr>
        <p:txBody>
          <a:bodyPr wrap="square" lIns="0" tIns="0" rIns="0" bIns="0" rtlCol="0" anchor="t"/>
          <a:lstStyle/>
          <a:p>
            <a:pPr indent="0" marL="0">
              <a:buNone/>
            </a:pPr>
            <a:r>
              <a:rPr lang="en-US" sz="1000" i="1" dirty="0">
                <a:solidFill>
                  <a:srgbClr val="AAAAAA"/>
                </a:solidFill>
                <a:latin typeface="Calibri" pitchFamily="34" charset="0"/>
                <a:ea typeface="Calibri" pitchFamily="34" charset="-122"/>
                <a:cs typeface="Calibri" pitchFamily="34" charset="-120"/>
              </a:rPr>
              <a:t>One sentence. Must have a verb and a point.</a:t>
            </a:r>
            <a:endParaRPr lang="en-US" sz="1000" dirty="0"/>
          </a:p>
        </p:txBody>
      </p:sp>
      <p:sp>
        <p:nvSpPr>
          <p:cNvPr id="18" name="Shape 15"/>
          <p:cNvSpPr/>
          <p:nvPr/>
        </p:nvSpPr>
        <p:spPr>
          <a:xfrm>
            <a:off x="3886200" y="3867912"/>
            <a:ext cx="4754880" cy="859536"/>
          </a:xfrm>
          <a:prstGeom prst="rect">
            <a:avLst/>
          </a:prstGeom>
          <a:solidFill>
            <a:srgbClr val="FFFFFF"/>
          </a:solidFill>
          <a:ln w="12700">
            <a:solidFill>
              <a:srgbClr val="E2E6EA"/>
            </a:solidFill>
            <a:prstDash val="solid"/>
          </a:ln>
        </p:spPr>
      </p:sp>
      <p:sp>
        <p:nvSpPr>
          <p:cNvPr id="19" name="Shape 16"/>
          <p:cNvSpPr/>
          <p:nvPr/>
        </p:nvSpPr>
        <p:spPr>
          <a:xfrm>
            <a:off x="3886200" y="3867912"/>
            <a:ext cx="1280160" cy="859536"/>
          </a:xfrm>
          <a:prstGeom prst="rect">
            <a:avLst/>
          </a:prstGeom>
          <a:solidFill>
            <a:srgbClr val="028090"/>
          </a:solidFill>
          <a:ln w="12700">
            <a:solidFill>
              <a:srgbClr val="028090"/>
            </a:solidFill>
            <a:prstDash val="solid"/>
          </a:ln>
        </p:spPr>
      </p:sp>
      <p:sp>
        <p:nvSpPr>
          <p:cNvPr id="20" name="Text 17"/>
          <p:cNvSpPr/>
          <p:nvPr/>
        </p:nvSpPr>
        <p:spPr>
          <a:xfrm>
            <a:off x="3886200" y="3867912"/>
            <a:ext cx="1280160" cy="85953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STORYLINE</a:t>
            </a:r>
            <a:endParaRPr lang="en-US" sz="900" dirty="0"/>
          </a:p>
        </p:txBody>
      </p:sp>
      <p:sp>
        <p:nvSpPr>
          <p:cNvPr id="21" name="Text 18"/>
          <p:cNvSpPr/>
          <p:nvPr/>
        </p:nvSpPr>
        <p:spPr>
          <a:xfrm>
            <a:off x="5257800" y="3959352"/>
            <a:ext cx="3291840" cy="676656"/>
          </a:xfrm>
          <a:prstGeom prst="rect">
            <a:avLst/>
          </a:prstGeom>
          <a:noFill/>
          <a:ln/>
        </p:spPr>
        <p:txBody>
          <a:bodyPr wrap="square" lIns="0" tIns="0" rIns="0" bIns="0" rtlCol="0" anchor="t"/>
          <a:lstStyle/>
          <a:p>
            <a:pPr indent="0" marL="0">
              <a:buNone/>
            </a:pPr>
            <a:r>
              <a:rPr lang="en-US" sz="1000" i="1" dirty="0">
                <a:solidFill>
                  <a:srgbClr val="AAAAAA"/>
                </a:solidFill>
                <a:latin typeface="Calibri" pitchFamily="34" charset="0"/>
                <a:ea typeface="Calibri" pitchFamily="34" charset="-122"/>
                <a:cs typeface="Calibri" pitchFamily="34" charset="-120"/>
              </a:rPr>
              <a:t>Situation / Complication / Key Message / Evidence / Resolution</a:t>
            </a:r>
            <a:endParaRPr lang="en-US" sz="1000" dirty="0"/>
          </a:p>
        </p:txBody>
      </p:sp>
      <p:sp>
        <p:nvSpPr>
          <p:cNvPr id="22" name="Text 19"/>
          <p:cNvSpPr/>
          <p:nvPr/>
        </p:nvSpPr>
        <p:spPr>
          <a:xfrm>
            <a:off x="3886200" y="4846320"/>
            <a:ext cx="4754880" cy="256032"/>
          </a:xfrm>
          <a:prstGeom prst="rect">
            <a:avLst/>
          </a:prstGeom>
          <a:noFill/>
          <a:ln/>
        </p:spPr>
        <p:txBody>
          <a:bodyPr wrap="square" lIns="0" tIns="0" rIns="0" bIns="0" rtlCol="0" anchor="ctr"/>
          <a:lstStyle/>
          <a:p>
            <a:pPr indent="0" marL="0">
              <a:buNone/>
            </a:pPr>
            <a:r>
              <a:rPr lang="en-US" sz="1000" i="1" dirty="0">
                <a:solidFill>
                  <a:srgbClr val="4A5568"/>
                </a:solidFill>
                <a:latin typeface="Calibri" pitchFamily="34" charset="0"/>
                <a:ea typeface="Calibri" pitchFamily="34" charset="-122"/>
                <a:cs typeface="Calibri" pitchFamily="34" charset="-120"/>
              </a:rPr>
              <a:t>Fill this in now. It becomes your reference for all 8 modules.</a:t>
            </a:r>
            <a:endParaRPr lang="en-US" sz="1000" dirty="0"/>
          </a:p>
        </p:txBody>
      </p:sp>
      <p:sp>
        <p:nvSpPr>
          <p:cNvPr id="23" name="Text 20"/>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8 / 11</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0A0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0392B"/>
          </a:solidFill>
          <a:ln w="12700">
            <a:solidFill>
              <a:srgbClr val="C0392B"/>
            </a:solidFill>
            <a:prstDash val="solid"/>
          </a:ln>
        </p:spPr>
      </p:sp>
      <p:sp>
        <p:nvSpPr>
          <p:cNvPr id="3" name="Text 1"/>
          <p:cNvSpPr/>
          <p:nvPr/>
        </p:nvSpPr>
        <p:spPr>
          <a:xfrm>
            <a:off x="731520" y="457200"/>
            <a:ext cx="7680960" cy="457200"/>
          </a:xfrm>
          <a:prstGeom prst="rect">
            <a:avLst/>
          </a:prstGeom>
          <a:noFill/>
          <a:ln/>
        </p:spPr>
        <p:txBody>
          <a:bodyPr wrap="square" lIns="0" tIns="0" rIns="0" bIns="0" rtlCol="0" anchor="ctr"/>
          <a:lstStyle/>
          <a:p>
            <a:pPr indent="0" marL="0">
              <a:buNone/>
            </a:pPr>
            <a:r>
              <a:rPr lang="en-US" sz="1300" spc="100" kern="0" dirty="0">
                <a:solidFill>
                  <a:srgbClr val="E8A0A0"/>
                </a:solidFill>
                <a:latin typeface="Calibri" pitchFamily="34" charset="0"/>
                <a:ea typeface="Calibri" pitchFamily="34" charset="-122"/>
                <a:cs typeface="Calibri" pitchFamily="34" charset="-120"/>
              </a:rPr>
              <a:t>The most common mistake in this exercise</a:t>
            </a:r>
            <a:endParaRPr lang="en-US" sz="1300" dirty="0"/>
          </a:p>
        </p:txBody>
      </p:sp>
      <p:sp>
        <p:nvSpPr>
          <p:cNvPr id="4" name="Text 2"/>
          <p:cNvSpPr/>
          <p:nvPr/>
        </p:nvSpPr>
        <p:spPr>
          <a:xfrm>
            <a:off x="731520" y="1005840"/>
            <a:ext cx="7680960" cy="1645920"/>
          </a:xfrm>
          <a:prstGeom prst="rect">
            <a:avLst/>
          </a:prstGeom>
          <a:noFill/>
          <a:ln/>
        </p:spPr>
        <p:txBody>
          <a:bodyPr wrap="square" lIns="0" tIns="0" rIns="0" bIns="0" rtlCol="0" anchor="ctr"/>
          <a:lstStyle/>
          <a:p>
            <a:pPr indent="0" marL="0">
              <a:lnSpc>
                <a:spcPct val="120000"/>
              </a:lnSpc>
              <a:buNone/>
            </a:pPr>
            <a:r>
              <a:rPr lang="en-US" sz="3400" b="1" dirty="0">
                <a:solidFill>
                  <a:srgbClr val="FFFFFF"/>
                </a:solidFill>
                <a:latin typeface="Calibri" pitchFamily="34" charset="0"/>
                <a:ea typeface="Calibri" pitchFamily="34" charset="-122"/>
                <a:cs typeface="Calibri" pitchFamily="34" charset="-120"/>
              </a:rPr>
              <a:t>Writing a topic</a:t>
            </a:r>
            <a:endParaRPr lang="en-US" sz="3400" dirty="0"/>
          </a:p>
          <a:p>
            <a:pPr indent="0" marL="0">
              <a:lnSpc>
                <a:spcPct val="120000"/>
              </a:lnSpc>
              <a:buNone/>
            </a:pPr>
            <a:r>
              <a:rPr lang="en-US" sz="3400" b="1" dirty="0">
                <a:solidFill>
                  <a:srgbClr val="FFFFFF"/>
                </a:solidFill>
                <a:latin typeface="Calibri" pitchFamily="34" charset="0"/>
                <a:ea typeface="Calibri" pitchFamily="34" charset="-122"/>
                <a:cs typeface="Calibri" pitchFamily="34" charset="-120"/>
              </a:rPr>
              <a:t>instead of a message.</a:t>
            </a:r>
            <a:endParaRPr lang="en-US" sz="3400" dirty="0"/>
          </a:p>
        </p:txBody>
      </p:sp>
      <p:sp>
        <p:nvSpPr>
          <p:cNvPr id="5" name="Text 3"/>
          <p:cNvSpPr/>
          <p:nvPr/>
        </p:nvSpPr>
        <p:spPr>
          <a:xfrm>
            <a:off x="731520" y="2834640"/>
            <a:ext cx="7680960" cy="914400"/>
          </a:xfrm>
          <a:prstGeom prst="rect">
            <a:avLst/>
          </a:prstGeom>
          <a:noFill/>
          <a:ln/>
        </p:spPr>
        <p:txBody>
          <a:bodyPr wrap="square" lIns="0" tIns="0" rIns="0" bIns="0" rtlCol="0" anchor="ctr"/>
          <a:lstStyle/>
          <a:p>
            <a:pPr indent="0" marL="0">
              <a:lnSpc>
                <a:spcPct val="150000"/>
              </a:lnSpc>
              <a:buNone/>
            </a:pPr>
            <a:r>
              <a:rPr lang="en-US" sz="1700" dirty="0">
                <a:solidFill>
                  <a:srgbClr val="E8A0A0"/>
                </a:solidFill>
                <a:latin typeface="Calibri" pitchFamily="34" charset="0"/>
                <a:ea typeface="Calibri" pitchFamily="34" charset="-122"/>
                <a:cs typeface="Calibri" pitchFamily="34" charset="-120"/>
              </a:rPr>
              <a:t>Test: read your key message out loud.</a:t>
            </a:r>
            <a:endParaRPr lang="en-US" sz="1700" dirty="0"/>
          </a:p>
          <a:p>
            <a:pPr indent="0" marL="0">
              <a:lnSpc>
                <a:spcPct val="150000"/>
              </a:lnSpc>
              <a:buNone/>
            </a:pPr>
            <a:r>
              <a:rPr lang="en-US" sz="1700" dirty="0">
                <a:solidFill>
                  <a:srgbClr val="E8A0A0"/>
                </a:solidFill>
                <a:latin typeface="Calibri" pitchFamily="34" charset="0"/>
                <a:ea typeface="Calibri" pitchFamily="34" charset="-122"/>
                <a:cs typeface="Calibri" pitchFamily="34" charset="-120"/>
              </a:rPr>
              <a:t>If it does not have a verb, it is not a message yet.</a:t>
            </a:r>
            <a:endParaRPr lang="en-US" sz="1700" dirty="0"/>
          </a:p>
        </p:txBody>
      </p:sp>
      <p:sp>
        <p:nvSpPr>
          <p:cNvPr id="6" name="Text 4"/>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9 / 11</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sp>
      <p:sp>
        <p:nvSpPr>
          <p:cNvPr id="3" name="Text 1"/>
          <p:cNvSpPr/>
          <p:nvPr/>
        </p:nvSpPr>
        <p:spPr>
          <a:xfrm>
            <a:off x="502920" y="201168"/>
            <a:ext cx="8138160" cy="502920"/>
          </a:xfrm>
          <a:prstGeom prst="rect">
            <a:avLst/>
          </a:prstGeom>
          <a:noFill/>
          <a:ln/>
        </p:spPr>
        <p:txBody>
          <a:bodyPr wrap="square" lIns="0" tIns="0" rIns="0" bIns="0"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Share your key message sentence</a:t>
            </a:r>
            <a:endParaRPr lang="en-US" sz="2200" dirty="0"/>
          </a:p>
        </p:txBody>
      </p:sp>
      <p:sp>
        <p:nvSpPr>
          <p:cNvPr id="4" name="Shape 2"/>
          <p:cNvSpPr/>
          <p:nvPr/>
        </p:nvSpPr>
        <p:spPr>
          <a:xfrm>
            <a:off x="502920" y="749808"/>
            <a:ext cx="8138160" cy="22860"/>
          </a:xfrm>
          <a:prstGeom prst="rect">
            <a:avLst/>
          </a:prstGeom>
          <a:solidFill>
            <a:srgbClr val="E2E6EA"/>
          </a:solidFill>
          <a:ln w="12700">
            <a:solidFill>
              <a:srgbClr val="E2E6EA"/>
            </a:solidFill>
            <a:prstDash val="solid"/>
          </a:ln>
        </p:spPr>
      </p:sp>
      <p:sp>
        <p:nvSpPr>
          <p:cNvPr id="5" name="Text 3"/>
          <p:cNvSpPr/>
          <p:nvPr/>
        </p:nvSpPr>
        <p:spPr>
          <a:xfrm>
            <a:off x="502920" y="960120"/>
            <a:ext cx="8229600" cy="914400"/>
          </a:xfrm>
          <a:prstGeom prst="rect">
            <a:avLst/>
          </a:prstGeom>
          <a:noFill/>
          <a:ln/>
        </p:spPr>
        <p:txBody>
          <a:bodyPr wrap="square" lIns="0" tIns="0" rIns="0" bIns="0" rtlCol="0" anchor="ctr"/>
          <a:lstStyle/>
          <a:p>
            <a:pPr indent="0" marL="0">
              <a:lnSpc>
                <a:spcPct val="130000"/>
              </a:lnSpc>
              <a:buNone/>
            </a:pPr>
            <a:r>
              <a:rPr lang="en-US" sz="2000" b="1" dirty="0">
                <a:solidFill>
                  <a:srgbClr val="1E2761"/>
                </a:solidFill>
                <a:latin typeface="Calibri" pitchFamily="34" charset="0"/>
                <a:ea typeface="Calibri" pitchFamily="34" charset="-122"/>
                <a:cs typeface="Calibri" pitchFamily="34" charset="-120"/>
              </a:rPr>
              <a:t>Read your key message sentence out loud.</a:t>
            </a:r>
            <a:endParaRPr lang="en-US" sz="2000" dirty="0"/>
          </a:p>
          <a:p>
            <a:pPr indent="0" marL="0">
              <a:lnSpc>
                <a:spcPct val="130000"/>
              </a:lnSpc>
              <a:buNone/>
            </a:pPr>
            <a:r>
              <a:rPr lang="en-US" sz="2000" b="1" dirty="0">
                <a:solidFill>
                  <a:srgbClr val="1E2761"/>
                </a:solidFill>
                <a:latin typeface="Calibri" pitchFamily="34" charset="0"/>
                <a:ea typeface="Calibri" pitchFamily="34" charset="-122"/>
                <a:cs typeface="Calibri" pitchFamily="34" charset="-120"/>
              </a:rPr>
              <a:t>One sentence. Verb. Point.</a:t>
            </a:r>
            <a:endParaRPr lang="en-US" sz="2000" dirty="0"/>
          </a:p>
        </p:txBody>
      </p:sp>
      <p:sp>
        <p:nvSpPr>
          <p:cNvPr id="6" name="Shape 4"/>
          <p:cNvSpPr/>
          <p:nvPr/>
        </p:nvSpPr>
        <p:spPr>
          <a:xfrm>
            <a:off x="502920" y="2057400"/>
            <a:ext cx="8138160" cy="804672"/>
          </a:xfrm>
          <a:prstGeom prst="rect">
            <a:avLst/>
          </a:prstGeom>
          <a:solidFill>
            <a:srgbClr val="F8FAFB"/>
          </a:solidFill>
          <a:ln w="12700">
            <a:solidFill>
              <a:srgbClr val="E2E6EA"/>
            </a:solidFill>
            <a:prstDash val="solid"/>
          </a:ln>
        </p:spPr>
      </p:sp>
      <p:sp>
        <p:nvSpPr>
          <p:cNvPr id="7" name="Text 5"/>
          <p:cNvSpPr/>
          <p:nvPr/>
        </p:nvSpPr>
        <p:spPr>
          <a:xfrm>
            <a:off x="685800" y="2112264"/>
            <a:ext cx="2286000" cy="329184"/>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Does it have a verb?</a:t>
            </a:r>
            <a:endParaRPr lang="en-US" sz="1200" dirty="0"/>
          </a:p>
        </p:txBody>
      </p:sp>
      <p:sp>
        <p:nvSpPr>
          <p:cNvPr id="8" name="Text 6"/>
          <p:cNvSpPr/>
          <p:nvPr/>
        </p:nvSpPr>
        <p:spPr>
          <a:xfrm>
            <a:off x="3108960" y="2093976"/>
            <a:ext cx="2651760" cy="347472"/>
          </a:xfrm>
          <a:prstGeom prst="rect">
            <a:avLst/>
          </a:prstGeom>
          <a:noFill/>
          <a:ln/>
        </p:spPr>
        <p:txBody>
          <a:bodyPr wrap="square" lIns="0" tIns="0" rIns="0" bIns="0" rtlCol="0" anchor="ctr"/>
          <a:lstStyle/>
          <a:p>
            <a:pPr indent="0" marL="0">
              <a:buNone/>
            </a:pPr>
            <a:r>
              <a:rPr lang="en-US" sz="1000" dirty="0">
                <a:solidFill>
                  <a:srgbClr val="1E8449"/>
                </a:solidFill>
                <a:latin typeface="Calibri" pitchFamily="34" charset="0"/>
                <a:ea typeface="Calibri" pitchFamily="34" charset="-122"/>
                <a:cs typeface="Calibri" pitchFamily="34" charset="-120"/>
              </a:rPr>
              <a:t>Pass: Yes: 'We exceeded targets and need approval'</a:t>
            </a:r>
            <a:endParaRPr lang="en-US" sz="1000" dirty="0"/>
          </a:p>
        </p:txBody>
      </p:sp>
      <p:sp>
        <p:nvSpPr>
          <p:cNvPr id="9" name="Text 7"/>
          <p:cNvSpPr/>
          <p:nvPr/>
        </p:nvSpPr>
        <p:spPr>
          <a:xfrm>
            <a:off x="5897880" y="2093976"/>
            <a:ext cx="2651760" cy="347472"/>
          </a:xfrm>
          <a:prstGeom prst="rect">
            <a:avLst/>
          </a:prstGeom>
          <a:noFill/>
          <a:ln/>
        </p:spPr>
        <p:txBody>
          <a:bodyPr wrap="square" lIns="0" tIns="0" rIns="0" bIns="0" rtlCol="0" anchor="ctr"/>
          <a:lstStyle/>
          <a:p>
            <a:pPr indent="0" marL="0">
              <a:buNone/>
            </a:pPr>
            <a:r>
              <a:rPr lang="en-US" sz="1000" i="1" dirty="0">
                <a:solidFill>
                  <a:srgbClr val="C0392B"/>
                </a:solidFill>
                <a:latin typeface="Calibri" pitchFamily="34" charset="0"/>
                <a:ea typeface="Calibri" pitchFamily="34" charset="-122"/>
                <a:cs typeface="Calibri" pitchFamily="34" charset="-120"/>
              </a:rPr>
              <a:t>Fail: No: 'Q3 performance review'</a:t>
            </a:r>
            <a:endParaRPr lang="en-US" sz="1000" dirty="0"/>
          </a:p>
        </p:txBody>
      </p:sp>
      <p:sp>
        <p:nvSpPr>
          <p:cNvPr id="10" name="Shape 8"/>
          <p:cNvSpPr/>
          <p:nvPr/>
        </p:nvSpPr>
        <p:spPr>
          <a:xfrm>
            <a:off x="502920" y="2971800"/>
            <a:ext cx="8138160" cy="804672"/>
          </a:xfrm>
          <a:prstGeom prst="rect">
            <a:avLst/>
          </a:prstGeom>
          <a:solidFill>
            <a:srgbClr val="FFFFFF"/>
          </a:solidFill>
          <a:ln w="12700">
            <a:solidFill>
              <a:srgbClr val="E2E6EA"/>
            </a:solidFill>
            <a:prstDash val="solid"/>
          </a:ln>
        </p:spPr>
      </p:sp>
      <p:sp>
        <p:nvSpPr>
          <p:cNvPr id="11" name="Text 9"/>
          <p:cNvSpPr/>
          <p:nvPr/>
        </p:nvSpPr>
        <p:spPr>
          <a:xfrm>
            <a:off x="685800" y="3026664"/>
            <a:ext cx="2286000" cy="329184"/>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Does it take a position?</a:t>
            </a:r>
            <a:endParaRPr lang="en-US" sz="1200" dirty="0"/>
          </a:p>
        </p:txBody>
      </p:sp>
      <p:sp>
        <p:nvSpPr>
          <p:cNvPr id="12" name="Text 10"/>
          <p:cNvSpPr/>
          <p:nvPr/>
        </p:nvSpPr>
        <p:spPr>
          <a:xfrm>
            <a:off x="3108960" y="3008376"/>
            <a:ext cx="2651760" cy="347472"/>
          </a:xfrm>
          <a:prstGeom prst="rect">
            <a:avLst/>
          </a:prstGeom>
          <a:noFill/>
          <a:ln/>
        </p:spPr>
        <p:txBody>
          <a:bodyPr wrap="square" lIns="0" tIns="0" rIns="0" bIns="0" rtlCol="0" anchor="ctr"/>
          <a:lstStyle/>
          <a:p>
            <a:pPr indent="0" marL="0">
              <a:buNone/>
            </a:pPr>
            <a:r>
              <a:rPr lang="en-US" sz="1000" dirty="0">
                <a:solidFill>
                  <a:srgbClr val="1E8449"/>
                </a:solidFill>
                <a:latin typeface="Calibri" pitchFamily="34" charset="0"/>
                <a:ea typeface="Calibri" pitchFamily="34" charset="-122"/>
                <a:cs typeface="Calibri" pitchFamily="34" charset="-120"/>
              </a:rPr>
              <a:t>Pass: Yes: something you could agree or disagree with</a:t>
            </a:r>
            <a:endParaRPr lang="en-US" sz="1000" dirty="0"/>
          </a:p>
        </p:txBody>
      </p:sp>
      <p:sp>
        <p:nvSpPr>
          <p:cNvPr id="13" name="Text 11"/>
          <p:cNvSpPr/>
          <p:nvPr/>
        </p:nvSpPr>
        <p:spPr>
          <a:xfrm>
            <a:off x="5897880" y="3008376"/>
            <a:ext cx="2651760" cy="347472"/>
          </a:xfrm>
          <a:prstGeom prst="rect">
            <a:avLst/>
          </a:prstGeom>
          <a:noFill/>
          <a:ln/>
        </p:spPr>
        <p:txBody>
          <a:bodyPr wrap="square" lIns="0" tIns="0" rIns="0" bIns="0" rtlCol="0" anchor="ctr"/>
          <a:lstStyle/>
          <a:p>
            <a:pPr indent="0" marL="0">
              <a:buNone/>
            </a:pPr>
            <a:r>
              <a:rPr lang="en-US" sz="1000" i="1" dirty="0">
                <a:solidFill>
                  <a:srgbClr val="C0392B"/>
                </a:solidFill>
                <a:latin typeface="Calibri" pitchFamily="34" charset="0"/>
                <a:ea typeface="Calibri" pitchFamily="34" charset="-122"/>
                <a:cs typeface="Calibri" pitchFamily="34" charset="-120"/>
              </a:rPr>
              <a:t>Fail: No: neutral reporting language</a:t>
            </a:r>
            <a:endParaRPr lang="en-US" sz="1000" dirty="0"/>
          </a:p>
        </p:txBody>
      </p:sp>
      <p:sp>
        <p:nvSpPr>
          <p:cNvPr id="14" name="Shape 12"/>
          <p:cNvSpPr/>
          <p:nvPr/>
        </p:nvSpPr>
        <p:spPr>
          <a:xfrm>
            <a:off x="502920" y="3886200"/>
            <a:ext cx="8138160" cy="804672"/>
          </a:xfrm>
          <a:prstGeom prst="rect">
            <a:avLst/>
          </a:prstGeom>
          <a:solidFill>
            <a:srgbClr val="F8FAFB"/>
          </a:solidFill>
          <a:ln w="12700">
            <a:solidFill>
              <a:srgbClr val="E2E6EA"/>
            </a:solidFill>
            <a:prstDash val="solid"/>
          </a:ln>
        </p:spPr>
      </p:sp>
      <p:sp>
        <p:nvSpPr>
          <p:cNvPr id="15" name="Text 13"/>
          <p:cNvSpPr/>
          <p:nvPr/>
        </p:nvSpPr>
        <p:spPr>
          <a:xfrm>
            <a:off x="685800" y="3941064"/>
            <a:ext cx="2286000" cy="329184"/>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Does it tell you what happens next?</a:t>
            </a:r>
            <a:endParaRPr lang="en-US" sz="1200" dirty="0"/>
          </a:p>
        </p:txBody>
      </p:sp>
      <p:sp>
        <p:nvSpPr>
          <p:cNvPr id="16" name="Text 14"/>
          <p:cNvSpPr/>
          <p:nvPr/>
        </p:nvSpPr>
        <p:spPr>
          <a:xfrm>
            <a:off x="3108960" y="3922776"/>
            <a:ext cx="2651760" cy="347472"/>
          </a:xfrm>
          <a:prstGeom prst="rect">
            <a:avLst/>
          </a:prstGeom>
          <a:noFill/>
          <a:ln/>
        </p:spPr>
        <p:txBody>
          <a:bodyPr wrap="square" lIns="0" tIns="0" rIns="0" bIns="0" rtlCol="0" anchor="ctr"/>
          <a:lstStyle/>
          <a:p>
            <a:pPr indent="0" marL="0">
              <a:buNone/>
            </a:pPr>
            <a:r>
              <a:rPr lang="en-US" sz="1000" dirty="0">
                <a:solidFill>
                  <a:srgbClr val="1E8449"/>
                </a:solidFill>
                <a:latin typeface="Calibri" pitchFamily="34" charset="0"/>
                <a:ea typeface="Calibri" pitchFamily="34" charset="-122"/>
                <a:cs typeface="Calibri" pitchFamily="34" charset="-120"/>
              </a:rPr>
              <a:t>Pass: Yes: there is a decision or action implied</a:t>
            </a:r>
            <a:endParaRPr lang="en-US" sz="1000" dirty="0"/>
          </a:p>
        </p:txBody>
      </p:sp>
      <p:sp>
        <p:nvSpPr>
          <p:cNvPr id="17" name="Text 15"/>
          <p:cNvSpPr/>
          <p:nvPr/>
        </p:nvSpPr>
        <p:spPr>
          <a:xfrm>
            <a:off x="5897880" y="3922776"/>
            <a:ext cx="2651760" cy="347472"/>
          </a:xfrm>
          <a:prstGeom prst="rect">
            <a:avLst/>
          </a:prstGeom>
          <a:noFill/>
          <a:ln/>
        </p:spPr>
        <p:txBody>
          <a:bodyPr wrap="square" lIns="0" tIns="0" rIns="0" bIns="0" rtlCol="0" anchor="ctr"/>
          <a:lstStyle/>
          <a:p>
            <a:pPr indent="0" marL="0">
              <a:buNone/>
            </a:pPr>
            <a:r>
              <a:rPr lang="en-US" sz="1000" i="1" dirty="0">
                <a:solidFill>
                  <a:srgbClr val="C0392B"/>
                </a:solidFill>
                <a:latin typeface="Calibri" pitchFamily="34" charset="0"/>
                <a:ea typeface="Calibri" pitchFamily="34" charset="-122"/>
                <a:cs typeface="Calibri" pitchFamily="34" charset="-120"/>
              </a:rPr>
              <a:t>Fail: No: it just describes a situation</a:t>
            </a:r>
            <a:endParaRPr lang="en-US" sz="1000" dirty="0"/>
          </a:p>
        </p:txBody>
      </p:sp>
      <p:sp>
        <p:nvSpPr>
          <p:cNvPr id="18" name="Text 16"/>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10 / 11</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28090"/>
          </a:solidFill>
          <a:ln w="12700">
            <a:solidFill>
              <a:srgbClr val="028090"/>
            </a:solidFill>
            <a:prstDash val="solid"/>
          </a:ln>
        </p:spPr>
      </p:sp>
      <p:sp>
        <p:nvSpPr>
          <p:cNvPr id="3" name="Text 1"/>
          <p:cNvSpPr/>
          <p:nvPr/>
        </p:nvSpPr>
        <p:spPr>
          <a:xfrm>
            <a:off x="548640" y="502920"/>
            <a:ext cx="7772400" cy="365760"/>
          </a:xfrm>
          <a:prstGeom prst="rect">
            <a:avLst/>
          </a:prstGeom>
          <a:noFill/>
          <a:ln/>
        </p:spPr>
        <p:txBody>
          <a:bodyPr wrap="square" lIns="0" tIns="0" rIns="0" bIns="0" rtlCol="0" anchor="ctr"/>
          <a:lstStyle/>
          <a:p>
            <a:pPr indent="0" marL="0">
              <a:buNone/>
            </a:pPr>
            <a:r>
              <a:rPr lang="en-US" sz="1300" dirty="0">
                <a:solidFill>
                  <a:srgbClr val="A0BFD8"/>
                </a:solidFill>
                <a:latin typeface="Calibri" pitchFamily="34" charset="0"/>
                <a:ea typeface="Calibri" pitchFamily="34" charset="-122"/>
                <a:cs typeface="Calibri" pitchFamily="34" charset="-120"/>
              </a:rPr>
              <a:t>Module 02 covered:</a:t>
            </a:r>
            <a:endParaRPr lang="en-US" sz="1300" dirty="0"/>
          </a:p>
        </p:txBody>
      </p:sp>
      <p:sp>
        <p:nvSpPr>
          <p:cNvPr id="4" name="Shape 2"/>
          <p:cNvSpPr/>
          <p:nvPr/>
        </p:nvSpPr>
        <p:spPr>
          <a:xfrm>
            <a:off x="548640" y="1005840"/>
            <a:ext cx="54864" cy="347472"/>
          </a:xfrm>
          <a:prstGeom prst="rect">
            <a:avLst/>
          </a:prstGeom>
          <a:solidFill>
            <a:srgbClr val="028090"/>
          </a:solidFill>
          <a:ln w="12700">
            <a:solidFill>
              <a:srgbClr val="028090"/>
            </a:solidFill>
            <a:prstDash val="solid"/>
          </a:ln>
        </p:spPr>
      </p:sp>
      <p:sp>
        <p:nvSpPr>
          <p:cNvPr id="5" name="Text 3"/>
          <p:cNvSpPr/>
          <p:nvPr/>
        </p:nvSpPr>
        <p:spPr>
          <a:xfrm>
            <a:off x="777240" y="1005840"/>
            <a:ext cx="7406640" cy="34747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Three questions to answer before opening PowerPoint</a:t>
            </a:r>
            <a:endParaRPr lang="en-US" sz="1500" dirty="0"/>
          </a:p>
        </p:txBody>
      </p:sp>
      <p:sp>
        <p:nvSpPr>
          <p:cNvPr id="6" name="Shape 4"/>
          <p:cNvSpPr/>
          <p:nvPr/>
        </p:nvSpPr>
        <p:spPr>
          <a:xfrm>
            <a:off x="548640" y="1755648"/>
            <a:ext cx="54864" cy="347472"/>
          </a:xfrm>
          <a:prstGeom prst="rect">
            <a:avLst/>
          </a:prstGeom>
          <a:solidFill>
            <a:srgbClr val="028090"/>
          </a:solidFill>
          <a:ln w="12700">
            <a:solidFill>
              <a:srgbClr val="028090"/>
            </a:solidFill>
            <a:prstDash val="solid"/>
          </a:ln>
        </p:spPr>
      </p:sp>
      <p:sp>
        <p:nvSpPr>
          <p:cNvPr id="7" name="Text 5"/>
          <p:cNvSpPr/>
          <p:nvPr/>
        </p:nvSpPr>
        <p:spPr>
          <a:xfrm>
            <a:off x="777240" y="1755648"/>
            <a:ext cx="7406640" cy="34747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The SCR narrative structure and why agenda decks fail</a:t>
            </a:r>
            <a:endParaRPr lang="en-US" sz="1500" dirty="0"/>
          </a:p>
        </p:txBody>
      </p:sp>
      <p:sp>
        <p:nvSpPr>
          <p:cNvPr id="8" name="Shape 6"/>
          <p:cNvSpPr/>
          <p:nvPr/>
        </p:nvSpPr>
        <p:spPr>
          <a:xfrm>
            <a:off x="548640" y="2505456"/>
            <a:ext cx="54864" cy="347472"/>
          </a:xfrm>
          <a:prstGeom prst="rect">
            <a:avLst/>
          </a:prstGeom>
          <a:solidFill>
            <a:srgbClr val="028090"/>
          </a:solidFill>
          <a:ln w="12700">
            <a:solidFill>
              <a:srgbClr val="028090"/>
            </a:solidFill>
            <a:prstDash val="solid"/>
          </a:ln>
        </p:spPr>
      </p:sp>
      <p:sp>
        <p:nvSpPr>
          <p:cNvPr id="9" name="Text 7"/>
          <p:cNvSpPr/>
          <p:nvPr/>
        </p:nvSpPr>
        <p:spPr>
          <a:xfrm>
            <a:off x="777240" y="2505456"/>
            <a:ext cx="7406640" cy="34747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Three data storytelling principles to apply immediately</a:t>
            </a:r>
            <a:endParaRPr lang="en-US" sz="1500" dirty="0"/>
          </a:p>
        </p:txBody>
      </p:sp>
      <p:sp>
        <p:nvSpPr>
          <p:cNvPr id="10" name="Shape 8"/>
          <p:cNvSpPr/>
          <p:nvPr/>
        </p:nvSpPr>
        <p:spPr>
          <a:xfrm>
            <a:off x="548640" y="3255264"/>
            <a:ext cx="54864" cy="347472"/>
          </a:xfrm>
          <a:prstGeom prst="rect">
            <a:avLst/>
          </a:prstGeom>
          <a:solidFill>
            <a:srgbClr val="028090"/>
          </a:solidFill>
          <a:ln w="12700">
            <a:solidFill>
              <a:srgbClr val="028090"/>
            </a:solidFill>
            <a:prstDash val="solid"/>
          </a:ln>
        </p:spPr>
      </p:sp>
      <p:sp>
        <p:nvSpPr>
          <p:cNvPr id="11" name="Text 9"/>
          <p:cNvSpPr/>
          <p:nvPr/>
        </p:nvSpPr>
        <p:spPr>
          <a:xfrm>
            <a:off x="777240" y="3255264"/>
            <a:ext cx="7406640" cy="34747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Your working brief: audience, purpose, key message, storyline</a:t>
            </a:r>
            <a:endParaRPr lang="en-US" sz="1500" dirty="0"/>
          </a:p>
        </p:txBody>
      </p:sp>
      <p:sp>
        <p:nvSpPr>
          <p:cNvPr id="12" name="Shape 10"/>
          <p:cNvSpPr/>
          <p:nvPr/>
        </p:nvSpPr>
        <p:spPr>
          <a:xfrm>
            <a:off x="548640" y="4114800"/>
            <a:ext cx="7772400" cy="512064"/>
          </a:xfrm>
          <a:prstGeom prst="rect">
            <a:avLst/>
          </a:prstGeom>
          <a:solidFill>
            <a:srgbClr val="028090"/>
          </a:solidFill>
          <a:ln w="12700">
            <a:solidFill>
              <a:srgbClr val="028090"/>
            </a:solidFill>
            <a:prstDash val="solid"/>
          </a:ln>
        </p:spPr>
      </p:sp>
      <p:sp>
        <p:nvSpPr>
          <p:cNvPr id="13" name="Text 11"/>
          <p:cNvSpPr/>
          <p:nvPr/>
        </p:nvSpPr>
        <p:spPr>
          <a:xfrm>
            <a:off x="548640" y="4114800"/>
            <a:ext cx="7772400" cy="51206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Next: Module 03 — Improving Slide Content with PowerPoint AI Features</a:t>
            </a:r>
            <a:endParaRPr lang="en-US" sz="1200" dirty="0"/>
          </a:p>
        </p:txBody>
      </p:sp>
      <p:sp>
        <p:nvSpPr>
          <p:cNvPr id="14" name="Text 12"/>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11 / 11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02 - Structuring a Clear Message Before Design</dc:title>
  <dc:subject>PptxGenJS Presentation</dc:subject>
  <dc:creator>PptxGenJS</dc:creator>
  <cp:lastModifiedBy>PptxGenJS</cp:lastModifiedBy>
  <cp:revision>1</cp:revision>
  <dcterms:created xsi:type="dcterms:W3CDTF">2026-05-02T16:25:49Z</dcterms:created>
  <dcterms:modified xsi:type="dcterms:W3CDTF">2026-05-02T16:25:49Z</dcterms:modified>
</cp:coreProperties>
</file>