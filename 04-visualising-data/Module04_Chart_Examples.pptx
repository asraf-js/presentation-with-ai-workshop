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055"/>
              </a:solidFill>
              <a:effectLst/>
            </c:spPr>
          </c:dPt>
          <c:dPt>
            <c:idx val="1"/>
            <c:bubble3D val="0"/>
            <c:spPr>
              <a:solidFill>
                <a:srgbClr val="1F5C9E"/>
              </a:solidFill>
              <a:effectLst/>
            </c:spPr>
          </c:dPt>
          <c:dPt>
            <c:idx val="2"/>
            <c:bubble3D val="0"/>
            <c:spPr>
              <a:solidFill>
                <a:srgbClr val="2471A3"/>
              </a:solidFill>
              <a:effectLst/>
            </c:spPr>
          </c:dPt>
          <c:dPt>
            <c:idx val="3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bubble3D val="0"/>
            <c:spPr>
              <a:solidFill>
                <a:srgbClr val="5DADE2"/>
              </a:solidFill>
              <a:effectLst/>
            </c:spPr>
          </c:dPt>
          <c:dPt>
            <c:idx val="5"/>
            <c:bubble3D val="0"/>
            <c:spPr>
              <a:solidFill>
                <a:srgbClr val="85C1E9"/>
              </a:solidFill>
              <a:effectLst/>
            </c:spPr>
          </c:dPt>
          <c:dPt>
            <c:idx val="6"/>
            <c:bubble3D val="0"/>
            <c:spPr>
              <a:solidFill>
                <a:srgbClr val="B3D7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Asset Mgmt</c:v>
                </c:pt>
                <c:pt idx="1">
                  <c:v>Inv Banking</c:v>
                </c:pt>
                <c:pt idx="2">
                  <c:v>Treasury</c:v>
                </c:pt>
                <c:pt idx="3">
                  <c:v>Retail</c:v>
                </c:pt>
                <c:pt idx="4">
                  <c:v>Advisory</c:v>
                </c:pt>
                <c:pt idx="5">
                  <c:v>Insurance</c:v>
                </c:pt>
                <c:pt idx="6">
                  <c:v>Others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22</c:v>
                </c:pt>
                <c:pt idx="1">
                  <c:v>18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11</c:v>
                </c:pt>
                <c:pt idx="6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</c:v>
                </c:pt>
              </c:strCache>
            </c:strRef>
          </c:tx>
          <c:spPr>
            <a:solidFill>
              <a:srgbClr val="B3D7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D7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D7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D7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D7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3D7F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3D7F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3055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Others</c:v>
                  </c:pt>
                  <c:pt idx="1">
                    <c:v>Insurance</c:v>
                  </c:pt>
                  <c:pt idx="2">
                    <c:v>Advisory</c:v>
                  </c:pt>
                  <c:pt idx="3">
                    <c:v>Retail</c:v>
                  </c:pt>
                  <c:pt idx="4">
                    <c:v>Treasury</c:v>
                  </c:pt>
                  <c:pt idx="5">
                    <c:v>Inv Banking</c:v>
                  </c:pt>
                  <c:pt idx="6">
                    <c:v>Asset Mgmt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11</c:v>
                </c:pt>
                <c:pt idx="2">
                  <c:v>13</c:v>
                </c:pt>
                <c:pt idx="3">
                  <c:v>14</c:v>
                </c:pt>
                <c:pt idx="4">
                  <c:v>15</c:v>
                </c:pt>
                <c:pt idx="5">
                  <c:v>18</c:v>
                </c:pt>
                <c:pt idx="6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A30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Salaries</c:v>
                  </c:pt>
                  <c:pt idx="1">
                    <c:v>Consult</c:v>
                  </c:pt>
                  <c:pt idx="2">
                    <c:v>Travel</c:v>
                  </c:pt>
                  <c:pt idx="3">
                    <c:v>Tech</c:v>
                  </c:pt>
                  <c:pt idx="4">
                    <c:v>Training</c:v>
                  </c:pt>
                  <c:pt idx="5">
                    <c:v>Office</c:v>
                  </c:pt>
                  <c:pt idx="6">
                    <c:v>Mktg</c:v>
                  </c:pt>
                  <c:pt idx="7">
                    <c:v>Misc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420</c:v>
                </c:pt>
                <c:pt idx="1">
                  <c:v>145</c:v>
                </c:pt>
                <c:pt idx="2">
                  <c:v>68</c:v>
                </c:pt>
                <c:pt idx="3">
                  <c:v>55</c:v>
                </c:pt>
                <c:pt idx="4">
                  <c:v>38</c:v>
                </c:pt>
                <c:pt idx="5">
                  <c:v>24</c:v>
                </c:pt>
                <c:pt idx="6">
                  <c:v>18</c:v>
                </c:pt>
                <c:pt idx="7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0BF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Salaries</c:v>
                  </c:pt>
                  <c:pt idx="1">
                    <c:v>Consult</c:v>
                  </c:pt>
                  <c:pt idx="2">
                    <c:v>Travel</c:v>
                  </c:pt>
                  <c:pt idx="3">
                    <c:v>Tech</c:v>
                  </c:pt>
                  <c:pt idx="4">
                    <c:v>Training</c:v>
                  </c:pt>
                  <c:pt idx="5">
                    <c:v>Office</c:v>
                  </c:pt>
                  <c:pt idx="6">
                    <c:v>Mktg</c:v>
                  </c:pt>
                  <c:pt idx="7">
                    <c:v>Misc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400</c:v>
                </c:pt>
                <c:pt idx="1">
                  <c:v>160</c:v>
                </c:pt>
                <c:pt idx="2">
                  <c:v>80</c:v>
                </c:pt>
                <c:pt idx="3">
                  <c:v>60</c:v>
                </c:pt>
                <c:pt idx="4">
                  <c:v>40</c:v>
                </c:pt>
                <c:pt idx="5">
                  <c:v>30</c:v>
                </c:pt>
                <c:pt idx="6">
                  <c:v>20</c:v>
                </c:pt>
                <c:pt idx="7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2F2F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vs Target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Salaries</c:v>
                  </c:pt>
                  <c:pt idx="1">
                    <c:v>Consult</c:v>
                  </c:pt>
                  <c:pt idx="2">
                    <c:v>Travel</c:v>
                  </c:pt>
                  <c:pt idx="3">
                    <c:v>Tech</c:v>
                  </c:pt>
                  <c:pt idx="4">
                    <c:v>Training</c:v>
                  </c:pt>
                  <c:pt idx="5">
                    <c:v>Office</c:v>
                  </c:pt>
                  <c:pt idx="6">
                    <c:v>Mktg</c:v>
                  </c:pt>
                  <c:pt idx="7">
                    <c:v>Misc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-15</c:v>
                </c:pt>
                <c:pt idx="2">
                  <c:v>-12</c:v>
                </c:pt>
                <c:pt idx="3">
                  <c:v>-5</c:v>
                </c:pt>
                <c:pt idx="4">
                  <c:v>-2</c:v>
                </c:pt>
                <c:pt idx="5">
                  <c:v>-6</c:v>
                </c:pt>
                <c:pt idx="6">
                  <c:v>-2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At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91C1C"/>
            </a:solidFill>
            <a:ln w="3175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</c:v>
                </c:pt>
                <c:pt idx="1">
                  <c:v>3.6</c:v>
                </c:pt>
                <c:pt idx="2">
                  <c:v>4.2</c:v>
                </c:pt>
                <c:pt idx="3">
                  <c:v>3.8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2.8"/>
        </c:scaling>
        <c:delete val="0"/>
        <c:axPos val="l"/>
        <c:majorGridlines>
          <c:spPr>
            <a:ln w="1270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A3055"/>
            </a:solidFill>
            <a:ln w="31750" cap="flat">
              <a:solidFill>
                <a:srgbClr val="1A30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3055"/>
              </a:solidFill>
              <a:ln w="9525" cap="flat">
                <a:solidFill>
                  <a:srgbClr val="1A30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</c:v>
                </c:pt>
                <c:pt idx="1">
                  <c:v>3.6</c:v>
                </c:pt>
                <c:pt idx="2">
                  <c:v>4.2</c:v>
                </c:pt>
                <c:pt idx="3">
                  <c:v>3.8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0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B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|  CHART EXAMPLES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 Charts vs Good Charts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2286000" cy="36576"/>
          </a:xfrm>
          <a:prstGeom prst="rect">
            <a:avLst/>
          </a:prstGeom>
          <a:solidFill>
            <a:srgbClr val="1F5C9E"/>
          </a:solidFill>
          <a:ln w="12700">
            <a:solidFill>
              <a:srgbClr val="1F5C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pairs of real-world examples using Nusantara Capital data.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very different results.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each pair: one chart tells the story. The other hides it.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82296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7-segment pie chart with 3D effect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64592"/>
            <a:ext cx="86868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645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23560" y="1645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chart, same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0"/>
            <a:ext cx="91440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Business Unit (Q3 2025)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Management leads at 22% of Q3 revenue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82880" y="1051560"/>
          <a:ext cx="4114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4663440" y="105156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055"/>
          </a:solidFill>
          <a:ln w="12700">
            <a:solidFill>
              <a:srgbClr val="1A305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01:  Pie charts with more than 3 segments make comparison impossible. A sorted bar chart lets the eye rank immediately.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82296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bar labelled, dual series, grey chart background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64592"/>
            <a:ext cx="86868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645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23560" y="1645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key insight labelled, clean white background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0"/>
            <a:ext cx="91440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Budget Utilisation by Category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Salaries are the only category over budget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82880" y="1051560"/>
          <a:ext cx="4114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4663440" y="105156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663440" y="45262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vs target (RM '000)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055"/>
          </a:solidFill>
          <a:ln w="12700">
            <a:solidFill>
              <a:srgbClr val="1A30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02:  Remove labels, gridlines, and backgrounds that add no information. Show only what supports your point.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82296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starts at 3.0. Small change looks massive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64592"/>
            <a:ext cx="86868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645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23560" y="1645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starts at zero. True proportion shown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0"/>
            <a:ext cx="91440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Revenue (RM Million)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Revenue (RM Million)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82880" y="1051560"/>
          <a:ext cx="4114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4663440" y="105156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663440" y="45262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is a target, not actual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055"/>
          </a:solidFill>
          <a:ln w="12700">
            <a:solidFill>
              <a:srgbClr val="1A30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03:  A truncated Y-axis exaggerates differences. Unless there is a specific reason, start bar and line chart axes at zero.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82296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10-row table with 6 columns at 8pt font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64592"/>
            <a:ext cx="86868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645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23560" y="1645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3-row summary: only what needs a decision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0"/>
            <a:ext cx="91440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Status Q3 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projects need a decision before Q4 begins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51560"/>
          <a:ext cx="4114800" cy="356616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502920"/>
                <a:gridCol w="502920"/>
                <a:gridCol w="658368"/>
                <a:gridCol w="98755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Issues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Helang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Zulaikha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Jan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Sep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91C1C"/>
                          </a:solidFill>
                        </a:rPr>
                        <a:t>Delayed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Vendor delay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Rimau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Faizal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Mar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Dec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07B30"/>
                          </a:solidFill>
                        </a:rPr>
                        <a:t>At Risk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Resource gap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Kijang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Siti N.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Apr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Nov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</a:rPr>
                        <a:t>On Track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Minor scope Q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Wawasan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Arif M.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Feb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Oct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</a:rPr>
                        <a:t>On Track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Awaiting sign-off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Angkasa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Nurul H.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Jun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Feb 26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</a:rPr>
                        <a:t>On Track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No issues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Mulia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Hafiz Z.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May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Jan 26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</a:rPr>
                        <a:t>On Track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Stakeholder aln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Cekal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Roslinda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Jul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Mar 26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</a:rPr>
                        <a:t>On Track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Recently started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Digital Roadmap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Zulaikha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Aug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Nov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</a:rPr>
                        <a:t>On Track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Milestone 1 done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Talent Dev Plan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Faizal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Jan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Dec 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91C1C"/>
                          </a:solidFill>
                        </a:rPr>
                        <a:t>Delayed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</a:rPr>
                        <a:t>HR sign-off Q2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297680" cy="237744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8288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is needed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Project Helang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DELAYED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Vendor escalation decision this week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Project Rimau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B30"/>
                          </a:solidFill>
                        </a:rPr>
                        <a:t>AT RISK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Approve headcount reallocation from Angkasa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</a:rPr>
                        <a:t>Other 8 projects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</a:rPr>
                        <a:t>ON TRACK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No action needed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663440" y="3794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CEO needs to make two decisions.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read a 10-row table.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055"/>
          </a:solidFill>
          <a:ln w="12700">
            <a:solidFill>
              <a:srgbClr val="1A30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04:  A table in a presentation should make one point. Show only the rows that support that point. Hide the rest.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chart that answers one question clearly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guide for the Nusantara Capital before deck and beyond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42416"/>
            <a:ext cx="8595360" cy="347472"/>
          </a:xfrm>
          <a:prstGeom prst="rect">
            <a:avLst/>
          </a:prstGeom>
          <a:solidFill>
            <a:srgbClr val="1A3055"/>
          </a:solidFill>
          <a:ln w="12700">
            <a:solidFill>
              <a:srgbClr val="1A3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424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to...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0424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0424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03720" y="1042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before deck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813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23160" y="14813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1481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with 3+ segments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14813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business unit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8595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0848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change over time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23160" y="20848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20848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for time series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03720" y="20848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trend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61518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6883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part of a whole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23160" y="26883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or single 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26883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with many slices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03720" y="26883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split by category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18688"/>
            <a:ext cx="8595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2918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a target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23160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bar chart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0" y="32918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(too many series)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03720" y="3291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budget spend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2219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8953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one important number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23160" y="38953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text callout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0" y="389534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03720" y="38953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4.2M Q3 revenue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425696"/>
            <a:ext cx="8595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498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project status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4231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3-row table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0" y="44988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raw data table from Excel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03720" y="44988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at-risk, 8 on track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2026-05-03T09:12:46Z</dcterms:created>
  <dcterms:modified xsi:type="dcterms:W3CDTF">2026-05-03T09:12:46Z</dcterms:modified>
</cp:coreProperties>
</file>